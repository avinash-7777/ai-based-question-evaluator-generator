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27A0B5D-1CCC-45CB-9B29-3998E6CA77D4}"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289754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27A0B5D-1CCC-45CB-9B29-3998E6CA77D4}"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2992104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27A0B5D-1CCC-45CB-9B29-3998E6CA77D4}"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2631300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27A0B5D-1CCC-45CB-9B29-3998E6CA77D4}" type="datetimeFigureOut">
              <a:rPr lang="en-IN" smtClean="0"/>
              <a:t>18-11-2024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4049952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27A0B5D-1CCC-45CB-9B29-3998E6CA77D4}" type="datetimeFigureOut">
              <a:rPr lang="en-IN" smtClean="0"/>
              <a:t>18-11-2024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340502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27A0B5D-1CCC-45CB-9B29-3998E6CA77D4}" type="datetimeFigureOut">
              <a:rPr lang="en-IN" smtClean="0"/>
              <a:t>18-11-2024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2440881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7A0B5D-1CCC-45CB-9B29-3998E6CA77D4}" type="datetimeFigureOut">
              <a:rPr lang="en-IN" smtClean="0"/>
              <a:t>18-11-2024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452032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7A0B5D-1CCC-45CB-9B29-3998E6CA77D4}" type="datetimeFigureOut">
              <a:rPr lang="en-IN" smtClean="0"/>
              <a:t>18-11-2024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2447796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7A0B5D-1CCC-45CB-9B29-3998E6CA77D4}" type="datetimeFigureOut">
              <a:rPr lang="en-IN" smtClean="0"/>
              <a:t>18-11-2024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2153459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27A0B5D-1CCC-45CB-9B29-3998E6CA77D4}"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4054111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27A0B5D-1CCC-45CB-9B29-3998E6CA77D4}"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508FC-5044-426D-82E1-5BD3E361CD19}" type="slidenum">
              <a:rPr lang="en-IN" smtClean="0"/>
              <a:t>‹#›</a:t>
            </a:fld>
            <a:endParaRPr lang="en-IN"/>
          </a:p>
        </p:txBody>
      </p:sp>
    </p:spTree>
    <p:extLst>
      <p:ext uri="{BB962C8B-B14F-4D97-AF65-F5344CB8AC3E}">
        <p14:creationId xmlns:p14="http://schemas.microsoft.com/office/powerpoint/2010/main" val="2924109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7A0B5D-1CCC-45CB-9B29-3998E6CA77D4}" type="datetimeFigureOut">
              <a:rPr lang="en-IN" smtClean="0"/>
              <a:t>18-11-2024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508FC-5044-426D-82E1-5BD3E361CD19}" type="slidenum">
              <a:rPr lang="en-IN" smtClean="0"/>
              <a:t>‹#›</a:t>
            </a:fld>
            <a:endParaRPr lang="en-IN"/>
          </a:p>
        </p:txBody>
      </p:sp>
    </p:spTree>
    <p:extLst>
      <p:ext uri="{BB962C8B-B14F-4D97-AF65-F5344CB8AC3E}">
        <p14:creationId xmlns:p14="http://schemas.microsoft.com/office/powerpoint/2010/main" val="4246077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Kernel Machines</a:t>
            </a:r>
            <a:endParaRPr lang="en-IN" b="1"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417486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Linearly Separable</a:t>
            </a:r>
            <a:endParaRPr lang="en-IN" b="1" dirty="0"/>
          </a:p>
        </p:txBody>
      </p:sp>
      <p:pic>
        <p:nvPicPr>
          <p:cNvPr id="4" name="Content Placeholder 3"/>
          <p:cNvPicPr>
            <a:picLocks noGrp="1" noChangeAspect="1"/>
          </p:cNvPicPr>
          <p:nvPr>
            <p:ph idx="1"/>
          </p:nvPr>
        </p:nvPicPr>
        <p:blipFill>
          <a:blip r:embed="rId2"/>
          <a:stretch>
            <a:fillRect/>
          </a:stretch>
        </p:blipFill>
        <p:spPr>
          <a:xfrm>
            <a:off x="2784014" y="2258112"/>
            <a:ext cx="5217816" cy="3312178"/>
          </a:xfrm>
          <a:prstGeom prst="rect">
            <a:avLst/>
          </a:prstGeom>
        </p:spPr>
      </p:pic>
    </p:spTree>
    <p:extLst>
      <p:ext uri="{BB962C8B-B14F-4D97-AF65-F5344CB8AC3E}">
        <p14:creationId xmlns:p14="http://schemas.microsoft.com/office/powerpoint/2010/main" val="2512539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Linearly Inseparable</a:t>
            </a:r>
            <a:endParaRPr lang="en-IN" b="1" dirty="0"/>
          </a:p>
        </p:txBody>
      </p:sp>
      <p:pic>
        <p:nvPicPr>
          <p:cNvPr id="4" name="Content Placeholder 3"/>
          <p:cNvPicPr>
            <a:picLocks noGrp="1" noChangeAspect="1"/>
          </p:cNvPicPr>
          <p:nvPr>
            <p:ph idx="1"/>
          </p:nvPr>
        </p:nvPicPr>
        <p:blipFill>
          <a:blip r:embed="rId2"/>
          <a:stretch>
            <a:fillRect/>
          </a:stretch>
        </p:blipFill>
        <p:spPr>
          <a:xfrm>
            <a:off x="2691806" y="1615900"/>
            <a:ext cx="6288269" cy="4351338"/>
          </a:xfrm>
          <a:prstGeom prst="rect">
            <a:avLst/>
          </a:prstGeom>
        </p:spPr>
      </p:pic>
    </p:spTree>
    <p:extLst>
      <p:ext uri="{BB962C8B-B14F-4D97-AF65-F5344CB8AC3E}">
        <p14:creationId xmlns:p14="http://schemas.microsoft.com/office/powerpoint/2010/main" val="11325056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What is Kernel</a:t>
            </a:r>
            <a:endParaRPr lang="en-IN" b="1" dirty="0"/>
          </a:p>
        </p:txBody>
      </p:sp>
      <p:sp>
        <p:nvSpPr>
          <p:cNvPr id="3" name="Content Placeholder 2"/>
          <p:cNvSpPr>
            <a:spLocks noGrp="1"/>
          </p:cNvSpPr>
          <p:nvPr>
            <p:ph idx="1"/>
          </p:nvPr>
        </p:nvSpPr>
        <p:spPr/>
        <p:txBody>
          <a:bodyPr/>
          <a:lstStyle/>
          <a:p>
            <a:r>
              <a:rPr lang="en-US" dirty="0" smtClean="0"/>
              <a:t>“kernel” refers to the kernel trick.</a:t>
            </a:r>
          </a:p>
          <a:p>
            <a:endParaRPr lang="en-US" dirty="0" smtClean="0"/>
          </a:p>
          <a:p>
            <a:r>
              <a:rPr lang="en-US" dirty="0" smtClean="0"/>
              <a:t>A method of using a linear classifier to solve a non-linear problem.</a:t>
            </a:r>
            <a:r>
              <a:rPr lang="en-US" dirty="0"/>
              <a:t> </a:t>
            </a:r>
            <a:endParaRPr lang="en-US" dirty="0" smtClean="0"/>
          </a:p>
          <a:p>
            <a:endParaRPr lang="en-US" dirty="0" smtClean="0"/>
          </a:p>
          <a:p>
            <a:r>
              <a:rPr lang="en-US" dirty="0" smtClean="0"/>
              <a:t>It transforms linearly </a:t>
            </a:r>
            <a:r>
              <a:rPr lang="en-US" dirty="0"/>
              <a:t>inseparable data </a:t>
            </a:r>
            <a:r>
              <a:rPr lang="en-US" dirty="0" smtClean="0"/>
              <a:t>to </a:t>
            </a:r>
            <a:r>
              <a:rPr lang="en-US" dirty="0"/>
              <a:t>linearly separable </a:t>
            </a:r>
            <a:r>
              <a:rPr lang="en-US" dirty="0" smtClean="0"/>
              <a:t>ones. </a:t>
            </a:r>
          </a:p>
          <a:p>
            <a:endParaRPr lang="en-US" dirty="0"/>
          </a:p>
          <a:p>
            <a:pPr algn="just"/>
            <a:r>
              <a:rPr lang="en-US" dirty="0" smtClean="0"/>
              <a:t>The </a:t>
            </a:r>
            <a:r>
              <a:rPr lang="en-US" dirty="0"/>
              <a:t>kernel function is </a:t>
            </a:r>
            <a:r>
              <a:rPr lang="en-US" dirty="0" smtClean="0"/>
              <a:t>applied </a:t>
            </a:r>
            <a:r>
              <a:rPr lang="en-US" dirty="0"/>
              <a:t>on each data instance to map the original non-linear observations into a higher-dimensional space in which they become separable.</a:t>
            </a:r>
            <a:endParaRPr lang="en-IN" dirty="0"/>
          </a:p>
        </p:txBody>
      </p:sp>
    </p:spTree>
    <p:extLst>
      <p:ext uri="{BB962C8B-B14F-4D97-AF65-F5344CB8AC3E}">
        <p14:creationId xmlns:p14="http://schemas.microsoft.com/office/powerpoint/2010/main" val="11892667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What is Kernel</a:t>
            </a:r>
            <a:endParaRPr lang="en-IN" b="1" dirty="0"/>
          </a:p>
        </p:txBody>
      </p:sp>
      <p:sp>
        <p:nvSpPr>
          <p:cNvPr id="3" name="Content Placeholder 2"/>
          <p:cNvSpPr>
            <a:spLocks noGrp="1"/>
          </p:cNvSpPr>
          <p:nvPr>
            <p:ph idx="1"/>
          </p:nvPr>
        </p:nvSpPr>
        <p:spPr/>
        <p:txBody>
          <a:bodyPr>
            <a:normAutofit lnSpcReduction="10000"/>
          </a:bodyPr>
          <a:lstStyle/>
          <a:p>
            <a:r>
              <a:rPr lang="en-US" b="1" i="1" dirty="0"/>
              <a:t>Mathematical definition</a:t>
            </a:r>
            <a:r>
              <a:rPr lang="en-US" i="1" dirty="0"/>
              <a:t>: K(x, y) = &lt;f(x), f(y)&gt;. Here K is the kernel function, x, y are n dimensional inputs. </a:t>
            </a:r>
            <a:endParaRPr lang="en-US" i="1" dirty="0" smtClean="0"/>
          </a:p>
          <a:p>
            <a:r>
              <a:rPr lang="en-US" i="1" dirty="0" smtClean="0"/>
              <a:t>f </a:t>
            </a:r>
            <a:r>
              <a:rPr lang="en-US" i="1" dirty="0"/>
              <a:t>is a map from n-dimension to m-dimension space. &lt; </a:t>
            </a:r>
            <a:r>
              <a:rPr lang="en-US" i="1" dirty="0" err="1"/>
              <a:t>x,y</a:t>
            </a:r>
            <a:r>
              <a:rPr lang="en-US" i="1" dirty="0"/>
              <a:t>&gt; denotes the dot product. usually m is much larger than n</a:t>
            </a:r>
            <a:r>
              <a:rPr lang="en-US" i="1" dirty="0" smtClean="0"/>
              <a:t>.</a:t>
            </a:r>
          </a:p>
          <a:p>
            <a:endParaRPr lang="en-US" i="1" dirty="0"/>
          </a:p>
          <a:p>
            <a:r>
              <a:rPr lang="en-US" i="1" dirty="0" smtClean="0"/>
              <a:t>calculating </a:t>
            </a:r>
            <a:r>
              <a:rPr lang="en-US" i="1" dirty="0"/>
              <a:t>&lt;f(x), f(y)&gt; requires us to calculate f(x), f(y) first, and then do the dot product. </a:t>
            </a:r>
            <a:endParaRPr lang="en-US" i="1" dirty="0" smtClean="0"/>
          </a:p>
          <a:p>
            <a:r>
              <a:rPr lang="en-US" i="1" dirty="0" smtClean="0"/>
              <a:t>These </a:t>
            </a:r>
            <a:r>
              <a:rPr lang="en-US" i="1" dirty="0"/>
              <a:t>two computation steps can be quite expensive as they involve manipulations in m dimensional space, where m can be a large number.</a:t>
            </a:r>
            <a:endParaRPr lang="en-IN" dirty="0"/>
          </a:p>
        </p:txBody>
      </p:sp>
    </p:spTree>
    <p:extLst>
      <p:ext uri="{BB962C8B-B14F-4D97-AF65-F5344CB8AC3E}">
        <p14:creationId xmlns:p14="http://schemas.microsoft.com/office/powerpoint/2010/main" val="30221364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i="1" dirty="0"/>
              <a:t>But after all the trouble of going to the high dimensional space, </a:t>
            </a:r>
            <a:r>
              <a:rPr lang="en-US" b="1" i="1" dirty="0">
                <a:solidFill>
                  <a:srgbClr val="FF0000"/>
                </a:solidFill>
              </a:rPr>
              <a:t>the result of the dot product is really a scalar:</a:t>
            </a:r>
            <a:r>
              <a:rPr lang="en-US" i="1" dirty="0"/>
              <a:t> we come back to one-dimensional space again</a:t>
            </a:r>
            <a:r>
              <a:rPr lang="en-US" i="1" dirty="0" smtClean="0"/>
              <a:t>!</a:t>
            </a:r>
          </a:p>
          <a:p>
            <a:endParaRPr lang="en-US" i="1" dirty="0"/>
          </a:p>
          <a:p>
            <a:r>
              <a:rPr lang="en-US" i="1" dirty="0"/>
              <a:t>do we really have to go to the m-dimensional space? The answer is no, if you find a clever kernel.</a:t>
            </a:r>
            <a:endParaRPr lang="en-IN" dirty="0"/>
          </a:p>
        </p:txBody>
      </p:sp>
    </p:spTree>
    <p:extLst>
      <p:ext uri="{BB962C8B-B14F-4D97-AF65-F5344CB8AC3E}">
        <p14:creationId xmlns:p14="http://schemas.microsoft.com/office/powerpoint/2010/main" val="27355011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Example</a:t>
            </a:r>
            <a:endParaRPr lang="en-IN" b="1" dirty="0"/>
          </a:p>
        </p:txBody>
      </p:sp>
      <p:sp>
        <p:nvSpPr>
          <p:cNvPr id="3" name="Content Placeholder 2"/>
          <p:cNvSpPr>
            <a:spLocks noGrp="1"/>
          </p:cNvSpPr>
          <p:nvPr>
            <p:ph idx="1"/>
          </p:nvPr>
        </p:nvSpPr>
        <p:spPr/>
        <p:txBody>
          <a:bodyPr>
            <a:normAutofit/>
          </a:bodyPr>
          <a:lstStyle/>
          <a:p>
            <a:r>
              <a:rPr lang="en-US" b="1" i="1" dirty="0"/>
              <a:t>Simple Example:</a:t>
            </a:r>
            <a:r>
              <a:rPr lang="en-US" i="1" dirty="0"/>
              <a:t> x = (x1, x2, x3); y = (y1, y2, y3). Then for the function f(x) = (x1x1, x1x2, x1x3, x2x1, x2x2, x2x3, x3x1, x3x2, x3x3), the kernel is K(x, y ) = (&lt;x, y&gt;)²</a:t>
            </a:r>
            <a:r>
              <a:rPr lang="en-US" i="1" dirty="0" smtClean="0"/>
              <a:t>.</a:t>
            </a:r>
          </a:p>
          <a:p>
            <a:endParaRPr lang="en-US" i="1" dirty="0"/>
          </a:p>
          <a:p>
            <a:r>
              <a:rPr lang="en-US" i="1" dirty="0"/>
              <a:t>Let’s plug in some numbers to make this more intuitive: suppose x = (1, 2, 3); y = (4, 5, 6). Then</a:t>
            </a:r>
            <a:r>
              <a:rPr lang="en-US" i="1" dirty="0" smtClean="0"/>
              <a:t>:</a:t>
            </a:r>
          </a:p>
          <a:p>
            <a:pPr marL="0" indent="0">
              <a:buNone/>
            </a:pPr>
            <a:r>
              <a:rPr lang="en-US" i="1" dirty="0"/>
              <a:t/>
            </a:r>
            <a:br>
              <a:rPr lang="en-US" i="1" dirty="0"/>
            </a:br>
            <a:r>
              <a:rPr lang="en-US" i="1" dirty="0"/>
              <a:t>f(x) = (1, 2, 3, 2, 4, 6, 3, 6, 9)</a:t>
            </a:r>
            <a:br>
              <a:rPr lang="en-US" i="1" dirty="0"/>
            </a:br>
            <a:r>
              <a:rPr lang="en-US" i="1" dirty="0"/>
              <a:t>f(y) = (16, 20, 24, 20, 25, 30, 24, 30, 36)</a:t>
            </a:r>
            <a:br>
              <a:rPr lang="en-US" i="1" dirty="0"/>
            </a:br>
            <a:r>
              <a:rPr lang="en-US" i="1" dirty="0"/>
              <a:t>&lt;f(x), f(y)&gt; = 16 + 40 + 72 + 40 + 100+ 180 + 72 + 180 + 324 = 1024</a:t>
            </a:r>
          </a:p>
          <a:p>
            <a:endParaRPr lang="en-IN" dirty="0"/>
          </a:p>
        </p:txBody>
      </p:sp>
    </p:spTree>
    <p:extLst>
      <p:ext uri="{BB962C8B-B14F-4D97-AF65-F5344CB8AC3E}">
        <p14:creationId xmlns:p14="http://schemas.microsoft.com/office/powerpoint/2010/main" val="12979917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i="1" dirty="0" smtClean="0"/>
              <a:t>A lot of algebra, mainly because f is a mapping from 3-dimensional to 9-dimensional space.</a:t>
            </a:r>
          </a:p>
          <a:p>
            <a:endParaRPr lang="en-US" i="1" dirty="0"/>
          </a:p>
          <a:p>
            <a:endParaRPr lang="en-US" i="1" dirty="0" smtClean="0"/>
          </a:p>
          <a:p>
            <a:r>
              <a:rPr lang="en-US" i="1" dirty="0" smtClean="0"/>
              <a:t>Now let us use the kernel instead:</a:t>
            </a:r>
            <a:br>
              <a:rPr lang="en-US" i="1" dirty="0" smtClean="0"/>
            </a:br>
            <a:r>
              <a:rPr lang="en-US" b="1" i="1" dirty="0" smtClean="0">
                <a:solidFill>
                  <a:srgbClr val="FF0000"/>
                </a:solidFill>
              </a:rPr>
              <a:t>K(x, y) = (4 + 10 + 18 ) ^2 = 32² = 1024</a:t>
            </a:r>
            <a:r>
              <a:rPr lang="en-US" i="1" dirty="0" smtClean="0"/>
              <a:t/>
            </a:r>
            <a:br>
              <a:rPr lang="en-US" i="1" dirty="0" smtClean="0"/>
            </a:br>
            <a:r>
              <a:rPr lang="en-US" b="1" i="1" dirty="0" smtClean="0">
                <a:solidFill>
                  <a:srgbClr val="00B050"/>
                </a:solidFill>
              </a:rPr>
              <a:t>Same result, but this calculation is so much easier.</a:t>
            </a:r>
          </a:p>
          <a:p>
            <a:endParaRPr lang="en-IN" dirty="0"/>
          </a:p>
        </p:txBody>
      </p:sp>
    </p:spTree>
    <p:extLst>
      <p:ext uri="{BB962C8B-B14F-4D97-AF65-F5344CB8AC3E}">
        <p14:creationId xmlns:p14="http://schemas.microsoft.com/office/powerpoint/2010/main" val="15538592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Example: SVM</a:t>
            </a:r>
            <a:endParaRPr lang="en-IN" b="1" dirty="0"/>
          </a:p>
        </p:txBody>
      </p:sp>
      <p:pic>
        <p:nvPicPr>
          <p:cNvPr id="4" name="Content Placeholder 3"/>
          <p:cNvPicPr>
            <a:picLocks noGrp="1" noChangeAspect="1"/>
          </p:cNvPicPr>
          <p:nvPr>
            <p:ph idx="1"/>
          </p:nvPr>
        </p:nvPicPr>
        <p:blipFill>
          <a:blip r:embed="rId2"/>
          <a:stretch>
            <a:fillRect/>
          </a:stretch>
        </p:blipFill>
        <p:spPr>
          <a:xfrm>
            <a:off x="2390258" y="1976949"/>
            <a:ext cx="7411484" cy="4048690"/>
          </a:xfrm>
          <a:prstGeom prst="rect">
            <a:avLst/>
          </a:prstGeom>
        </p:spPr>
      </p:pic>
    </p:spTree>
    <p:extLst>
      <p:ext uri="{BB962C8B-B14F-4D97-AF65-F5344CB8AC3E}">
        <p14:creationId xmlns:p14="http://schemas.microsoft.com/office/powerpoint/2010/main" val="33908540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Example: Deep Learning - CNN</a:t>
            </a:r>
            <a:endParaRPr lang="en-IN" b="1" dirty="0"/>
          </a:p>
        </p:txBody>
      </p:sp>
      <p:pic>
        <p:nvPicPr>
          <p:cNvPr id="4" name="Content Placeholder 3"/>
          <p:cNvPicPr>
            <a:picLocks noGrp="1" noChangeAspect="1"/>
          </p:cNvPicPr>
          <p:nvPr>
            <p:ph idx="1"/>
          </p:nvPr>
        </p:nvPicPr>
        <p:blipFill>
          <a:blip r:embed="rId2"/>
          <a:stretch>
            <a:fillRect/>
          </a:stretch>
        </p:blipFill>
        <p:spPr>
          <a:xfrm>
            <a:off x="2462120" y="1825625"/>
            <a:ext cx="7267759" cy="4351338"/>
          </a:xfrm>
          <a:prstGeom prst="rect">
            <a:avLst/>
          </a:prstGeom>
        </p:spPr>
      </p:pic>
    </p:spTree>
    <p:extLst>
      <p:ext uri="{BB962C8B-B14F-4D97-AF65-F5344CB8AC3E}">
        <p14:creationId xmlns:p14="http://schemas.microsoft.com/office/powerpoint/2010/main" val="7145493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 kernel in a CNN is basically a small window (of say 3 x 3 pixels), that has specific values. </a:t>
            </a:r>
            <a:endParaRPr lang="en-US" dirty="0" smtClean="0"/>
          </a:p>
          <a:p>
            <a:endParaRPr lang="en-US" dirty="0"/>
          </a:p>
          <a:p>
            <a:r>
              <a:rPr lang="en-US" dirty="0" smtClean="0"/>
              <a:t>This </a:t>
            </a:r>
            <a:r>
              <a:rPr lang="en-US" dirty="0"/>
              <a:t>small window is </a:t>
            </a:r>
            <a:r>
              <a:rPr lang="en-US" b="1" dirty="0"/>
              <a:t>applied</a:t>
            </a:r>
            <a:r>
              <a:rPr lang="en-US" dirty="0"/>
              <a:t> to an input image to obtain a specific result, through a mathematical process called </a:t>
            </a:r>
            <a:r>
              <a:rPr lang="en-US" b="1" dirty="0"/>
              <a:t>convolution</a:t>
            </a:r>
            <a:r>
              <a:rPr lang="en-US" dirty="0" smtClean="0"/>
              <a:t>.</a:t>
            </a:r>
          </a:p>
          <a:p>
            <a:endParaRPr lang="en-US" dirty="0"/>
          </a:p>
          <a:p>
            <a:r>
              <a:rPr lang="en-US" dirty="0" smtClean="0"/>
              <a:t> </a:t>
            </a:r>
            <a:r>
              <a:rPr lang="en-US" dirty="0"/>
              <a:t>The kernel is ‘slid’ across the original image, commonly one pixel at a time, to calculate the pixel response of that particular pixel. </a:t>
            </a:r>
            <a:endParaRPr lang="en-IN" dirty="0"/>
          </a:p>
        </p:txBody>
      </p:sp>
    </p:spTree>
    <p:extLst>
      <p:ext uri="{BB962C8B-B14F-4D97-AF65-F5344CB8AC3E}">
        <p14:creationId xmlns:p14="http://schemas.microsoft.com/office/powerpoint/2010/main" val="7941859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2148" y="5071348"/>
            <a:ext cx="10515600" cy="1325563"/>
          </a:xfrm>
        </p:spPr>
        <p:txBody>
          <a:bodyPr>
            <a:normAutofit fontScale="90000"/>
          </a:bodyPr>
          <a:lstStyle/>
          <a:p>
            <a:r>
              <a:rPr lang="en-US" sz="3100" dirty="0"/>
              <a:t>This is an edge detection kernel (kernels are also called filters in the image processing world). The response (output image) is shown as the feature map (which is also the term commonly used when talking about CNNs).</a:t>
            </a:r>
            <a:br>
              <a:rPr lang="en-US" sz="3100" dirty="0"/>
            </a:br>
            <a:r>
              <a:rPr lang="en-US" dirty="0"/>
              <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2060812" y="388932"/>
            <a:ext cx="7449590" cy="2896004"/>
          </a:xfrm>
          <a:prstGeom prst="rect">
            <a:avLst/>
          </a:prstGeom>
        </p:spPr>
      </p:pic>
    </p:spTree>
    <p:extLst>
      <p:ext uri="{BB962C8B-B14F-4D97-AF65-F5344CB8AC3E}">
        <p14:creationId xmlns:p14="http://schemas.microsoft.com/office/powerpoint/2010/main" val="32851219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Commonly used kernel functions</a:t>
            </a:r>
            <a:endParaRPr lang="en-IN" b="1" dirty="0"/>
          </a:p>
        </p:txBody>
      </p:sp>
      <p:sp>
        <p:nvSpPr>
          <p:cNvPr id="3" name="Content Placeholder 2"/>
          <p:cNvSpPr>
            <a:spLocks noGrp="1"/>
          </p:cNvSpPr>
          <p:nvPr>
            <p:ph idx="1"/>
          </p:nvPr>
        </p:nvSpPr>
        <p:spPr/>
        <p:txBody>
          <a:bodyPr/>
          <a:lstStyle/>
          <a:p>
            <a:r>
              <a:rPr lang="en-US" dirty="0" smtClean="0"/>
              <a:t>Linear Kernel</a:t>
            </a:r>
          </a:p>
          <a:p>
            <a:r>
              <a:rPr lang="en-US" dirty="0" smtClean="0"/>
              <a:t>Polynomial Kernel</a:t>
            </a:r>
          </a:p>
          <a:p>
            <a:r>
              <a:rPr lang="en-US" dirty="0" smtClean="0"/>
              <a:t>Gaussian Kernel</a:t>
            </a:r>
          </a:p>
          <a:p>
            <a:r>
              <a:rPr lang="en-US" dirty="0" smtClean="0"/>
              <a:t>Sigmoid Kernel</a:t>
            </a:r>
          </a:p>
          <a:p>
            <a:r>
              <a:rPr lang="en-US" dirty="0" smtClean="0"/>
              <a:t>Convolution Kernel</a:t>
            </a:r>
          </a:p>
          <a:p>
            <a:r>
              <a:rPr lang="en-US" dirty="0" smtClean="0"/>
              <a:t>Pooling Kernel</a:t>
            </a:r>
          </a:p>
          <a:p>
            <a:r>
              <a:rPr lang="en-US" dirty="0" smtClean="0"/>
              <a:t>Activation Function (</a:t>
            </a:r>
            <a:r>
              <a:rPr lang="en-US" dirty="0" err="1" smtClean="0"/>
              <a:t>ReLU</a:t>
            </a:r>
            <a:r>
              <a:rPr lang="en-US" dirty="0" smtClean="0"/>
              <a:t>)</a:t>
            </a:r>
            <a:endParaRPr lang="en-IN" dirty="0"/>
          </a:p>
        </p:txBody>
      </p:sp>
    </p:spTree>
    <p:extLst>
      <p:ext uri="{BB962C8B-B14F-4D97-AF65-F5344CB8AC3E}">
        <p14:creationId xmlns:p14="http://schemas.microsoft.com/office/powerpoint/2010/main" val="28754625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Convolution Layer in CNN using Kernel/Filter</a:t>
            </a:r>
            <a:endParaRPr lang="en-IN" b="1" dirty="0"/>
          </a:p>
        </p:txBody>
      </p:sp>
      <p:pic>
        <p:nvPicPr>
          <p:cNvPr id="4" name="Content Placeholder 3"/>
          <p:cNvPicPr>
            <a:picLocks noGrp="1" noChangeAspect="1"/>
          </p:cNvPicPr>
          <p:nvPr>
            <p:ph idx="1"/>
          </p:nvPr>
        </p:nvPicPr>
        <p:blipFill>
          <a:blip r:embed="rId2"/>
          <a:stretch>
            <a:fillRect/>
          </a:stretch>
        </p:blipFill>
        <p:spPr>
          <a:xfrm>
            <a:off x="3228575" y="2024580"/>
            <a:ext cx="5734850" cy="3953427"/>
          </a:xfrm>
          <a:prstGeom prst="rect">
            <a:avLst/>
          </a:prstGeom>
        </p:spPr>
      </p:pic>
    </p:spTree>
    <p:extLst>
      <p:ext uri="{BB962C8B-B14F-4D97-AF65-F5344CB8AC3E}">
        <p14:creationId xmlns:p14="http://schemas.microsoft.com/office/powerpoint/2010/main" val="2942475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728930" y="1006374"/>
            <a:ext cx="6261954" cy="3020342"/>
          </a:xfrm>
          <a:prstGeom prst="rect">
            <a:avLst/>
          </a:prstGeom>
        </p:spPr>
      </p:pic>
    </p:spTree>
    <p:extLst>
      <p:ext uri="{BB962C8B-B14F-4D97-AF65-F5344CB8AC3E}">
        <p14:creationId xmlns:p14="http://schemas.microsoft.com/office/powerpoint/2010/main" val="595057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88435" y="1331405"/>
            <a:ext cx="6027057" cy="3058731"/>
          </a:xfrm>
          <a:prstGeom prst="rect">
            <a:avLst/>
          </a:prstGeom>
        </p:spPr>
      </p:pic>
    </p:spTree>
    <p:extLst>
      <p:ext uri="{BB962C8B-B14F-4D97-AF65-F5344CB8AC3E}">
        <p14:creationId xmlns:p14="http://schemas.microsoft.com/office/powerpoint/2010/main" val="355775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610</Words>
  <Application>Microsoft Office PowerPoint</Application>
  <PresentationFormat>Widescreen</PresentationFormat>
  <Paragraphs>46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Kernel Machines</vt:lpstr>
      <vt:lpstr>Linearly Separable</vt:lpstr>
      <vt:lpstr>Linearly Inseparable</vt:lpstr>
      <vt:lpstr>What is Kernel</vt:lpstr>
      <vt:lpstr>What is Kernel</vt:lpstr>
      <vt:lpstr>PowerPoint Presentation</vt:lpstr>
      <vt:lpstr>Example</vt:lpstr>
      <vt:lpstr>PowerPoint Presentation</vt:lpstr>
      <vt:lpstr>Example: SVM</vt:lpstr>
      <vt:lpstr>Example: Deep Learning - CNN</vt:lpstr>
      <vt:lpstr>PowerPoint Presentation</vt:lpstr>
      <vt:lpstr>This is an edge detection kernel (kernels are also called filters in the image processing world). The response (output image) is shown as the feature map (which is also the term commonly used when talking about CNNs).  </vt:lpstr>
      <vt:lpstr>Commonly used kernel functions</vt:lpstr>
      <vt:lpstr>Convolution Layer in CNN using Kernel/Filter</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Kernel Machines</dc:title>
  <dc:creator>Balamurali</dc:creator>
  <cp:lastModifiedBy>Balamurali</cp:lastModifiedBy>
  <cp:revision>10</cp:revision>
  <dcterms:created xsi:type="dcterms:W3CDTF">2024-05-02T04:28:30Z</dcterms:created>
  <dcterms:modified xsi:type="dcterms:W3CDTF">2024-11-18T07:16:50Z</dcterms:modified>
</cp:coreProperties>
</file>