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85" r:id="rId1"/>
  </p:sldMasterIdLst>
  <p:sldIdLst>
    <p:sldId id="256" r:id="rId2"/>
    <p:sldId id="303" r:id="rId3"/>
    <p:sldId id="257" r:id="rId4"/>
    <p:sldId id="258" r:id="rId5"/>
    <p:sldId id="259" r:id="rId6"/>
    <p:sldId id="260" r:id="rId7"/>
    <p:sldId id="261" r:id="rId8"/>
    <p:sldId id="262" r:id="rId9"/>
    <p:sldId id="263" r:id="rId10"/>
    <p:sldId id="304" r:id="rId11"/>
    <p:sldId id="264" r:id="rId12"/>
    <p:sldId id="265" r:id="rId13"/>
    <p:sldId id="266" r:id="rId14"/>
    <p:sldId id="267" r:id="rId15"/>
    <p:sldId id="268" r:id="rId16"/>
    <p:sldId id="269" r:id="rId17"/>
    <p:sldId id="272" r:id="rId18"/>
    <p:sldId id="270" r:id="rId19"/>
    <p:sldId id="271" r:id="rId20"/>
    <p:sldId id="273" r:id="rId21"/>
    <p:sldId id="274" r:id="rId22"/>
    <p:sldId id="275" r:id="rId23"/>
    <p:sldId id="276" r:id="rId24"/>
    <p:sldId id="277" r:id="rId25"/>
    <p:sldId id="278" r:id="rId26"/>
    <p:sldId id="279" r:id="rId27"/>
    <p:sldId id="280" r:id="rId28"/>
    <p:sldId id="281" r:id="rId29"/>
    <p:sldId id="282" r:id="rId30"/>
    <p:sldId id="283" r:id="rId31"/>
    <p:sldId id="284" r:id="rId32"/>
    <p:sldId id="285" r:id="rId33"/>
    <p:sldId id="286" r:id="rId34"/>
    <p:sldId id="287" r:id="rId35"/>
    <p:sldId id="288" r:id="rId36"/>
    <p:sldId id="289" r:id="rId37"/>
    <p:sldId id="290" r:id="rId38"/>
    <p:sldId id="291" r:id="rId39"/>
    <p:sldId id="302" r:id="rId40"/>
    <p:sldId id="292" r:id="rId41"/>
    <p:sldId id="293" r:id="rId42"/>
    <p:sldId id="294" r:id="rId43"/>
    <p:sldId id="295" r:id="rId44"/>
    <p:sldId id="296" r:id="rId45"/>
    <p:sldId id="297" r:id="rId46"/>
    <p:sldId id="298" r:id="rId47"/>
    <p:sldId id="299" r:id="rId48"/>
    <p:sldId id="300" r:id="rId49"/>
    <p:sldId id="301" r:id="rId50"/>
    <p:sldId id="305" r:id="rId5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p:cViewPr varScale="1">
        <p:scale>
          <a:sx n="114" d="100"/>
          <a:sy n="114" d="100"/>
        </p:scale>
        <p:origin x="936" y="10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9"/>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smtClean="0"/>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5000"/>
                    <a:lumOff val="5000"/>
                  </a:schemeClr>
                </a:solidFill>
              </a:defRPr>
            </a:lvl1pPr>
            <a:lvl2pPr marL="457200" indent="0" algn="ctr">
              <a:buNone/>
              <a:defRPr sz="1600"/>
            </a:lvl2pPr>
            <a:lvl3pPr marL="914400" indent="0" algn="ctr">
              <a:buNone/>
              <a:defRPr sz="16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F2349340-E942-400C-8C9A-39DF4ADE3F8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C8737A-8E18-4809-93C0-3FDF6199F2F8}"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3518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349340-E942-400C-8C9A-39DF4ADE3F8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C8737A-8E18-4809-93C0-3FDF6199F2F8}" type="slidenum">
              <a:rPr lang="en-US" smtClean="0"/>
              <a:t>‹#›</a:t>
            </a:fld>
            <a:endParaRPr lang="en-US"/>
          </a:p>
        </p:txBody>
      </p:sp>
    </p:spTree>
    <p:extLst>
      <p:ext uri="{BB962C8B-B14F-4D97-AF65-F5344CB8AC3E}">
        <p14:creationId xmlns:p14="http://schemas.microsoft.com/office/powerpoint/2010/main" val="3620086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9" name="Rectangle 8"/>
          <p:cNvSpPr/>
          <p:nvPr/>
        </p:nvSpPr>
        <p:spPr>
          <a:xfrm>
            <a:off x="0" y="0"/>
            <a:ext cx="9144000" cy="4572001"/>
          </a:xfrm>
          <a:prstGeom prst="rect">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Freeform 10"/>
          <p:cNvSpPr/>
          <p:nvPr/>
        </p:nvSpPr>
        <p:spPr>
          <a:xfrm>
            <a:off x="4762" y="0"/>
            <a:ext cx="9139239" cy="4572001"/>
          </a:xfrm>
          <a:custGeom>
            <a:avLst/>
            <a:gdLst/>
            <a:ahLst/>
            <a:cxnLst/>
            <a:rect l="l" t="t" r="r" b="b"/>
            <a:pathLst>
              <a:path w="9139239" h="4572001">
                <a:moveTo>
                  <a:pt x="9139239" y="4171458"/>
                </a:moveTo>
                <a:lnTo>
                  <a:pt x="9139239" y="4479120"/>
                </a:lnTo>
                <a:lnTo>
                  <a:pt x="9061857" y="4572001"/>
                </a:lnTo>
                <a:lnTo>
                  <a:pt x="8867616" y="4572001"/>
                </a:lnTo>
                <a:cubicBezTo>
                  <a:pt x="8974940" y="4496648"/>
                  <a:pt x="9059271" y="4392377"/>
                  <a:pt x="9109281" y="4270954"/>
                </a:cubicBezTo>
                <a:close/>
                <a:moveTo>
                  <a:pt x="9139239" y="4017903"/>
                </a:moveTo>
                <a:lnTo>
                  <a:pt x="9139239" y="4146549"/>
                </a:lnTo>
                <a:lnTo>
                  <a:pt x="9061849" y="4168266"/>
                </a:lnTo>
                <a:cubicBezTo>
                  <a:pt x="8867508" y="4236060"/>
                  <a:pt x="8712637" y="4384208"/>
                  <a:pt x="8639677" y="4572001"/>
                </a:cubicBezTo>
                <a:lnTo>
                  <a:pt x="8502130" y="4572001"/>
                </a:lnTo>
                <a:cubicBezTo>
                  <a:pt x="8583823" y="4319597"/>
                  <a:pt x="8787913" y="4120306"/>
                  <a:pt x="9046727" y="4039822"/>
                </a:cubicBezTo>
                <a:close/>
                <a:moveTo>
                  <a:pt x="7620280" y="3999419"/>
                </a:moveTo>
                <a:lnTo>
                  <a:pt x="7637367" y="4001042"/>
                </a:lnTo>
                <a:cubicBezTo>
                  <a:pt x="7669753" y="4001569"/>
                  <a:pt x="7701646" y="4004550"/>
                  <a:pt x="7732829" y="4010107"/>
                </a:cubicBezTo>
                <a:cubicBezTo>
                  <a:pt x="7738405" y="4009688"/>
                  <a:pt x="7743733" y="4010636"/>
                  <a:pt x="7749042" y="4011646"/>
                </a:cubicBezTo>
                <a:lnTo>
                  <a:pt x="7749159" y="4012794"/>
                </a:lnTo>
                <a:cubicBezTo>
                  <a:pt x="8061238" y="4064450"/>
                  <a:pt x="8314467" y="4283539"/>
                  <a:pt x="8407830" y="4572001"/>
                </a:cubicBezTo>
                <a:lnTo>
                  <a:pt x="8270283" y="4572001"/>
                </a:lnTo>
                <a:cubicBezTo>
                  <a:pt x="8186900" y="4357380"/>
                  <a:pt x="7996531" y="4194541"/>
                  <a:pt x="7762529" y="4144250"/>
                </a:cubicBezTo>
                <a:cubicBezTo>
                  <a:pt x="7797023" y="4319651"/>
                  <a:pt x="7899246" y="4471530"/>
                  <a:pt x="8042344" y="4572001"/>
                </a:cubicBezTo>
                <a:lnTo>
                  <a:pt x="7848103" y="4572001"/>
                </a:lnTo>
                <a:cubicBezTo>
                  <a:pt x="7731971" y="4452596"/>
                  <a:pt x="7653409" y="4298519"/>
                  <a:pt x="7629044" y="4127511"/>
                </a:cubicBezTo>
                <a:cubicBezTo>
                  <a:pt x="7628876" y="4127458"/>
                  <a:pt x="7628708" y="4127453"/>
                  <a:pt x="7628538" y="4127448"/>
                </a:cubicBezTo>
                <a:lnTo>
                  <a:pt x="7628000" y="4120772"/>
                </a:lnTo>
                <a:cubicBezTo>
                  <a:pt x="7622941" y="4090522"/>
                  <a:pt x="7620490" y="4059631"/>
                  <a:pt x="7620533" y="4028296"/>
                </a:cubicBezTo>
                <a:cubicBezTo>
                  <a:pt x="7619221" y="4022668"/>
                  <a:pt x="7619162" y="4017001"/>
                  <a:pt x="7619162" y="4011320"/>
                </a:cubicBezTo>
                <a:lnTo>
                  <a:pt x="7619756" y="3999880"/>
                </a:lnTo>
                <a:lnTo>
                  <a:pt x="7620254" y="3999913"/>
                </a:lnTo>
                <a:close/>
                <a:moveTo>
                  <a:pt x="7597529" y="3999419"/>
                </a:moveTo>
                <a:lnTo>
                  <a:pt x="7597555" y="3999913"/>
                </a:lnTo>
                <a:lnTo>
                  <a:pt x="7598053" y="3999880"/>
                </a:lnTo>
                <a:lnTo>
                  <a:pt x="7598647" y="4011320"/>
                </a:lnTo>
                <a:cubicBezTo>
                  <a:pt x="7598647" y="4017001"/>
                  <a:pt x="7598588" y="4022668"/>
                  <a:pt x="7597276" y="4028296"/>
                </a:cubicBezTo>
                <a:cubicBezTo>
                  <a:pt x="7597319" y="4059631"/>
                  <a:pt x="7594868" y="4090522"/>
                  <a:pt x="7589809" y="4120772"/>
                </a:cubicBezTo>
                <a:lnTo>
                  <a:pt x="7589271" y="4127448"/>
                </a:lnTo>
                <a:cubicBezTo>
                  <a:pt x="7589101" y="4127453"/>
                  <a:pt x="7588933" y="4127458"/>
                  <a:pt x="7588765" y="4127511"/>
                </a:cubicBezTo>
                <a:cubicBezTo>
                  <a:pt x="7564400" y="4298519"/>
                  <a:pt x="7485838" y="4452596"/>
                  <a:pt x="7369706" y="4572001"/>
                </a:cubicBezTo>
                <a:lnTo>
                  <a:pt x="7175465" y="4572001"/>
                </a:lnTo>
                <a:cubicBezTo>
                  <a:pt x="7318563" y="4471530"/>
                  <a:pt x="7420786" y="4319651"/>
                  <a:pt x="7455280" y="4144250"/>
                </a:cubicBezTo>
                <a:cubicBezTo>
                  <a:pt x="7221278" y="4194541"/>
                  <a:pt x="7030909" y="4357380"/>
                  <a:pt x="6947526" y="4572001"/>
                </a:cubicBezTo>
                <a:lnTo>
                  <a:pt x="6809978" y="4572001"/>
                </a:lnTo>
                <a:cubicBezTo>
                  <a:pt x="6903341" y="4283539"/>
                  <a:pt x="7156571" y="4064450"/>
                  <a:pt x="7468650" y="4012794"/>
                </a:cubicBezTo>
                <a:lnTo>
                  <a:pt x="7468767" y="4011646"/>
                </a:lnTo>
                <a:cubicBezTo>
                  <a:pt x="7474076" y="4010636"/>
                  <a:pt x="7479404" y="4009688"/>
                  <a:pt x="7484980" y="4010107"/>
                </a:cubicBezTo>
                <a:cubicBezTo>
                  <a:pt x="7516163" y="4004550"/>
                  <a:pt x="7548056" y="4001569"/>
                  <a:pt x="7580442" y="4001042"/>
                </a:cubicBezTo>
                <a:close/>
                <a:moveTo>
                  <a:pt x="5928129" y="3999419"/>
                </a:moveTo>
                <a:lnTo>
                  <a:pt x="5945217" y="4001042"/>
                </a:lnTo>
                <a:cubicBezTo>
                  <a:pt x="5977602" y="4001569"/>
                  <a:pt x="6009495" y="4004550"/>
                  <a:pt x="6040678" y="4010107"/>
                </a:cubicBezTo>
                <a:cubicBezTo>
                  <a:pt x="6046254" y="4009688"/>
                  <a:pt x="6051582" y="4010636"/>
                  <a:pt x="6056891" y="4011646"/>
                </a:cubicBezTo>
                <a:lnTo>
                  <a:pt x="6057008" y="4012794"/>
                </a:lnTo>
                <a:cubicBezTo>
                  <a:pt x="6369087" y="4064450"/>
                  <a:pt x="6622316" y="4283539"/>
                  <a:pt x="6715680" y="4572001"/>
                </a:cubicBezTo>
                <a:lnTo>
                  <a:pt x="6578131" y="4572001"/>
                </a:lnTo>
                <a:cubicBezTo>
                  <a:pt x="6494748" y="4357380"/>
                  <a:pt x="6304380" y="4194541"/>
                  <a:pt x="6070378" y="4144250"/>
                </a:cubicBezTo>
                <a:cubicBezTo>
                  <a:pt x="6104872" y="4319650"/>
                  <a:pt x="6207095" y="4471530"/>
                  <a:pt x="6350192" y="4572001"/>
                </a:cubicBezTo>
                <a:lnTo>
                  <a:pt x="6155952" y="4572001"/>
                </a:lnTo>
                <a:cubicBezTo>
                  <a:pt x="6039820" y="4452596"/>
                  <a:pt x="5961257" y="4298519"/>
                  <a:pt x="5936893" y="4127511"/>
                </a:cubicBezTo>
                <a:cubicBezTo>
                  <a:pt x="5936725" y="4127458"/>
                  <a:pt x="5936557" y="4127453"/>
                  <a:pt x="5936387" y="4127448"/>
                </a:cubicBezTo>
                <a:lnTo>
                  <a:pt x="5935849" y="4120772"/>
                </a:lnTo>
                <a:cubicBezTo>
                  <a:pt x="5930790" y="4090522"/>
                  <a:pt x="5928340" y="4059631"/>
                  <a:pt x="5928382" y="4028296"/>
                </a:cubicBezTo>
                <a:cubicBezTo>
                  <a:pt x="5927070" y="4022668"/>
                  <a:pt x="5927011" y="4017001"/>
                  <a:pt x="5927011" y="4011320"/>
                </a:cubicBezTo>
                <a:lnTo>
                  <a:pt x="5927605" y="3999880"/>
                </a:lnTo>
                <a:lnTo>
                  <a:pt x="5928103" y="3999913"/>
                </a:lnTo>
                <a:close/>
                <a:moveTo>
                  <a:pt x="5905378" y="3999419"/>
                </a:moveTo>
                <a:lnTo>
                  <a:pt x="5905404" y="3999913"/>
                </a:lnTo>
                <a:lnTo>
                  <a:pt x="5905902" y="3999880"/>
                </a:lnTo>
                <a:lnTo>
                  <a:pt x="5906496" y="4011320"/>
                </a:lnTo>
                <a:cubicBezTo>
                  <a:pt x="5906496" y="4017001"/>
                  <a:pt x="5906437" y="4022668"/>
                  <a:pt x="5905125" y="4028296"/>
                </a:cubicBezTo>
                <a:cubicBezTo>
                  <a:pt x="5905167" y="4059631"/>
                  <a:pt x="5902717" y="4090522"/>
                  <a:pt x="5897658" y="4120772"/>
                </a:cubicBezTo>
                <a:lnTo>
                  <a:pt x="5897120" y="4127448"/>
                </a:lnTo>
                <a:cubicBezTo>
                  <a:pt x="5896950" y="4127453"/>
                  <a:pt x="5896782" y="4127458"/>
                  <a:pt x="5896614" y="4127511"/>
                </a:cubicBezTo>
                <a:cubicBezTo>
                  <a:pt x="5872249" y="4298519"/>
                  <a:pt x="5793686" y="4452596"/>
                  <a:pt x="5677555" y="4572001"/>
                </a:cubicBezTo>
                <a:lnTo>
                  <a:pt x="5483314" y="4572001"/>
                </a:lnTo>
                <a:cubicBezTo>
                  <a:pt x="5626412" y="4471530"/>
                  <a:pt x="5728635" y="4319650"/>
                  <a:pt x="5763129" y="4144250"/>
                </a:cubicBezTo>
                <a:cubicBezTo>
                  <a:pt x="5529126" y="4194541"/>
                  <a:pt x="5338758" y="4357380"/>
                  <a:pt x="5255375" y="4572001"/>
                </a:cubicBezTo>
                <a:lnTo>
                  <a:pt x="5117827" y="4572001"/>
                </a:lnTo>
                <a:cubicBezTo>
                  <a:pt x="5211190" y="4283539"/>
                  <a:pt x="5464420" y="4064450"/>
                  <a:pt x="5776499" y="4012794"/>
                </a:cubicBezTo>
                <a:lnTo>
                  <a:pt x="5776616" y="4011646"/>
                </a:lnTo>
                <a:cubicBezTo>
                  <a:pt x="5781926" y="4010636"/>
                  <a:pt x="5787253" y="4009688"/>
                  <a:pt x="5792829" y="4010107"/>
                </a:cubicBezTo>
                <a:cubicBezTo>
                  <a:pt x="5824012" y="4004550"/>
                  <a:pt x="5855905" y="4001569"/>
                  <a:pt x="5888290" y="4001042"/>
                </a:cubicBezTo>
                <a:close/>
                <a:moveTo>
                  <a:pt x="4235979" y="3999419"/>
                </a:moveTo>
                <a:lnTo>
                  <a:pt x="4253065" y="4001042"/>
                </a:lnTo>
                <a:cubicBezTo>
                  <a:pt x="4285451" y="4001569"/>
                  <a:pt x="4317343" y="4004550"/>
                  <a:pt x="4348528" y="4010107"/>
                </a:cubicBezTo>
                <a:cubicBezTo>
                  <a:pt x="4354104" y="4009688"/>
                  <a:pt x="4359431" y="4010636"/>
                  <a:pt x="4364739" y="4011646"/>
                </a:cubicBezTo>
                <a:lnTo>
                  <a:pt x="4364856" y="4012794"/>
                </a:lnTo>
                <a:cubicBezTo>
                  <a:pt x="4676936" y="4064450"/>
                  <a:pt x="4930165" y="4283539"/>
                  <a:pt x="5023528" y="4572001"/>
                </a:cubicBezTo>
                <a:lnTo>
                  <a:pt x="4885980" y="4572001"/>
                </a:lnTo>
                <a:cubicBezTo>
                  <a:pt x="4802597" y="4357380"/>
                  <a:pt x="4612229" y="4194541"/>
                  <a:pt x="4378227" y="4144250"/>
                </a:cubicBezTo>
                <a:cubicBezTo>
                  <a:pt x="4412722" y="4319651"/>
                  <a:pt x="4514944" y="4471530"/>
                  <a:pt x="4658041" y="4572001"/>
                </a:cubicBezTo>
                <a:lnTo>
                  <a:pt x="4463800" y="4572001"/>
                </a:lnTo>
                <a:cubicBezTo>
                  <a:pt x="4347669" y="4452596"/>
                  <a:pt x="4269106" y="4298519"/>
                  <a:pt x="4244741" y="4127511"/>
                </a:cubicBezTo>
                <a:cubicBezTo>
                  <a:pt x="4244574" y="4127458"/>
                  <a:pt x="4244405" y="4127453"/>
                  <a:pt x="4244236" y="4127448"/>
                </a:cubicBezTo>
                <a:lnTo>
                  <a:pt x="4243697" y="4120772"/>
                </a:lnTo>
                <a:cubicBezTo>
                  <a:pt x="4238639" y="4090522"/>
                  <a:pt x="4236188" y="4059631"/>
                  <a:pt x="4236230" y="4028296"/>
                </a:cubicBezTo>
                <a:cubicBezTo>
                  <a:pt x="4234918" y="4022668"/>
                  <a:pt x="4234860" y="4017001"/>
                  <a:pt x="4234860" y="4011320"/>
                </a:cubicBezTo>
                <a:lnTo>
                  <a:pt x="4235454" y="3999880"/>
                </a:lnTo>
                <a:lnTo>
                  <a:pt x="4235952" y="3999913"/>
                </a:lnTo>
                <a:close/>
                <a:moveTo>
                  <a:pt x="4213227" y="3999419"/>
                </a:moveTo>
                <a:lnTo>
                  <a:pt x="4213253" y="3999913"/>
                </a:lnTo>
                <a:lnTo>
                  <a:pt x="4213751" y="3999880"/>
                </a:lnTo>
                <a:lnTo>
                  <a:pt x="4214345" y="4011320"/>
                </a:lnTo>
                <a:cubicBezTo>
                  <a:pt x="4214345" y="4017001"/>
                  <a:pt x="4214286" y="4022668"/>
                  <a:pt x="4212974" y="4028296"/>
                </a:cubicBezTo>
                <a:cubicBezTo>
                  <a:pt x="4213016" y="4059631"/>
                  <a:pt x="4210566" y="4090522"/>
                  <a:pt x="4205507" y="4120772"/>
                </a:cubicBezTo>
                <a:lnTo>
                  <a:pt x="4204969" y="4127448"/>
                </a:lnTo>
                <a:cubicBezTo>
                  <a:pt x="4204799" y="4127453"/>
                  <a:pt x="4204631" y="4127458"/>
                  <a:pt x="4204463" y="4127511"/>
                </a:cubicBezTo>
                <a:cubicBezTo>
                  <a:pt x="4180098" y="4298519"/>
                  <a:pt x="4101535" y="4452596"/>
                  <a:pt x="3985404" y="4572001"/>
                </a:cubicBezTo>
                <a:lnTo>
                  <a:pt x="3791163" y="4572001"/>
                </a:lnTo>
                <a:cubicBezTo>
                  <a:pt x="3934261" y="4471530"/>
                  <a:pt x="4036484" y="4319651"/>
                  <a:pt x="4070978" y="4144250"/>
                </a:cubicBezTo>
                <a:cubicBezTo>
                  <a:pt x="3836975" y="4194541"/>
                  <a:pt x="3646607" y="4357380"/>
                  <a:pt x="3563224" y="4572001"/>
                </a:cubicBezTo>
                <a:lnTo>
                  <a:pt x="3425676" y="4572001"/>
                </a:lnTo>
                <a:cubicBezTo>
                  <a:pt x="3519039" y="4283539"/>
                  <a:pt x="3772269" y="4064450"/>
                  <a:pt x="4084348" y="4012794"/>
                </a:cubicBezTo>
                <a:lnTo>
                  <a:pt x="4084465" y="4011646"/>
                </a:lnTo>
                <a:cubicBezTo>
                  <a:pt x="4089774" y="4010636"/>
                  <a:pt x="4095102" y="4009688"/>
                  <a:pt x="4100678" y="4010107"/>
                </a:cubicBezTo>
                <a:cubicBezTo>
                  <a:pt x="4131861" y="4004550"/>
                  <a:pt x="4163754" y="4001569"/>
                  <a:pt x="4196139" y="4001042"/>
                </a:cubicBezTo>
                <a:close/>
                <a:moveTo>
                  <a:pt x="2543827" y="3999419"/>
                </a:moveTo>
                <a:lnTo>
                  <a:pt x="2560914" y="4001042"/>
                </a:lnTo>
                <a:cubicBezTo>
                  <a:pt x="2593300" y="4001569"/>
                  <a:pt x="2625192" y="4004550"/>
                  <a:pt x="2656376" y="4010107"/>
                </a:cubicBezTo>
                <a:cubicBezTo>
                  <a:pt x="2661952" y="4009688"/>
                  <a:pt x="2667280" y="4010636"/>
                  <a:pt x="2672588" y="4011646"/>
                </a:cubicBezTo>
                <a:lnTo>
                  <a:pt x="2672706" y="4012794"/>
                </a:lnTo>
                <a:cubicBezTo>
                  <a:pt x="2984785" y="4064450"/>
                  <a:pt x="3238014" y="4283539"/>
                  <a:pt x="3331377" y="4572001"/>
                </a:cubicBezTo>
                <a:lnTo>
                  <a:pt x="3193830" y="4572001"/>
                </a:lnTo>
                <a:cubicBezTo>
                  <a:pt x="3110446" y="4357380"/>
                  <a:pt x="2920078" y="4194541"/>
                  <a:pt x="2686076" y="4144250"/>
                </a:cubicBezTo>
                <a:cubicBezTo>
                  <a:pt x="2720570" y="4319650"/>
                  <a:pt x="2822793" y="4471530"/>
                  <a:pt x="2965890" y="4572001"/>
                </a:cubicBezTo>
                <a:lnTo>
                  <a:pt x="2771649" y="4572001"/>
                </a:lnTo>
                <a:cubicBezTo>
                  <a:pt x="2655518" y="4452596"/>
                  <a:pt x="2576955" y="4298519"/>
                  <a:pt x="2552590" y="4127511"/>
                </a:cubicBezTo>
                <a:cubicBezTo>
                  <a:pt x="2552423" y="4127458"/>
                  <a:pt x="2552254" y="4127453"/>
                  <a:pt x="2552085" y="4127448"/>
                </a:cubicBezTo>
                <a:lnTo>
                  <a:pt x="2551547" y="4120772"/>
                </a:lnTo>
                <a:cubicBezTo>
                  <a:pt x="2546488" y="4090522"/>
                  <a:pt x="2544037" y="4059631"/>
                  <a:pt x="2544079" y="4028296"/>
                </a:cubicBezTo>
                <a:cubicBezTo>
                  <a:pt x="2542767" y="4022668"/>
                  <a:pt x="2542709" y="4017001"/>
                  <a:pt x="2542709" y="4011320"/>
                </a:cubicBezTo>
                <a:lnTo>
                  <a:pt x="2543303" y="3999880"/>
                </a:lnTo>
                <a:lnTo>
                  <a:pt x="2543801" y="3999913"/>
                </a:lnTo>
                <a:close/>
                <a:moveTo>
                  <a:pt x="2521076" y="3999419"/>
                </a:moveTo>
                <a:lnTo>
                  <a:pt x="2521102" y="3999913"/>
                </a:lnTo>
                <a:lnTo>
                  <a:pt x="2521600" y="3999880"/>
                </a:lnTo>
                <a:lnTo>
                  <a:pt x="2522194" y="4011320"/>
                </a:lnTo>
                <a:cubicBezTo>
                  <a:pt x="2522194" y="4017001"/>
                  <a:pt x="2522135" y="4022668"/>
                  <a:pt x="2520823" y="4028296"/>
                </a:cubicBezTo>
                <a:cubicBezTo>
                  <a:pt x="2520865" y="4059631"/>
                  <a:pt x="2518415" y="4090522"/>
                  <a:pt x="2513356" y="4120772"/>
                </a:cubicBezTo>
                <a:lnTo>
                  <a:pt x="2512818" y="4127448"/>
                </a:lnTo>
                <a:cubicBezTo>
                  <a:pt x="2512648" y="4127453"/>
                  <a:pt x="2512480" y="4127458"/>
                  <a:pt x="2512312" y="4127511"/>
                </a:cubicBezTo>
                <a:cubicBezTo>
                  <a:pt x="2487947" y="4298519"/>
                  <a:pt x="2409385" y="4452596"/>
                  <a:pt x="2293253" y="4572001"/>
                </a:cubicBezTo>
                <a:lnTo>
                  <a:pt x="2099012" y="4572001"/>
                </a:lnTo>
                <a:cubicBezTo>
                  <a:pt x="2242110" y="4471530"/>
                  <a:pt x="2344333" y="4319651"/>
                  <a:pt x="2378827" y="4144250"/>
                </a:cubicBezTo>
                <a:cubicBezTo>
                  <a:pt x="2144825" y="4194541"/>
                  <a:pt x="1954456" y="4357380"/>
                  <a:pt x="1871073" y="4572001"/>
                </a:cubicBezTo>
                <a:lnTo>
                  <a:pt x="1733525" y="4572001"/>
                </a:lnTo>
                <a:cubicBezTo>
                  <a:pt x="1826888" y="4283539"/>
                  <a:pt x="2080118" y="4064450"/>
                  <a:pt x="2392197" y="4012794"/>
                </a:cubicBezTo>
                <a:lnTo>
                  <a:pt x="2392314" y="4011646"/>
                </a:lnTo>
                <a:cubicBezTo>
                  <a:pt x="2397623" y="4010636"/>
                  <a:pt x="2402951" y="4009688"/>
                  <a:pt x="2408527" y="4010107"/>
                </a:cubicBezTo>
                <a:cubicBezTo>
                  <a:pt x="2439710" y="4004550"/>
                  <a:pt x="2471603" y="4001569"/>
                  <a:pt x="2503988" y="4001042"/>
                </a:cubicBezTo>
                <a:close/>
                <a:moveTo>
                  <a:pt x="851676" y="3999419"/>
                </a:moveTo>
                <a:lnTo>
                  <a:pt x="868763" y="4001042"/>
                </a:lnTo>
                <a:cubicBezTo>
                  <a:pt x="901149" y="4001569"/>
                  <a:pt x="933041" y="4004550"/>
                  <a:pt x="964225" y="4010107"/>
                </a:cubicBezTo>
                <a:cubicBezTo>
                  <a:pt x="969801" y="4009688"/>
                  <a:pt x="975129" y="4010636"/>
                  <a:pt x="980437" y="4011646"/>
                </a:cubicBezTo>
                <a:lnTo>
                  <a:pt x="980555" y="4012794"/>
                </a:lnTo>
                <a:cubicBezTo>
                  <a:pt x="1292634" y="4064450"/>
                  <a:pt x="1545864" y="4283539"/>
                  <a:pt x="1639226" y="4572001"/>
                </a:cubicBezTo>
                <a:lnTo>
                  <a:pt x="1501679" y="4572001"/>
                </a:lnTo>
                <a:cubicBezTo>
                  <a:pt x="1418296" y="4357380"/>
                  <a:pt x="1227927" y="4194541"/>
                  <a:pt x="993925" y="4144250"/>
                </a:cubicBezTo>
                <a:cubicBezTo>
                  <a:pt x="1028419" y="4319651"/>
                  <a:pt x="1130642" y="4471530"/>
                  <a:pt x="1273740" y="4572001"/>
                </a:cubicBezTo>
                <a:lnTo>
                  <a:pt x="1079499" y="4572001"/>
                </a:lnTo>
                <a:cubicBezTo>
                  <a:pt x="963367" y="4452596"/>
                  <a:pt x="884804" y="4298519"/>
                  <a:pt x="860439" y="4127511"/>
                </a:cubicBezTo>
                <a:cubicBezTo>
                  <a:pt x="860272" y="4127458"/>
                  <a:pt x="860103" y="4127453"/>
                  <a:pt x="859934" y="4127448"/>
                </a:cubicBezTo>
                <a:lnTo>
                  <a:pt x="859396" y="4120772"/>
                </a:lnTo>
                <a:cubicBezTo>
                  <a:pt x="854337" y="4090522"/>
                  <a:pt x="851886" y="4059631"/>
                  <a:pt x="851928" y="4028296"/>
                </a:cubicBezTo>
                <a:cubicBezTo>
                  <a:pt x="850616" y="4022668"/>
                  <a:pt x="850558" y="4017001"/>
                  <a:pt x="850558" y="4011320"/>
                </a:cubicBezTo>
                <a:lnTo>
                  <a:pt x="851152" y="3999880"/>
                </a:lnTo>
                <a:lnTo>
                  <a:pt x="851650" y="3999913"/>
                </a:lnTo>
                <a:close/>
                <a:moveTo>
                  <a:pt x="828925" y="3999419"/>
                </a:moveTo>
                <a:lnTo>
                  <a:pt x="828951" y="3999913"/>
                </a:lnTo>
                <a:lnTo>
                  <a:pt x="829449" y="3999880"/>
                </a:lnTo>
                <a:lnTo>
                  <a:pt x="830043" y="4011320"/>
                </a:lnTo>
                <a:cubicBezTo>
                  <a:pt x="830043" y="4017001"/>
                  <a:pt x="829984" y="4022668"/>
                  <a:pt x="828672" y="4028296"/>
                </a:cubicBezTo>
                <a:cubicBezTo>
                  <a:pt x="828714" y="4059631"/>
                  <a:pt x="826264" y="4090522"/>
                  <a:pt x="821205" y="4120772"/>
                </a:cubicBezTo>
                <a:lnTo>
                  <a:pt x="820667" y="4127448"/>
                </a:lnTo>
                <a:cubicBezTo>
                  <a:pt x="820497" y="4127453"/>
                  <a:pt x="820329" y="4127458"/>
                  <a:pt x="820161" y="4127511"/>
                </a:cubicBezTo>
                <a:cubicBezTo>
                  <a:pt x="795796" y="4298519"/>
                  <a:pt x="717234" y="4452596"/>
                  <a:pt x="601102" y="4572001"/>
                </a:cubicBezTo>
                <a:lnTo>
                  <a:pt x="406861" y="4572001"/>
                </a:lnTo>
                <a:cubicBezTo>
                  <a:pt x="549959" y="4471530"/>
                  <a:pt x="652182" y="4319650"/>
                  <a:pt x="686676" y="4144250"/>
                </a:cubicBezTo>
                <a:cubicBezTo>
                  <a:pt x="452674" y="4194541"/>
                  <a:pt x="262305" y="4357380"/>
                  <a:pt x="178922" y="4572001"/>
                </a:cubicBezTo>
                <a:lnTo>
                  <a:pt x="41374" y="4572001"/>
                </a:lnTo>
                <a:cubicBezTo>
                  <a:pt x="134738" y="4283539"/>
                  <a:pt x="387967" y="4064450"/>
                  <a:pt x="700046" y="4012794"/>
                </a:cubicBezTo>
                <a:lnTo>
                  <a:pt x="700163" y="4011646"/>
                </a:lnTo>
                <a:cubicBezTo>
                  <a:pt x="705472" y="4010636"/>
                  <a:pt x="710800" y="4009688"/>
                  <a:pt x="716376" y="4010107"/>
                </a:cubicBezTo>
                <a:cubicBezTo>
                  <a:pt x="747559" y="4004550"/>
                  <a:pt x="779452" y="4001569"/>
                  <a:pt x="811837" y="4001042"/>
                </a:cubicBezTo>
                <a:close/>
                <a:moveTo>
                  <a:pt x="8305836" y="3304913"/>
                </a:moveTo>
                <a:cubicBezTo>
                  <a:pt x="8030646" y="3363591"/>
                  <a:pt x="7815802" y="3576701"/>
                  <a:pt x="7762527" y="3845480"/>
                </a:cubicBezTo>
                <a:cubicBezTo>
                  <a:pt x="8037717" y="3786801"/>
                  <a:pt x="8252560" y="3573691"/>
                  <a:pt x="8305836" y="3304913"/>
                </a:cubicBezTo>
                <a:close/>
                <a:moveTo>
                  <a:pt x="6911971" y="3304913"/>
                </a:moveTo>
                <a:cubicBezTo>
                  <a:pt x="6965247" y="3573691"/>
                  <a:pt x="7180090" y="3786801"/>
                  <a:pt x="7455280" y="3845480"/>
                </a:cubicBezTo>
                <a:cubicBezTo>
                  <a:pt x="7402005" y="3576701"/>
                  <a:pt x="7187161" y="3363591"/>
                  <a:pt x="6911971" y="3304913"/>
                </a:cubicBezTo>
                <a:close/>
                <a:moveTo>
                  <a:pt x="6613685" y="3304913"/>
                </a:moveTo>
                <a:cubicBezTo>
                  <a:pt x="6338495" y="3363591"/>
                  <a:pt x="6123651" y="3576701"/>
                  <a:pt x="6070376" y="3845480"/>
                </a:cubicBezTo>
                <a:cubicBezTo>
                  <a:pt x="6345566" y="3786801"/>
                  <a:pt x="6560409" y="3573691"/>
                  <a:pt x="6613685" y="3304913"/>
                </a:cubicBezTo>
                <a:close/>
                <a:moveTo>
                  <a:pt x="5219820" y="3304913"/>
                </a:moveTo>
                <a:cubicBezTo>
                  <a:pt x="5273096" y="3573691"/>
                  <a:pt x="5487939" y="3786801"/>
                  <a:pt x="5763129" y="3845480"/>
                </a:cubicBezTo>
                <a:cubicBezTo>
                  <a:pt x="5709854" y="3576701"/>
                  <a:pt x="5495010" y="3363591"/>
                  <a:pt x="5219820" y="3304913"/>
                </a:cubicBezTo>
                <a:close/>
                <a:moveTo>
                  <a:pt x="4921534" y="3304913"/>
                </a:moveTo>
                <a:cubicBezTo>
                  <a:pt x="4646344" y="3363591"/>
                  <a:pt x="4431500" y="3576701"/>
                  <a:pt x="4378225" y="3845480"/>
                </a:cubicBezTo>
                <a:cubicBezTo>
                  <a:pt x="4653415" y="3786801"/>
                  <a:pt x="4868259" y="3573691"/>
                  <a:pt x="4921534" y="3304913"/>
                </a:cubicBezTo>
                <a:close/>
                <a:moveTo>
                  <a:pt x="3527669" y="3304913"/>
                </a:moveTo>
                <a:cubicBezTo>
                  <a:pt x="3580945" y="3573691"/>
                  <a:pt x="3795788" y="3786801"/>
                  <a:pt x="4070978" y="3845480"/>
                </a:cubicBezTo>
                <a:cubicBezTo>
                  <a:pt x="4017703" y="3576701"/>
                  <a:pt x="3802859" y="3363591"/>
                  <a:pt x="3527669" y="3304913"/>
                </a:cubicBezTo>
                <a:close/>
                <a:moveTo>
                  <a:pt x="3229383" y="3304913"/>
                </a:moveTo>
                <a:cubicBezTo>
                  <a:pt x="2954193" y="3363591"/>
                  <a:pt x="2739349" y="3576701"/>
                  <a:pt x="2686074" y="3845480"/>
                </a:cubicBezTo>
                <a:cubicBezTo>
                  <a:pt x="2961264" y="3786801"/>
                  <a:pt x="3176107" y="3573691"/>
                  <a:pt x="3229383" y="3304913"/>
                </a:cubicBezTo>
                <a:close/>
                <a:moveTo>
                  <a:pt x="1835518" y="3304913"/>
                </a:moveTo>
                <a:cubicBezTo>
                  <a:pt x="1888794" y="3573691"/>
                  <a:pt x="2103637" y="3786801"/>
                  <a:pt x="2378827" y="3845480"/>
                </a:cubicBezTo>
                <a:cubicBezTo>
                  <a:pt x="2325552" y="3576701"/>
                  <a:pt x="2110708" y="3363591"/>
                  <a:pt x="1835518" y="3304913"/>
                </a:cubicBezTo>
                <a:close/>
                <a:moveTo>
                  <a:pt x="1537232" y="3304913"/>
                </a:moveTo>
                <a:cubicBezTo>
                  <a:pt x="1262042" y="3363591"/>
                  <a:pt x="1047198" y="3576701"/>
                  <a:pt x="993923" y="3845480"/>
                </a:cubicBezTo>
                <a:cubicBezTo>
                  <a:pt x="1269113" y="3786801"/>
                  <a:pt x="1483956" y="3573691"/>
                  <a:pt x="1537232" y="3304913"/>
                </a:cubicBezTo>
                <a:close/>
                <a:moveTo>
                  <a:pt x="143367" y="3304913"/>
                </a:moveTo>
                <a:cubicBezTo>
                  <a:pt x="196643" y="3573691"/>
                  <a:pt x="411486" y="3786801"/>
                  <a:pt x="686676" y="3845480"/>
                </a:cubicBezTo>
                <a:cubicBezTo>
                  <a:pt x="633401" y="3576701"/>
                  <a:pt x="418557" y="3363591"/>
                  <a:pt x="143367" y="3304913"/>
                </a:cubicBezTo>
                <a:close/>
                <a:moveTo>
                  <a:pt x="8461873" y="3161219"/>
                </a:moveTo>
                <a:lnTo>
                  <a:pt x="8478960" y="3162829"/>
                </a:lnTo>
                <a:cubicBezTo>
                  <a:pt x="8511346" y="3163352"/>
                  <a:pt x="8543239" y="3166310"/>
                  <a:pt x="8574422" y="3171823"/>
                </a:cubicBezTo>
                <a:cubicBezTo>
                  <a:pt x="8579998" y="3171407"/>
                  <a:pt x="8585326" y="3172348"/>
                  <a:pt x="8590635" y="3173350"/>
                </a:cubicBezTo>
                <a:lnTo>
                  <a:pt x="8590752" y="3174489"/>
                </a:lnTo>
                <a:cubicBezTo>
                  <a:pt x="8815033" y="3211322"/>
                  <a:pt x="9008920" y="3333951"/>
                  <a:pt x="9135069" y="3506215"/>
                </a:cubicBezTo>
                <a:lnTo>
                  <a:pt x="9139239" y="3512974"/>
                </a:lnTo>
                <a:lnTo>
                  <a:pt x="9139239" y="3816134"/>
                </a:lnTo>
                <a:lnTo>
                  <a:pt x="9120077" y="3747490"/>
                </a:lnTo>
                <a:cubicBezTo>
                  <a:pt x="9039502" y="3525837"/>
                  <a:pt x="8844913" y="3356256"/>
                  <a:pt x="8604122" y="3304913"/>
                </a:cubicBezTo>
                <a:cubicBezTo>
                  <a:pt x="8650738" y="3540094"/>
                  <a:pt x="8821055" y="3732654"/>
                  <a:pt x="9047261" y="3816429"/>
                </a:cubicBezTo>
                <a:lnTo>
                  <a:pt x="9139239" y="3843104"/>
                </a:lnTo>
                <a:lnTo>
                  <a:pt x="9139239" y="3970603"/>
                </a:lnTo>
                <a:lnTo>
                  <a:pt x="9030179" y="3943797"/>
                </a:lnTo>
                <a:cubicBezTo>
                  <a:pt x="8735297" y="3846211"/>
                  <a:pt x="8514628" y="3594637"/>
                  <a:pt x="8470637" y="3288305"/>
                </a:cubicBezTo>
                <a:cubicBezTo>
                  <a:pt x="8470469" y="3288253"/>
                  <a:pt x="8470301" y="3288248"/>
                  <a:pt x="8470131" y="3288243"/>
                </a:cubicBezTo>
                <a:lnTo>
                  <a:pt x="8469593" y="3281619"/>
                </a:lnTo>
                <a:cubicBezTo>
                  <a:pt x="8464534" y="3251607"/>
                  <a:pt x="8462083" y="3220958"/>
                  <a:pt x="8462126" y="3189869"/>
                </a:cubicBezTo>
                <a:cubicBezTo>
                  <a:pt x="8460814" y="3184286"/>
                  <a:pt x="8460755" y="3178663"/>
                  <a:pt x="8460755" y="3173027"/>
                </a:cubicBezTo>
                <a:lnTo>
                  <a:pt x="8461349" y="3161677"/>
                </a:lnTo>
                <a:lnTo>
                  <a:pt x="8461847" y="3161709"/>
                </a:lnTo>
                <a:close/>
                <a:moveTo>
                  <a:pt x="8448085" y="3161219"/>
                </a:moveTo>
                <a:lnTo>
                  <a:pt x="8448111" y="3161709"/>
                </a:lnTo>
                <a:lnTo>
                  <a:pt x="8448609" y="3161677"/>
                </a:lnTo>
                <a:lnTo>
                  <a:pt x="8449203" y="3173027"/>
                </a:lnTo>
                <a:cubicBezTo>
                  <a:pt x="8449203" y="3178663"/>
                  <a:pt x="8449144" y="3184286"/>
                  <a:pt x="8447832" y="3189869"/>
                </a:cubicBezTo>
                <a:cubicBezTo>
                  <a:pt x="8447875" y="3220958"/>
                  <a:pt x="8445424" y="3251607"/>
                  <a:pt x="8440365" y="3281619"/>
                </a:cubicBezTo>
                <a:lnTo>
                  <a:pt x="8439827" y="3288243"/>
                </a:lnTo>
                <a:cubicBezTo>
                  <a:pt x="8439657" y="3288248"/>
                  <a:pt x="8439489" y="3288253"/>
                  <a:pt x="8439321" y="3288305"/>
                </a:cubicBezTo>
                <a:cubicBezTo>
                  <a:pt x="8389046" y="3638399"/>
                  <a:pt x="8108007" y="3916971"/>
                  <a:pt x="7749156" y="3975903"/>
                </a:cubicBezTo>
                <a:lnTo>
                  <a:pt x="7749040" y="3977042"/>
                </a:lnTo>
                <a:cubicBezTo>
                  <a:pt x="7743729" y="3978045"/>
                  <a:pt x="7738400" y="3978986"/>
                  <a:pt x="7732823" y="3978570"/>
                </a:cubicBezTo>
                <a:cubicBezTo>
                  <a:pt x="7701651" y="3984080"/>
                  <a:pt x="7669771" y="3987038"/>
                  <a:pt x="7637396" y="3987561"/>
                </a:cubicBezTo>
                <a:lnTo>
                  <a:pt x="7620278" y="3989174"/>
                </a:lnTo>
                <a:lnTo>
                  <a:pt x="7620252" y="3988683"/>
                </a:lnTo>
                <a:lnTo>
                  <a:pt x="7619753" y="3988716"/>
                </a:lnTo>
                <a:cubicBezTo>
                  <a:pt x="7619187" y="3984944"/>
                  <a:pt x="7619160" y="3981158"/>
                  <a:pt x="7619160" y="3977366"/>
                </a:cubicBezTo>
                <a:cubicBezTo>
                  <a:pt x="7619160" y="3971728"/>
                  <a:pt x="7619219" y="3966104"/>
                  <a:pt x="7620531" y="3960518"/>
                </a:cubicBezTo>
                <a:cubicBezTo>
                  <a:pt x="7620488" y="3929436"/>
                  <a:pt x="7622938" y="3898794"/>
                  <a:pt x="7627995" y="3868787"/>
                </a:cubicBezTo>
                <a:lnTo>
                  <a:pt x="7628535" y="3862150"/>
                </a:lnTo>
                <a:cubicBezTo>
                  <a:pt x="7628704" y="3862145"/>
                  <a:pt x="7628873" y="3862140"/>
                  <a:pt x="7629040" y="3862087"/>
                </a:cubicBezTo>
                <a:cubicBezTo>
                  <a:pt x="7679317" y="3511992"/>
                  <a:pt x="7960356" y="3233421"/>
                  <a:pt x="8319206" y="3174489"/>
                </a:cubicBezTo>
                <a:lnTo>
                  <a:pt x="8319323" y="3173350"/>
                </a:lnTo>
                <a:cubicBezTo>
                  <a:pt x="8324632" y="3172348"/>
                  <a:pt x="8329960" y="3171407"/>
                  <a:pt x="8335536" y="3171823"/>
                </a:cubicBezTo>
                <a:cubicBezTo>
                  <a:pt x="8366719" y="3166310"/>
                  <a:pt x="8398612" y="3163352"/>
                  <a:pt x="8430998" y="3162829"/>
                </a:cubicBezTo>
                <a:close/>
                <a:moveTo>
                  <a:pt x="6769722" y="3161219"/>
                </a:moveTo>
                <a:lnTo>
                  <a:pt x="6786810" y="3162829"/>
                </a:lnTo>
                <a:cubicBezTo>
                  <a:pt x="6819195" y="3163352"/>
                  <a:pt x="6851088" y="3166310"/>
                  <a:pt x="6882271" y="3171823"/>
                </a:cubicBezTo>
                <a:cubicBezTo>
                  <a:pt x="6887847" y="3171407"/>
                  <a:pt x="6893175" y="3172348"/>
                  <a:pt x="6898484" y="3173350"/>
                </a:cubicBezTo>
                <a:lnTo>
                  <a:pt x="6898601" y="3174489"/>
                </a:lnTo>
                <a:cubicBezTo>
                  <a:pt x="7257451" y="3233421"/>
                  <a:pt x="7538490" y="3511992"/>
                  <a:pt x="7588766" y="3862087"/>
                </a:cubicBezTo>
                <a:cubicBezTo>
                  <a:pt x="7588934" y="3862140"/>
                  <a:pt x="7589103" y="3862145"/>
                  <a:pt x="7589272" y="3862150"/>
                </a:cubicBezTo>
                <a:lnTo>
                  <a:pt x="7589812" y="3868787"/>
                </a:lnTo>
                <a:cubicBezTo>
                  <a:pt x="7594869" y="3898794"/>
                  <a:pt x="7597319" y="3929436"/>
                  <a:pt x="7597276" y="3960518"/>
                </a:cubicBezTo>
                <a:cubicBezTo>
                  <a:pt x="7598588" y="3966104"/>
                  <a:pt x="7598647" y="3971728"/>
                  <a:pt x="7598647" y="3977366"/>
                </a:cubicBezTo>
                <a:cubicBezTo>
                  <a:pt x="7598647" y="3981158"/>
                  <a:pt x="7598620" y="3984944"/>
                  <a:pt x="7598054" y="3988716"/>
                </a:cubicBezTo>
                <a:lnTo>
                  <a:pt x="7597555" y="3988683"/>
                </a:lnTo>
                <a:lnTo>
                  <a:pt x="7597529" y="3989174"/>
                </a:lnTo>
                <a:lnTo>
                  <a:pt x="7580411" y="3987561"/>
                </a:lnTo>
                <a:cubicBezTo>
                  <a:pt x="7548036" y="3987038"/>
                  <a:pt x="7516156" y="3984080"/>
                  <a:pt x="7484984" y="3978570"/>
                </a:cubicBezTo>
                <a:cubicBezTo>
                  <a:pt x="7479407" y="3978986"/>
                  <a:pt x="7474078" y="3978045"/>
                  <a:pt x="7468767" y="3977042"/>
                </a:cubicBezTo>
                <a:lnTo>
                  <a:pt x="7468651" y="3975903"/>
                </a:lnTo>
                <a:cubicBezTo>
                  <a:pt x="7109800" y="3916971"/>
                  <a:pt x="6828761" y="3638399"/>
                  <a:pt x="6778486" y="3288305"/>
                </a:cubicBezTo>
                <a:cubicBezTo>
                  <a:pt x="6778318" y="3288253"/>
                  <a:pt x="6778150" y="3288248"/>
                  <a:pt x="6777980" y="3288243"/>
                </a:cubicBezTo>
                <a:lnTo>
                  <a:pt x="6777442" y="3281619"/>
                </a:lnTo>
                <a:cubicBezTo>
                  <a:pt x="6772383" y="3251607"/>
                  <a:pt x="6769933" y="3220958"/>
                  <a:pt x="6769975" y="3189869"/>
                </a:cubicBezTo>
                <a:cubicBezTo>
                  <a:pt x="6768663" y="3184286"/>
                  <a:pt x="6768604" y="3178663"/>
                  <a:pt x="6768604" y="3173027"/>
                </a:cubicBezTo>
                <a:lnTo>
                  <a:pt x="6769198" y="3161677"/>
                </a:lnTo>
                <a:lnTo>
                  <a:pt x="6769696" y="3161709"/>
                </a:lnTo>
                <a:close/>
                <a:moveTo>
                  <a:pt x="6755934" y="3161219"/>
                </a:moveTo>
                <a:lnTo>
                  <a:pt x="6755960" y="3161709"/>
                </a:lnTo>
                <a:lnTo>
                  <a:pt x="6756458" y="3161677"/>
                </a:lnTo>
                <a:lnTo>
                  <a:pt x="6757052" y="3173027"/>
                </a:lnTo>
                <a:cubicBezTo>
                  <a:pt x="6757052" y="3178663"/>
                  <a:pt x="6756994" y="3184286"/>
                  <a:pt x="6755682" y="3189869"/>
                </a:cubicBezTo>
                <a:cubicBezTo>
                  <a:pt x="6755724" y="3220958"/>
                  <a:pt x="6753273" y="3251607"/>
                  <a:pt x="6748215" y="3281619"/>
                </a:cubicBezTo>
                <a:lnTo>
                  <a:pt x="6747676" y="3288243"/>
                </a:lnTo>
                <a:cubicBezTo>
                  <a:pt x="6747507" y="3288248"/>
                  <a:pt x="6747338" y="3288253"/>
                  <a:pt x="6747171" y="3288305"/>
                </a:cubicBezTo>
                <a:cubicBezTo>
                  <a:pt x="6696895" y="3638399"/>
                  <a:pt x="6415856" y="3916971"/>
                  <a:pt x="6057005" y="3975903"/>
                </a:cubicBezTo>
                <a:lnTo>
                  <a:pt x="6056889" y="3977042"/>
                </a:lnTo>
                <a:cubicBezTo>
                  <a:pt x="6051578" y="3978045"/>
                  <a:pt x="6046249" y="3978986"/>
                  <a:pt x="6040672" y="3978570"/>
                </a:cubicBezTo>
                <a:cubicBezTo>
                  <a:pt x="6009500" y="3984080"/>
                  <a:pt x="5977620" y="3987038"/>
                  <a:pt x="5945246" y="3987561"/>
                </a:cubicBezTo>
                <a:lnTo>
                  <a:pt x="5928127" y="3989174"/>
                </a:lnTo>
                <a:lnTo>
                  <a:pt x="5928101" y="3988683"/>
                </a:lnTo>
                <a:lnTo>
                  <a:pt x="5927602" y="3988716"/>
                </a:lnTo>
                <a:cubicBezTo>
                  <a:pt x="5927036" y="3984944"/>
                  <a:pt x="5927009" y="3981158"/>
                  <a:pt x="5927009" y="3977366"/>
                </a:cubicBezTo>
                <a:cubicBezTo>
                  <a:pt x="5927009" y="3971728"/>
                  <a:pt x="5927068" y="3966104"/>
                  <a:pt x="5928380" y="3960518"/>
                </a:cubicBezTo>
                <a:cubicBezTo>
                  <a:pt x="5928338" y="3929436"/>
                  <a:pt x="5930787" y="3898794"/>
                  <a:pt x="5935844" y="3868787"/>
                </a:cubicBezTo>
                <a:lnTo>
                  <a:pt x="5936384" y="3862150"/>
                </a:lnTo>
                <a:cubicBezTo>
                  <a:pt x="5936553" y="3862145"/>
                  <a:pt x="5936722" y="3862140"/>
                  <a:pt x="5936890" y="3862087"/>
                </a:cubicBezTo>
                <a:cubicBezTo>
                  <a:pt x="5987166" y="3511992"/>
                  <a:pt x="6268205" y="3233421"/>
                  <a:pt x="6627056" y="3174489"/>
                </a:cubicBezTo>
                <a:lnTo>
                  <a:pt x="6627173" y="3173350"/>
                </a:lnTo>
                <a:cubicBezTo>
                  <a:pt x="6632481" y="3172348"/>
                  <a:pt x="6637809" y="3171407"/>
                  <a:pt x="6643385" y="3171823"/>
                </a:cubicBezTo>
                <a:cubicBezTo>
                  <a:pt x="6674569" y="3166310"/>
                  <a:pt x="6706461" y="3163352"/>
                  <a:pt x="6738847" y="3162829"/>
                </a:cubicBezTo>
                <a:close/>
                <a:moveTo>
                  <a:pt x="5077571" y="3161219"/>
                </a:moveTo>
                <a:lnTo>
                  <a:pt x="5094659" y="3162829"/>
                </a:lnTo>
                <a:cubicBezTo>
                  <a:pt x="5127044" y="3163352"/>
                  <a:pt x="5158937" y="3166310"/>
                  <a:pt x="5190120" y="3171823"/>
                </a:cubicBezTo>
                <a:cubicBezTo>
                  <a:pt x="5195696" y="3171407"/>
                  <a:pt x="5201024" y="3172348"/>
                  <a:pt x="5206334" y="3173350"/>
                </a:cubicBezTo>
                <a:lnTo>
                  <a:pt x="5206450" y="3174489"/>
                </a:lnTo>
                <a:cubicBezTo>
                  <a:pt x="5565300" y="3233421"/>
                  <a:pt x="5846339" y="3511992"/>
                  <a:pt x="5896616" y="3862087"/>
                </a:cubicBezTo>
                <a:cubicBezTo>
                  <a:pt x="5896783" y="3862140"/>
                  <a:pt x="5896953" y="3862145"/>
                  <a:pt x="5897121" y="3862150"/>
                </a:cubicBezTo>
                <a:lnTo>
                  <a:pt x="5897662" y="3868787"/>
                </a:lnTo>
                <a:cubicBezTo>
                  <a:pt x="5902718" y="3898794"/>
                  <a:pt x="5905168" y="3929436"/>
                  <a:pt x="5905126" y="3960518"/>
                </a:cubicBezTo>
                <a:cubicBezTo>
                  <a:pt x="5906438" y="3966104"/>
                  <a:pt x="5906496" y="3971728"/>
                  <a:pt x="5906496" y="3977366"/>
                </a:cubicBezTo>
                <a:cubicBezTo>
                  <a:pt x="5906496" y="3981158"/>
                  <a:pt x="5906469" y="3984944"/>
                  <a:pt x="5905903" y="3988716"/>
                </a:cubicBezTo>
                <a:lnTo>
                  <a:pt x="5905404" y="3988683"/>
                </a:lnTo>
                <a:lnTo>
                  <a:pt x="5905378" y="3989174"/>
                </a:lnTo>
                <a:lnTo>
                  <a:pt x="5888260" y="3987561"/>
                </a:lnTo>
                <a:cubicBezTo>
                  <a:pt x="5855886" y="3987038"/>
                  <a:pt x="5824005" y="3984080"/>
                  <a:pt x="5792833" y="3978570"/>
                </a:cubicBezTo>
                <a:cubicBezTo>
                  <a:pt x="5787256" y="3978986"/>
                  <a:pt x="5781927" y="3978045"/>
                  <a:pt x="5776617" y="3977042"/>
                </a:cubicBezTo>
                <a:lnTo>
                  <a:pt x="5776501" y="3975903"/>
                </a:lnTo>
                <a:cubicBezTo>
                  <a:pt x="5417649" y="3916971"/>
                  <a:pt x="5136610" y="3638399"/>
                  <a:pt x="5086335" y="3288305"/>
                </a:cubicBezTo>
                <a:cubicBezTo>
                  <a:pt x="5086167" y="3288253"/>
                  <a:pt x="5085999" y="3288248"/>
                  <a:pt x="5085830" y="3288243"/>
                </a:cubicBezTo>
                <a:lnTo>
                  <a:pt x="5085291" y="3281619"/>
                </a:lnTo>
                <a:cubicBezTo>
                  <a:pt x="5080233" y="3251607"/>
                  <a:pt x="5077782" y="3220958"/>
                  <a:pt x="5077824" y="3189869"/>
                </a:cubicBezTo>
                <a:cubicBezTo>
                  <a:pt x="5076512" y="3184286"/>
                  <a:pt x="5076453" y="3178663"/>
                  <a:pt x="5076453" y="3173027"/>
                </a:cubicBezTo>
                <a:lnTo>
                  <a:pt x="5077047" y="3161677"/>
                </a:lnTo>
                <a:lnTo>
                  <a:pt x="5077545" y="3161709"/>
                </a:lnTo>
                <a:close/>
                <a:moveTo>
                  <a:pt x="5063783" y="3161219"/>
                </a:moveTo>
                <a:lnTo>
                  <a:pt x="5063809" y="3161709"/>
                </a:lnTo>
                <a:lnTo>
                  <a:pt x="5064307" y="3161677"/>
                </a:lnTo>
                <a:lnTo>
                  <a:pt x="5064902" y="3173027"/>
                </a:lnTo>
                <a:cubicBezTo>
                  <a:pt x="5064902" y="3178663"/>
                  <a:pt x="5064842" y="3184286"/>
                  <a:pt x="5063530" y="3189869"/>
                </a:cubicBezTo>
                <a:cubicBezTo>
                  <a:pt x="5063572" y="3220958"/>
                  <a:pt x="5061122" y="3251607"/>
                  <a:pt x="5056063" y="3281619"/>
                </a:cubicBezTo>
                <a:lnTo>
                  <a:pt x="5055525" y="3288243"/>
                </a:lnTo>
                <a:cubicBezTo>
                  <a:pt x="5055355" y="3288248"/>
                  <a:pt x="5055187" y="3288253"/>
                  <a:pt x="5055019" y="3288305"/>
                </a:cubicBezTo>
                <a:cubicBezTo>
                  <a:pt x="5004744" y="3638399"/>
                  <a:pt x="4723705" y="3916971"/>
                  <a:pt x="4364853" y="3975903"/>
                </a:cubicBezTo>
                <a:lnTo>
                  <a:pt x="4364737" y="3977042"/>
                </a:lnTo>
                <a:cubicBezTo>
                  <a:pt x="4359427" y="3978045"/>
                  <a:pt x="4354098" y="3978986"/>
                  <a:pt x="4348521" y="3978570"/>
                </a:cubicBezTo>
                <a:cubicBezTo>
                  <a:pt x="4317350" y="3984080"/>
                  <a:pt x="4285468" y="3987038"/>
                  <a:pt x="4253094" y="3987561"/>
                </a:cubicBezTo>
                <a:lnTo>
                  <a:pt x="4235976" y="3989174"/>
                </a:lnTo>
                <a:lnTo>
                  <a:pt x="4235950" y="3988683"/>
                </a:lnTo>
                <a:lnTo>
                  <a:pt x="4235451" y="3988716"/>
                </a:lnTo>
                <a:cubicBezTo>
                  <a:pt x="4234885" y="3984944"/>
                  <a:pt x="4234858" y="3981158"/>
                  <a:pt x="4234858" y="3977366"/>
                </a:cubicBezTo>
                <a:cubicBezTo>
                  <a:pt x="4234858" y="3971728"/>
                  <a:pt x="4234916" y="3966104"/>
                  <a:pt x="4236228" y="3960518"/>
                </a:cubicBezTo>
                <a:cubicBezTo>
                  <a:pt x="4236186" y="3929436"/>
                  <a:pt x="4238636" y="3898794"/>
                  <a:pt x="4243692" y="3868787"/>
                </a:cubicBezTo>
                <a:lnTo>
                  <a:pt x="4244233" y="3862150"/>
                </a:lnTo>
                <a:cubicBezTo>
                  <a:pt x="4244401" y="3862145"/>
                  <a:pt x="4244571" y="3862140"/>
                  <a:pt x="4244738" y="3862087"/>
                </a:cubicBezTo>
                <a:cubicBezTo>
                  <a:pt x="4295015" y="3511992"/>
                  <a:pt x="4576054" y="3233421"/>
                  <a:pt x="4934904" y="3174489"/>
                </a:cubicBezTo>
                <a:lnTo>
                  <a:pt x="4935021" y="3173350"/>
                </a:lnTo>
                <a:cubicBezTo>
                  <a:pt x="4940330" y="3172348"/>
                  <a:pt x="4945658" y="3171407"/>
                  <a:pt x="4951234" y="3171823"/>
                </a:cubicBezTo>
                <a:cubicBezTo>
                  <a:pt x="4982417" y="3166310"/>
                  <a:pt x="5014310" y="3163352"/>
                  <a:pt x="5046695" y="3162829"/>
                </a:cubicBezTo>
                <a:close/>
                <a:moveTo>
                  <a:pt x="3385420" y="3161219"/>
                </a:moveTo>
                <a:lnTo>
                  <a:pt x="3402507" y="3162829"/>
                </a:lnTo>
                <a:cubicBezTo>
                  <a:pt x="3434893" y="3163352"/>
                  <a:pt x="3466785" y="3166310"/>
                  <a:pt x="3497969" y="3171823"/>
                </a:cubicBezTo>
                <a:cubicBezTo>
                  <a:pt x="3503545" y="3171407"/>
                  <a:pt x="3508873" y="3172348"/>
                  <a:pt x="3514181" y="3173350"/>
                </a:cubicBezTo>
                <a:lnTo>
                  <a:pt x="3514298" y="3174489"/>
                </a:lnTo>
                <a:cubicBezTo>
                  <a:pt x="3873149" y="3233421"/>
                  <a:pt x="4154188" y="3511992"/>
                  <a:pt x="4204464" y="3862087"/>
                </a:cubicBezTo>
                <a:cubicBezTo>
                  <a:pt x="4204632" y="3862140"/>
                  <a:pt x="4204801" y="3862145"/>
                  <a:pt x="4204970" y="3862150"/>
                </a:cubicBezTo>
                <a:lnTo>
                  <a:pt x="4205510" y="3868787"/>
                </a:lnTo>
                <a:cubicBezTo>
                  <a:pt x="4210567" y="3898794"/>
                  <a:pt x="4213016" y="3929436"/>
                  <a:pt x="4212974" y="3960518"/>
                </a:cubicBezTo>
                <a:cubicBezTo>
                  <a:pt x="4214286" y="3966104"/>
                  <a:pt x="4214345" y="3971728"/>
                  <a:pt x="4214345" y="3977366"/>
                </a:cubicBezTo>
                <a:cubicBezTo>
                  <a:pt x="4214345" y="3981158"/>
                  <a:pt x="4214318" y="3984944"/>
                  <a:pt x="4213752" y="3988716"/>
                </a:cubicBezTo>
                <a:lnTo>
                  <a:pt x="4213253" y="3988683"/>
                </a:lnTo>
                <a:lnTo>
                  <a:pt x="4213227" y="3989174"/>
                </a:lnTo>
                <a:lnTo>
                  <a:pt x="4196108" y="3987561"/>
                </a:lnTo>
                <a:cubicBezTo>
                  <a:pt x="4163734" y="3987038"/>
                  <a:pt x="4131854" y="3984080"/>
                  <a:pt x="4100682" y="3978570"/>
                </a:cubicBezTo>
                <a:cubicBezTo>
                  <a:pt x="4095105" y="3978986"/>
                  <a:pt x="4089776" y="3978045"/>
                  <a:pt x="4084465" y="3977042"/>
                </a:cubicBezTo>
                <a:lnTo>
                  <a:pt x="4084349" y="3975903"/>
                </a:lnTo>
                <a:cubicBezTo>
                  <a:pt x="3725498" y="3916971"/>
                  <a:pt x="3444459" y="3638399"/>
                  <a:pt x="3394183" y="3288305"/>
                </a:cubicBezTo>
                <a:cubicBezTo>
                  <a:pt x="3394016" y="3288253"/>
                  <a:pt x="3393847" y="3288248"/>
                  <a:pt x="3393678" y="3288243"/>
                </a:cubicBezTo>
                <a:lnTo>
                  <a:pt x="3393139" y="3281619"/>
                </a:lnTo>
                <a:cubicBezTo>
                  <a:pt x="3388081" y="3251607"/>
                  <a:pt x="3385630" y="3220958"/>
                  <a:pt x="3385672" y="3189869"/>
                </a:cubicBezTo>
                <a:cubicBezTo>
                  <a:pt x="3384360" y="3184286"/>
                  <a:pt x="3384302" y="3178663"/>
                  <a:pt x="3384302" y="3173027"/>
                </a:cubicBezTo>
                <a:lnTo>
                  <a:pt x="3384896" y="3161677"/>
                </a:lnTo>
                <a:lnTo>
                  <a:pt x="3385394" y="3161709"/>
                </a:lnTo>
                <a:close/>
                <a:moveTo>
                  <a:pt x="3371632" y="3161219"/>
                </a:moveTo>
                <a:lnTo>
                  <a:pt x="3371658" y="3161709"/>
                </a:lnTo>
                <a:lnTo>
                  <a:pt x="3372156" y="3161677"/>
                </a:lnTo>
                <a:lnTo>
                  <a:pt x="3372750" y="3173027"/>
                </a:lnTo>
                <a:cubicBezTo>
                  <a:pt x="3372750" y="3178663"/>
                  <a:pt x="3372691" y="3184286"/>
                  <a:pt x="3371379" y="3189869"/>
                </a:cubicBezTo>
                <a:cubicBezTo>
                  <a:pt x="3371421" y="3220958"/>
                  <a:pt x="3368971" y="3251607"/>
                  <a:pt x="3363912" y="3281619"/>
                </a:cubicBezTo>
                <a:lnTo>
                  <a:pt x="3363374" y="3288243"/>
                </a:lnTo>
                <a:cubicBezTo>
                  <a:pt x="3363204" y="3288248"/>
                  <a:pt x="3363036" y="3288253"/>
                  <a:pt x="3362868" y="3288305"/>
                </a:cubicBezTo>
                <a:cubicBezTo>
                  <a:pt x="3312593" y="3638399"/>
                  <a:pt x="3031554" y="3916971"/>
                  <a:pt x="2672703" y="3975903"/>
                </a:cubicBezTo>
                <a:lnTo>
                  <a:pt x="2672586" y="3977042"/>
                </a:lnTo>
                <a:cubicBezTo>
                  <a:pt x="2667276" y="3978045"/>
                  <a:pt x="2661947" y="3978986"/>
                  <a:pt x="2656370" y="3978570"/>
                </a:cubicBezTo>
                <a:cubicBezTo>
                  <a:pt x="2625198" y="3984080"/>
                  <a:pt x="2593318" y="3987038"/>
                  <a:pt x="2560943" y="3987561"/>
                </a:cubicBezTo>
                <a:lnTo>
                  <a:pt x="2543825" y="3989174"/>
                </a:lnTo>
                <a:lnTo>
                  <a:pt x="2543799" y="3988683"/>
                </a:lnTo>
                <a:lnTo>
                  <a:pt x="2543300" y="3988716"/>
                </a:lnTo>
                <a:cubicBezTo>
                  <a:pt x="2542734" y="3984944"/>
                  <a:pt x="2542707" y="3981158"/>
                  <a:pt x="2542707" y="3977366"/>
                </a:cubicBezTo>
                <a:cubicBezTo>
                  <a:pt x="2542707" y="3971728"/>
                  <a:pt x="2542765" y="3966104"/>
                  <a:pt x="2544077" y="3960518"/>
                </a:cubicBezTo>
                <a:cubicBezTo>
                  <a:pt x="2544035" y="3929436"/>
                  <a:pt x="2546485" y="3898794"/>
                  <a:pt x="2551541" y="3868787"/>
                </a:cubicBezTo>
                <a:lnTo>
                  <a:pt x="2552082" y="3862150"/>
                </a:lnTo>
                <a:cubicBezTo>
                  <a:pt x="2552250" y="3862145"/>
                  <a:pt x="2552420" y="3862140"/>
                  <a:pt x="2552587" y="3862087"/>
                </a:cubicBezTo>
                <a:cubicBezTo>
                  <a:pt x="2602864" y="3511992"/>
                  <a:pt x="2883903" y="3233421"/>
                  <a:pt x="3242753" y="3174489"/>
                </a:cubicBezTo>
                <a:lnTo>
                  <a:pt x="3242870" y="3173350"/>
                </a:lnTo>
                <a:cubicBezTo>
                  <a:pt x="3248179" y="3172348"/>
                  <a:pt x="3253507" y="3171407"/>
                  <a:pt x="3259083" y="3171823"/>
                </a:cubicBezTo>
                <a:cubicBezTo>
                  <a:pt x="3290266" y="3166310"/>
                  <a:pt x="3322159" y="3163352"/>
                  <a:pt x="3354544" y="3162829"/>
                </a:cubicBezTo>
                <a:close/>
                <a:moveTo>
                  <a:pt x="1693269" y="3161219"/>
                </a:moveTo>
                <a:lnTo>
                  <a:pt x="1710356" y="3162829"/>
                </a:lnTo>
                <a:cubicBezTo>
                  <a:pt x="1742742" y="3163352"/>
                  <a:pt x="1774634" y="3166310"/>
                  <a:pt x="1805818" y="3171823"/>
                </a:cubicBezTo>
                <a:cubicBezTo>
                  <a:pt x="1811394" y="3171407"/>
                  <a:pt x="1816722" y="3172348"/>
                  <a:pt x="1822030" y="3173350"/>
                </a:cubicBezTo>
                <a:lnTo>
                  <a:pt x="1822148" y="3174489"/>
                </a:lnTo>
                <a:cubicBezTo>
                  <a:pt x="2180998" y="3233421"/>
                  <a:pt x="2462037" y="3511992"/>
                  <a:pt x="2512313" y="3862087"/>
                </a:cubicBezTo>
                <a:cubicBezTo>
                  <a:pt x="2512481" y="3862140"/>
                  <a:pt x="2512650" y="3862145"/>
                  <a:pt x="2512819" y="3862150"/>
                </a:cubicBezTo>
                <a:lnTo>
                  <a:pt x="2513359" y="3868787"/>
                </a:lnTo>
                <a:cubicBezTo>
                  <a:pt x="2518416" y="3898794"/>
                  <a:pt x="2520865" y="3929436"/>
                  <a:pt x="2520823" y="3960518"/>
                </a:cubicBezTo>
                <a:cubicBezTo>
                  <a:pt x="2522135" y="3966104"/>
                  <a:pt x="2522194" y="3971728"/>
                  <a:pt x="2522194" y="3977366"/>
                </a:cubicBezTo>
                <a:cubicBezTo>
                  <a:pt x="2522194" y="3981158"/>
                  <a:pt x="2522167" y="3984944"/>
                  <a:pt x="2521601" y="3988716"/>
                </a:cubicBezTo>
                <a:lnTo>
                  <a:pt x="2521102" y="3988683"/>
                </a:lnTo>
                <a:lnTo>
                  <a:pt x="2521076" y="3989174"/>
                </a:lnTo>
                <a:lnTo>
                  <a:pt x="2503957" y="3987561"/>
                </a:lnTo>
                <a:cubicBezTo>
                  <a:pt x="2471583" y="3987038"/>
                  <a:pt x="2439703" y="3984080"/>
                  <a:pt x="2408531" y="3978570"/>
                </a:cubicBezTo>
                <a:cubicBezTo>
                  <a:pt x="2402954" y="3978986"/>
                  <a:pt x="2397625" y="3978045"/>
                  <a:pt x="2392314" y="3977042"/>
                </a:cubicBezTo>
                <a:lnTo>
                  <a:pt x="2392198" y="3975903"/>
                </a:lnTo>
                <a:cubicBezTo>
                  <a:pt x="2033347" y="3916971"/>
                  <a:pt x="1752308" y="3638399"/>
                  <a:pt x="1702032" y="3288305"/>
                </a:cubicBezTo>
                <a:cubicBezTo>
                  <a:pt x="1701865" y="3288253"/>
                  <a:pt x="1701696" y="3288248"/>
                  <a:pt x="1701527" y="3288243"/>
                </a:cubicBezTo>
                <a:lnTo>
                  <a:pt x="1700989" y="3281619"/>
                </a:lnTo>
                <a:cubicBezTo>
                  <a:pt x="1695930" y="3251607"/>
                  <a:pt x="1693479" y="3220958"/>
                  <a:pt x="1693521" y="3189869"/>
                </a:cubicBezTo>
                <a:cubicBezTo>
                  <a:pt x="1692209" y="3184286"/>
                  <a:pt x="1692151" y="3178663"/>
                  <a:pt x="1692151" y="3173027"/>
                </a:cubicBezTo>
                <a:lnTo>
                  <a:pt x="1692745" y="3161677"/>
                </a:lnTo>
                <a:lnTo>
                  <a:pt x="1693243" y="3161709"/>
                </a:lnTo>
                <a:close/>
                <a:moveTo>
                  <a:pt x="1679481" y="3161219"/>
                </a:moveTo>
                <a:lnTo>
                  <a:pt x="1679507" y="3161709"/>
                </a:lnTo>
                <a:lnTo>
                  <a:pt x="1680005" y="3161677"/>
                </a:lnTo>
                <a:lnTo>
                  <a:pt x="1680599" y="3173027"/>
                </a:lnTo>
                <a:cubicBezTo>
                  <a:pt x="1680599" y="3178663"/>
                  <a:pt x="1680540" y="3184286"/>
                  <a:pt x="1679228" y="3189869"/>
                </a:cubicBezTo>
                <a:cubicBezTo>
                  <a:pt x="1679270" y="3220958"/>
                  <a:pt x="1676820" y="3251607"/>
                  <a:pt x="1671761" y="3281619"/>
                </a:cubicBezTo>
                <a:lnTo>
                  <a:pt x="1671223" y="3288243"/>
                </a:lnTo>
                <a:cubicBezTo>
                  <a:pt x="1671053" y="3288248"/>
                  <a:pt x="1670885" y="3288253"/>
                  <a:pt x="1670717" y="3288305"/>
                </a:cubicBezTo>
                <a:cubicBezTo>
                  <a:pt x="1620442" y="3638399"/>
                  <a:pt x="1339403" y="3916971"/>
                  <a:pt x="980552" y="3975903"/>
                </a:cubicBezTo>
                <a:lnTo>
                  <a:pt x="980435" y="3977042"/>
                </a:lnTo>
                <a:cubicBezTo>
                  <a:pt x="975125" y="3978045"/>
                  <a:pt x="969796" y="3978986"/>
                  <a:pt x="964219" y="3978570"/>
                </a:cubicBezTo>
                <a:cubicBezTo>
                  <a:pt x="933047" y="3984080"/>
                  <a:pt x="901167" y="3987038"/>
                  <a:pt x="868792" y="3987561"/>
                </a:cubicBezTo>
                <a:lnTo>
                  <a:pt x="851674" y="3989174"/>
                </a:lnTo>
                <a:lnTo>
                  <a:pt x="851648" y="3988683"/>
                </a:lnTo>
                <a:lnTo>
                  <a:pt x="851149" y="3988716"/>
                </a:lnTo>
                <a:cubicBezTo>
                  <a:pt x="850583" y="3984944"/>
                  <a:pt x="850556" y="3981158"/>
                  <a:pt x="850556" y="3977366"/>
                </a:cubicBezTo>
                <a:cubicBezTo>
                  <a:pt x="850556" y="3971728"/>
                  <a:pt x="850614" y="3966104"/>
                  <a:pt x="851926" y="3960518"/>
                </a:cubicBezTo>
                <a:cubicBezTo>
                  <a:pt x="851884" y="3929436"/>
                  <a:pt x="854334" y="3898794"/>
                  <a:pt x="859390" y="3868787"/>
                </a:cubicBezTo>
                <a:lnTo>
                  <a:pt x="859931" y="3862150"/>
                </a:lnTo>
                <a:cubicBezTo>
                  <a:pt x="860099" y="3862145"/>
                  <a:pt x="860269" y="3862140"/>
                  <a:pt x="860436" y="3862087"/>
                </a:cubicBezTo>
                <a:cubicBezTo>
                  <a:pt x="910713" y="3511992"/>
                  <a:pt x="1191752" y="3233421"/>
                  <a:pt x="1550602" y="3174489"/>
                </a:cubicBezTo>
                <a:lnTo>
                  <a:pt x="1550719" y="3173350"/>
                </a:lnTo>
                <a:cubicBezTo>
                  <a:pt x="1556028" y="3172348"/>
                  <a:pt x="1561356" y="3171407"/>
                  <a:pt x="1566932" y="3171823"/>
                </a:cubicBezTo>
                <a:cubicBezTo>
                  <a:pt x="1598115" y="3166310"/>
                  <a:pt x="1630008" y="3163352"/>
                  <a:pt x="1662393" y="3162829"/>
                </a:cubicBezTo>
                <a:close/>
                <a:moveTo>
                  <a:pt x="1118" y="3161219"/>
                </a:moveTo>
                <a:lnTo>
                  <a:pt x="18205" y="3162829"/>
                </a:lnTo>
                <a:cubicBezTo>
                  <a:pt x="50591" y="3163352"/>
                  <a:pt x="82483" y="3166310"/>
                  <a:pt x="113667" y="3171823"/>
                </a:cubicBezTo>
                <a:cubicBezTo>
                  <a:pt x="119243" y="3171407"/>
                  <a:pt x="124571" y="3172348"/>
                  <a:pt x="129879" y="3173350"/>
                </a:cubicBezTo>
                <a:lnTo>
                  <a:pt x="129997" y="3174489"/>
                </a:lnTo>
                <a:cubicBezTo>
                  <a:pt x="488847" y="3233421"/>
                  <a:pt x="769886" y="3511992"/>
                  <a:pt x="820162" y="3862087"/>
                </a:cubicBezTo>
                <a:cubicBezTo>
                  <a:pt x="820330" y="3862140"/>
                  <a:pt x="820499" y="3862145"/>
                  <a:pt x="820668" y="3862150"/>
                </a:cubicBezTo>
                <a:lnTo>
                  <a:pt x="821208" y="3868787"/>
                </a:lnTo>
                <a:cubicBezTo>
                  <a:pt x="826265" y="3898794"/>
                  <a:pt x="828714" y="3929436"/>
                  <a:pt x="828672" y="3960518"/>
                </a:cubicBezTo>
                <a:cubicBezTo>
                  <a:pt x="829984" y="3966104"/>
                  <a:pt x="830043" y="3971728"/>
                  <a:pt x="830043" y="3977366"/>
                </a:cubicBezTo>
                <a:cubicBezTo>
                  <a:pt x="830043" y="3981158"/>
                  <a:pt x="830016" y="3984944"/>
                  <a:pt x="829450" y="3988716"/>
                </a:cubicBezTo>
                <a:lnTo>
                  <a:pt x="828951" y="3988683"/>
                </a:lnTo>
                <a:lnTo>
                  <a:pt x="828925" y="3989174"/>
                </a:lnTo>
                <a:lnTo>
                  <a:pt x="811806" y="3987561"/>
                </a:lnTo>
                <a:cubicBezTo>
                  <a:pt x="779432" y="3987038"/>
                  <a:pt x="747552" y="3984080"/>
                  <a:pt x="716380" y="3978570"/>
                </a:cubicBezTo>
                <a:cubicBezTo>
                  <a:pt x="710803" y="3978986"/>
                  <a:pt x="705474" y="3978045"/>
                  <a:pt x="700163" y="3977042"/>
                </a:cubicBezTo>
                <a:lnTo>
                  <a:pt x="700047" y="3975903"/>
                </a:lnTo>
                <a:cubicBezTo>
                  <a:pt x="341196" y="3916971"/>
                  <a:pt x="60157" y="3638399"/>
                  <a:pt x="9881" y="3288305"/>
                </a:cubicBezTo>
                <a:cubicBezTo>
                  <a:pt x="9714" y="3288253"/>
                  <a:pt x="9545" y="3288248"/>
                  <a:pt x="9376" y="3288243"/>
                </a:cubicBezTo>
                <a:lnTo>
                  <a:pt x="8837" y="3281619"/>
                </a:lnTo>
                <a:cubicBezTo>
                  <a:pt x="3779" y="3251607"/>
                  <a:pt x="1328" y="3220958"/>
                  <a:pt x="1370" y="3189869"/>
                </a:cubicBezTo>
                <a:cubicBezTo>
                  <a:pt x="58" y="3184286"/>
                  <a:pt x="0" y="3178663"/>
                  <a:pt x="0" y="3173027"/>
                </a:cubicBezTo>
                <a:lnTo>
                  <a:pt x="594" y="3161677"/>
                </a:lnTo>
                <a:lnTo>
                  <a:pt x="1092" y="3161709"/>
                </a:lnTo>
                <a:close/>
                <a:moveTo>
                  <a:pt x="7762529" y="2447425"/>
                </a:moveTo>
                <a:cubicBezTo>
                  <a:pt x="7815805" y="2718331"/>
                  <a:pt x="8030648" y="2933128"/>
                  <a:pt x="8305838" y="2992271"/>
                </a:cubicBezTo>
                <a:cubicBezTo>
                  <a:pt x="8252563" y="2721365"/>
                  <a:pt x="8037719" y="2506568"/>
                  <a:pt x="7762529" y="2447425"/>
                </a:cubicBezTo>
                <a:close/>
                <a:moveTo>
                  <a:pt x="7455280" y="2447425"/>
                </a:moveTo>
                <a:cubicBezTo>
                  <a:pt x="7180090" y="2506568"/>
                  <a:pt x="6965246" y="2721365"/>
                  <a:pt x="6911971" y="2992271"/>
                </a:cubicBezTo>
                <a:cubicBezTo>
                  <a:pt x="7187161" y="2933128"/>
                  <a:pt x="7402004" y="2718331"/>
                  <a:pt x="7455280" y="2447425"/>
                </a:cubicBezTo>
                <a:close/>
                <a:moveTo>
                  <a:pt x="6070378" y="2447425"/>
                </a:moveTo>
                <a:cubicBezTo>
                  <a:pt x="6123654" y="2718331"/>
                  <a:pt x="6338497" y="2933128"/>
                  <a:pt x="6613687" y="2992271"/>
                </a:cubicBezTo>
                <a:cubicBezTo>
                  <a:pt x="6560412" y="2721365"/>
                  <a:pt x="6345568" y="2506568"/>
                  <a:pt x="6070378" y="2447425"/>
                </a:cubicBezTo>
                <a:close/>
                <a:moveTo>
                  <a:pt x="5763129" y="2447425"/>
                </a:moveTo>
                <a:cubicBezTo>
                  <a:pt x="5487939" y="2506568"/>
                  <a:pt x="5273095" y="2721365"/>
                  <a:pt x="5219820" y="2992271"/>
                </a:cubicBezTo>
                <a:cubicBezTo>
                  <a:pt x="5495010" y="2933128"/>
                  <a:pt x="5709853" y="2718331"/>
                  <a:pt x="5763129" y="2447425"/>
                </a:cubicBezTo>
                <a:close/>
                <a:moveTo>
                  <a:pt x="4378227" y="2447425"/>
                </a:moveTo>
                <a:cubicBezTo>
                  <a:pt x="4431503" y="2718331"/>
                  <a:pt x="4646346" y="2933128"/>
                  <a:pt x="4921536" y="2992271"/>
                </a:cubicBezTo>
                <a:cubicBezTo>
                  <a:pt x="4868261" y="2721365"/>
                  <a:pt x="4653417" y="2506568"/>
                  <a:pt x="4378227" y="2447425"/>
                </a:cubicBezTo>
                <a:close/>
                <a:moveTo>
                  <a:pt x="4070978" y="2447425"/>
                </a:moveTo>
                <a:cubicBezTo>
                  <a:pt x="3795788" y="2506568"/>
                  <a:pt x="3580944" y="2721365"/>
                  <a:pt x="3527669" y="2992271"/>
                </a:cubicBezTo>
                <a:cubicBezTo>
                  <a:pt x="3802859" y="2933128"/>
                  <a:pt x="4017702" y="2718331"/>
                  <a:pt x="4070978" y="2447425"/>
                </a:cubicBezTo>
                <a:close/>
                <a:moveTo>
                  <a:pt x="2686076" y="2447425"/>
                </a:moveTo>
                <a:cubicBezTo>
                  <a:pt x="2739352" y="2718331"/>
                  <a:pt x="2954195" y="2933128"/>
                  <a:pt x="3229385" y="2992271"/>
                </a:cubicBezTo>
                <a:cubicBezTo>
                  <a:pt x="3176110" y="2721365"/>
                  <a:pt x="2961266" y="2506568"/>
                  <a:pt x="2686076" y="2447425"/>
                </a:cubicBezTo>
                <a:close/>
                <a:moveTo>
                  <a:pt x="2378827" y="2447425"/>
                </a:moveTo>
                <a:cubicBezTo>
                  <a:pt x="2103637" y="2506568"/>
                  <a:pt x="1888793" y="2721365"/>
                  <a:pt x="1835518" y="2992271"/>
                </a:cubicBezTo>
                <a:cubicBezTo>
                  <a:pt x="2110708" y="2933128"/>
                  <a:pt x="2325551" y="2718331"/>
                  <a:pt x="2378827" y="2447425"/>
                </a:cubicBezTo>
                <a:close/>
                <a:moveTo>
                  <a:pt x="993925" y="2447425"/>
                </a:moveTo>
                <a:cubicBezTo>
                  <a:pt x="1047201" y="2718331"/>
                  <a:pt x="1262044" y="2933128"/>
                  <a:pt x="1537234" y="2992271"/>
                </a:cubicBezTo>
                <a:cubicBezTo>
                  <a:pt x="1483959" y="2721365"/>
                  <a:pt x="1269115" y="2506568"/>
                  <a:pt x="993925" y="2447425"/>
                </a:cubicBezTo>
                <a:close/>
                <a:moveTo>
                  <a:pt x="686676" y="2447425"/>
                </a:moveTo>
                <a:cubicBezTo>
                  <a:pt x="411486" y="2506568"/>
                  <a:pt x="196642" y="2721365"/>
                  <a:pt x="143367" y="2992271"/>
                </a:cubicBezTo>
                <a:cubicBezTo>
                  <a:pt x="418557" y="2933128"/>
                  <a:pt x="633400" y="2718331"/>
                  <a:pt x="686676" y="2447425"/>
                </a:cubicBezTo>
                <a:close/>
                <a:moveTo>
                  <a:pt x="9139239" y="2321311"/>
                </a:moveTo>
                <a:lnTo>
                  <a:pt x="9139239" y="2449820"/>
                </a:lnTo>
                <a:lnTo>
                  <a:pt x="9047261" y="2476706"/>
                </a:lnTo>
                <a:cubicBezTo>
                  <a:pt x="8821055" y="2561144"/>
                  <a:pt x="8650738" y="2755228"/>
                  <a:pt x="8604122" y="2992271"/>
                </a:cubicBezTo>
                <a:cubicBezTo>
                  <a:pt x="8844913" y="2940521"/>
                  <a:pt x="9039501" y="2769598"/>
                  <a:pt x="9120077" y="2546190"/>
                </a:cubicBezTo>
                <a:lnTo>
                  <a:pt x="9139239" y="2477003"/>
                </a:lnTo>
                <a:lnTo>
                  <a:pt x="9139239" y="2782562"/>
                </a:lnTo>
                <a:lnTo>
                  <a:pt x="9135069" y="2789374"/>
                </a:lnTo>
                <a:cubicBezTo>
                  <a:pt x="9008919" y="2963003"/>
                  <a:pt x="8815033" y="3086603"/>
                  <a:pt x="8590751" y="3123727"/>
                </a:cubicBezTo>
                <a:lnTo>
                  <a:pt x="8590635" y="3124875"/>
                </a:lnTo>
                <a:cubicBezTo>
                  <a:pt x="8585324" y="3125886"/>
                  <a:pt x="8579995" y="3126834"/>
                  <a:pt x="8574418" y="3126415"/>
                </a:cubicBezTo>
                <a:cubicBezTo>
                  <a:pt x="8543246" y="3131969"/>
                  <a:pt x="8511366" y="3134950"/>
                  <a:pt x="8478991" y="3135477"/>
                </a:cubicBezTo>
                <a:lnTo>
                  <a:pt x="8461873" y="3137103"/>
                </a:lnTo>
                <a:lnTo>
                  <a:pt x="8461847" y="3136608"/>
                </a:lnTo>
                <a:lnTo>
                  <a:pt x="8461348" y="3136641"/>
                </a:lnTo>
                <a:cubicBezTo>
                  <a:pt x="8460782" y="3132839"/>
                  <a:pt x="8460755" y="3129023"/>
                  <a:pt x="8460755" y="3125201"/>
                </a:cubicBezTo>
                <a:cubicBezTo>
                  <a:pt x="8460755" y="3119519"/>
                  <a:pt x="8460814" y="3113850"/>
                  <a:pt x="8462126" y="3108220"/>
                </a:cubicBezTo>
                <a:cubicBezTo>
                  <a:pt x="8462083" y="3076892"/>
                  <a:pt x="8464533" y="3046007"/>
                  <a:pt x="8469590" y="3015763"/>
                </a:cubicBezTo>
                <a:lnTo>
                  <a:pt x="8470130" y="3009073"/>
                </a:lnTo>
                <a:cubicBezTo>
                  <a:pt x="8470299" y="3009068"/>
                  <a:pt x="8470468" y="3009063"/>
                  <a:pt x="8470636" y="3009010"/>
                </a:cubicBezTo>
                <a:cubicBezTo>
                  <a:pt x="8514628" y="2700252"/>
                  <a:pt x="8735297" y="2446688"/>
                  <a:pt x="9030178" y="2348329"/>
                </a:cubicBezTo>
                <a:close/>
                <a:moveTo>
                  <a:pt x="7620280" y="2302594"/>
                </a:moveTo>
                <a:lnTo>
                  <a:pt x="7637367" y="2304217"/>
                </a:lnTo>
                <a:cubicBezTo>
                  <a:pt x="7669753" y="2304744"/>
                  <a:pt x="7701646" y="2307725"/>
                  <a:pt x="7732829" y="2313282"/>
                </a:cubicBezTo>
                <a:cubicBezTo>
                  <a:pt x="7738405" y="2312863"/>
                  <a:pt x="7743733" y="2313811"/>
                  <a:pt x="7749042" y="2314821"/>
                </a:cubicBezTo>
                <a:lnTo>
                  <a:pt x="7749159" y="2315969"/>
                </a:lnTo>
                <a:cubicBezTo>
                  <a:pt x="8108009" y="2375367"/>
                  <a:pt x="8389048" y="2656144"/>
                  <a:pt x="8439324" y="3009010"/>
                </a:cubicBezTo>
                <a:cubicBezTo>
                  <a:pt x="8439492" y="3009063"/>
                  <a:pt x="8439661" y="3009068"/>
                  <a:pt x="8439830" y="3009073"/>
                </a:cubicBezTo>
                <a:lnTo>
                  <a:pt x="8440370" y="3015763"/>
                </a:lnTo>
                <a:cubicBezTo>
                  <a:pt x="8445427" y="3046007"/>
                  <a:pt x="8447877" y="3076892"/>
                  <a:pt x="8447834" y="3108220"/>
                </a:cubicBezTo>
                <a:cubicBezTo>
                  <a:pt x="8449146" y="3113850"/>
                  <a:pt x="8449205" y="3119519"/>
                  <a:pt x="8449205" y="3125201"/>
                </a:cubicBezTo>
                <a:cubicBezTo>
                  <a:pt x="8449205" y="3129023"/>
                  <a:pt x="8449178" y="3132839"/>
                  <a:pt x="8448612" y="3136641"/>
                </a:cubicBezTo>
                <a:lnTo>
                  <a:pt x="8448113" y="3136608"/>
                </a:lnTo>
                <a:lnTo>
                  <a:pt x="8448087" y="3137103"/>
                </a:lnTo>
                <a:lnTo>
                  <a:pt x="8430969" y="3135477"/>
                </a:lnTo>
                <a:cubicBezTo>
                  <a:pt x="8398594" y="3134950"/>
                  <a:pt x="8366714" y="3131969"/>
                  <a:pt x="8335542" y="3126415"/>
                </a:cubicBezTo>
                <a:cubicBezTo>
                  <a:pt x="8329965" y="3126834"/>
                  <a:pt x="8324636" y="3125886"/>
                  <a:pt x="8319325" y="3124875"/>
                </a:cubicBezTo>
                <a:lnTo>
                  <a:pt x="8319209" y="3123727"/>
                </a:lnTo>
                <a:cubicBezTo>
                  <a:pt x="7960358" y="3064328"/>
                  <a:pt x="7679319" y="2783551"/>
                  <a:pt x="7629044" y="2430686"/>
                </a:cubicBezTo>
                <a:cubicBezTo>
                  <a:pt x="7628876" y="2430633"/>
                  <a:pt x="7628708" y="2430628"/>
                  <a:pt x="7628538" y="2430623"/>
                </a:cubicBezTo>
                <a:lnTo>
                  <a:pt x="7628000" y="2423947"/>
                </a:lnTo>
                <a:cubicBezTo>
                  <a:pt x="7622941" y="2393697"/>
                  <a:pt x="7620490" y="2362806"/>
                  <a:pt x="7620533" y="2331471"/>
                </a:cubicBezTo>
                <a:cubicBezTo>
                  <a:pt x="7619221" y="2325843"/>
                  <a:pt x="7619162" y="2320176"/>
                  <a:pt x="7619162" y="2314495"/>
                </a:cubicBezTo>
                <a:lnTo>
                  <a:pt x="7619756" y="2303055"/>
                </a:lnTo>
                <a:lnTo>
                  <a:pt x="7620254" y="2303088"/>
                </a:lnTo>
                <a:close/>
                <a:moveTo>
                  <a:pt x="7597529" y="2302594"/>
                </a:moveTo>
                <a:lnTo>
                  <a:pt x="7597555" y="2303088"/>
                </a:lnTo>
                <a:lnTo>
                  <a:pt x="7598053" y="2303055"/>
                </a:lnTo>
                <a:lnTo>
                  <a:pt x="7598647" y="2314495"/>
                </a:lnTo>
                <a:cubicBezTo>
                  <a:pt x="7598647" y="2320176"/>
                  <a:pt x="7598588" y="2325843"/>
                  <a:pt x="7597276" y="2331471"/>
                </a:cubicBezTo>
                <a:cubicBezTo>
                  <a:pt x="7597319" y="2362806"/>
                  <a:pt x="7594868" y="2393697"/>
                  <a:pt x="7589809" y="2423947"/>
                </a:cubicBezTo>
                <a:lnTo>
                  <a:pt x="7589271" y="2430623"/>
                </a:lnTo>
                <a:cubicBezTo>
                  <a:pt x="7589101" y="2430628"/>
                  <a:pt x="7588933" y="2430633"/>
                  <a:pt x="7588765" y="2430686"/>
                </a:cubicBezTo>
                <a:cubicBezTo>
                  <a:pt x="7538490" y="2783551"/>
                  <a:pt x="7257451" y="3064328"/>
                  <a:pt x="6898600" y="3123727"/>
                </a:cubicBezTo>
                <a:lnTo>
                  <a:pt x="6898484" y="3124875"/>
                </a:lnTo>
                <a:cubicBezTo>
                  <a:pt x="6893173" y="3125886"/>
                  <a:pt x="6887844" y="3126834"/>
                  <a:pt x="6882267" y="3126415"/>
                </a:cubicBezTo>
                <a:cubicBezTo>
                  <a:pt x="6851095" y="3131969"/>
                  <a:pt x="6819215" y="3134950"/>
                  <a:pt x="6786841" y="3135477"/>
                </a:cubicBezTo>
                <a:lnTo>
                  <a:pt x="6769722" y="3137103"/>
                </a:lnTo>
                <a:lnTo>
                  <a:pt x="6769696" y="3136608"/>
                </a:lnTo>
                <a:lnTo>
                  <a:pt x="6769197" y="3136641"/>
                </a:lnTo>
                <a:cubicBezTo>
                  <a:pt x="6768631" y="3132839"/>
                  <a:pt x="6768604" y="3129023"/>
                  <a:pt x="6768604" y="3125201"/>
                </a:cubicBezTo>
                <a:cubicBezTo>
                  <a:pt x="6768604" y="3119519"/>
                  <a:pt x="6768663" y="3113850"/>
                  <a:pt x="6769975" y="3108220"/>
                </a:cubicBezTo>
                <a:cubicBezTo>
                  <a:pt x="6769933" y="3076892"/>
                  <a:pt x="6772382" y="3046007"/>
                  <a:pt x="6777439" y="3015763"/>
                </a:cubicBezTo>
                <a:lnTo>
                  <a:pt x="6777979" y="3009073"/>
                </a:lnTo>
                <a:cubicBezTo>
                  <a:pt x="6778148" y="3009068"/>
                  <a:pt x="6778317" y="3009063"/>
                  <a:pt x="6778485" y="3009010"/>
                </a:cubicBezTo>
                <a:cubicBezTo>
                  <a:pt x="6828761" y="2656144"/>
                  <a:pt x="7109800" y="2375367"/>
                  <a:pt x="7468650" y="2315969"/>
                </a:cubicBezTo>
                <a:lnTo>
                  <a:pt x="7468767" y="2314821"/>
                </a:lnTo>
                <a:cubicBezTo>
                  <a:pt x="7474076" y="2313811"/>
                  <a:pt x="7479404" y="2312863"/>
                  <a:pt x="7484980" y="2313282"/>
                </a:cubicBezTo>
                <a:cubicBezTo>
                  <a:pt x="7516163" y="2307725"/>
                  <a:pt x="7548056" y="2304744"/>
                  <a:pt x="7580442" y="2304217"/>
                </a:cubicBezTo>
                <a:close/>
                <a:moveTo>
                  <a:pt x="5928129" y="2302594"/>
                </a:moveTo>
                <a:lnTo>
                  <a:pt x="5945217" y="2304217"/>
                </a:lnTo>
                <a:cubicBezTo>
                  <a:pt x="5977602" y="2304744"/>
                  <a:pt x="6009495" y="2307725"/>
                  <a:pt x="6040678" y="2313282"/>
                </a:cubicBezTo>
                <a:cubicBezTo>
                  <a:pt x="6046254" y="2312863"/>
                  <a:pt x="6051582" y="2313811"/>
                  <a:pt x="6056891" y="2314821"/>
                </a:cubicBezTo>
                <a:lnTo>
                  <a:pt x="6057008" y="2315969"/>
                </a:lnTo>
                <a:cubicBezTo>
                  <a:pt x="6415858" y="2375367"/>
                  <a:pt x="6696897" y="2656144"/>
                  <a:pt x="6747174" y="3009010"/>
                </a:cubicBezTo>
                <a:cubicBezTo>
                  <a:pt x="6747341" y="3009063"/>
                  <a:pt x="6747511" y="3009068"/>
                  <a:pt x="6747679" y="3009073"/>
                </a:cubicBezTo>
                <a:lnTo>
                  <a:pt x="6748220" y="3015763"/>
                </a:lnTo>
                <a:cubicBezTo>
                  <a:pt x="6753276" y="3046007"/>
                  <a:pt x="6755726" y="3076892"/>
                  <a:pt x="6755684" y="3108220"/>
                </a:cubicBezTo>
                <a:cubicBezTo>
                  <a:pt x="6756996" y="3113850"/>
                  <a:pt x="6757054" y="3119519"/>
                  <a:pt x="6757054" y="3125201"/>
                </a:cubicBezTo>
                <a:cubicBezTo>
                  <a:pt x="6757054" y="3129023"/>
                  <a:pt x="6757027" y="3132839"/>
                  <a:pt x="6756461" y="3136641"/>
                </a:cubicBezTo>
                <a:lnTo>
                  <a:pt x="6755962" y="3136608"/>
                </a:lnTo>
                <a:lnTo>
                  <a:pt x="6755936" y="3137103"/>
                </a:lnTo>
                <a:lnTo>
                  <a:pt x="6738818" y="3135477"/>
                </a:lnTo>
                <a:cubicBezTo>
                  <a:pt x="6706444" y="3134950"/>
                  <a:pt x="6674563" y="3131969"/>
                  <a:pt x="6643391" y="3126415"/>
                </a:cubicBezTo>
                <a:cubicBezTo>
                  <a:pt x="6637814" y="3126834"/>
                  <a:pt x="6632485" y="3125886"/>
                  <a:pt x="6627175" y="3124875"/>
                </a:cubicBezTo>
                <a:lnTo>
                  <a:pt x="6627059" y="3123727"/>
                </a:lnTo>
                <a:cubicBezTo>
                  <a:pt x="6268207" y="3064328"/>
                  <a:pt x="5987168" y="2783551"/>
                  <a:pt x="5936893" y="2430686"/>
                </a:cubicBezTo>
                <a:cubicBezTo>
                  <a:pt x="5936725" y="2430633"/>
                  <a:pt x="5936557" y="2430628"/>
                  <a:pt x="5936387" y="2430623"/>
                </a:cubicBezTo>
                <a:lnTo>
                  <a:pt x="5935849" y="2423947"/>
                </a:lnTo>
                <a:cubicBezTo>
                  <a:pt x="5930790" y="2393697"/>
                  <a:pt x="5928340" y="2362806"/>
                  <a:pt x="5928382" y="2331471"/>
                </a:cubicBezTo>
                <a:cubicBezTo>
                  <a:pt x="5927070" y="2325843"/>
                  <a:pt x="5927011" y="2320176"/>
                  <a:pt x="5927011" y="2314495"/>
                </a:cubicBezTo>
                <a:lnTo>
                  <a:pt x="5927605" y="2303055"/>
                </a:lnTo>
                <a:lnTo>
                  <a:pt x="5928103" y="2303088"/>
                </a:lnTo>
                <a:close/>
                <a:moveTo>
                  <a:pt x="5905378" y="2302594"/>
                </a:moveTo>
                <a:lnTo>
                  <a:pt x="5905404" y="2303088"/>
                </a:lnTo>
                <a:lnTo>
                  <a:pt x="5905902" y="2303055"/>
                </a:lnTo>
                <a:lnTo>
                  <a:pt x="5906496" y="2314495"/>
                </a:lnTo>
                <a:cubicBezTo>
                  <a:pt x="5906496" y="2320176"/>
                  <a:pt x="5906438" y="2325843"/>
                  <a:pt x="5905126" y="2331471"/>
                </a:cubicBezTo>
                <a:cubicBezTo>
                  <a:pt x="5905168" y="2362806"/>
                  <a:pt x="5902717" y="2393697"/>
                  <a:pt x="5897659" y="2423947"/>
                </a:cubicBezTo>
                <a:lnTo>
                  <a:pt x="5897120" y="2430623"/>
                </a:lnTo>
                <a:cubicBezTo>
                  <a:pt x="5896951" y="2430628"/>
                  <a:pt x="5896782" y="2430633"/>
                  <a:pt x="5896615" y="2430686"/>
                </a:cubicBezTo>
                <a:cubicBezTo>
                  <a:pt x="5846339" y="2783551"/>
                  <a:pt x="5565300" y="3064328"/>
                  <a:pt x="5206449" y="3123727"/>
                </a:cubicBezTo>
                <a:lnTo>
                  <a:pt x="5206334" y="3124875"/>
                </a:lnTo>
                <a:cubicBezTo>
                  <a:pt x="5201022" y="3125886"/>
                  <a:pt x="5195693" y="3126834"/>
                  <a:pt x="5190116" y="3126415"/>
                </a:cubicBezTo>
                <a:cubicBezTo>
                  <a:pt x="5158944" y="3131969"/>
                  <a:pt x="5127065" y="3134950"/>
                  <a:pt x="5094690" y="3135477"/>
                </a:cubicBezTo>
                <a:lnTo>
                  <a:pt x="5077571" y="3137103"/>
                </a:lnTo>
                <a:lnTo>
                  <a:pt x="5077545" y="3136608"/>
                </a:lnTo>
                <a:lnTo>
                  <a:pt x="5077046" y="3136641"/>
                </a:lnTo>
                <a:cubicBezTo>
                  <a:pt x="5076480" y="3132839"/>
                  <a:pt x="5076453" y="3129023"/>
                  <a:pt x="5076453" y="3125201"/>
                </a:cubicBezTo>
                <a:cubicBezTo>
                  <a:pt x="5076453" y="3119519"/>
                  <a:pt x="5076512" y="3113850"/>
                  <a:pt x="5077824" y="3108220"/>
                </a:cubicBezTo>
                <a:cubicBezTo>
                  <a:pt x="5077782" y="3076892"/>
                  <a:pt x="5080231" y="3046007"/>
                  <a:pt x="5085288" y="3015763"/>
                </a:cubicBezTo>
                <a:lnTo>
                  <a:pt x="5085828" y="3009073"/>
                </a:lnTo>
                <a:cubicBezTo>
                  <a:pt x="5085997" y="3009068"/>
                  <a:pt x="5086166" y="3009063"/>
                  <a:pt x="5086334" y="3009010"/>
                </a:cubicBezTo>
                <a:cubicBezTo>
                  <a:pt x="5136610" y="2656144"/>
                  <a:pt x="5417649" y="2375367"/>
                  <a:pt x="5776501" y="2315969"/>
                </a:cubicBezTo>
                <a:lnTo>
                  <a:pt x="5776617" y="2314821"/>
                </a:lnTo>
                <a:cubicBezTo>
                  <a:pt x="5781926" y="2313811"/>
                  <a:pt x="5787253" y="2312863"/>
                  <a:pt x="5792829" y="2313282"/>
                </a:cubicBezTo>
                <a:cubicBezTo>
                  <a:pt x="5824013" y="2307725"/>
                  <a:pt x="5855905" y="2304744"/>
                  <a:pt x="5888291" y="2304217"/>
                </a:cubicBezTo>
                <a:close/>
                <a:moveTo>
                  <a:pt x="4235979" y="2302594"/>
                </a:moveTo>
                <a:lnTo>
                  <a:pt x="4253065" y="2304217"/>
                </a:lnTo>
                <a:cubicBezTo>
                  <a:pt x="4285451" y="2304744"/>
                  <a:pt x="4317343" y="2307725"/>
                  <a:pt x="4348528" y="2313282"/>
                </a:cubicBezTo>
                <a:cubicBezTo>
                  <a:pt x="4354104" y="2312863"/>
                  <a:pt x="4359431" y="2313811"/>
                  <a:pt x="4364739" y="2314821"/>
                </a:cubicBezTo>
                <a:lnTo>
                  <a:pt x="4364856" y="2315969"/>
                </a:lnTo>
                <a:cubicBezTo>
                  <a:pt x="4723707" y="2375367"/>
                  <a:pt x="5004746" y="2656144"/>
                  <a:pt x="5055022" y="3009010"/>
                </a:cubicBezTo>
                <a:cubicBezTo>
                  <a:pt x="5055190" y="3009063"/>
                  <a:pt x="5055359" y="3009068"/>
                  <a:pt x="5055528" y="3009073"/>
                </a:cubicBezTo>
                <a:lnTo>
                  <a:pt x="5056068" y="3015763"/>
                </a:lnTo>
                <a:cubicBezTo>
                  <a:pt x="5061125" y="3046007"/>
                  <a:pt x="5063574" y="3076892"/>
                  <a:pt x="5063532" y="3108220"/>
                </a:cubicBezTo>
                <a:cubicBezTo>
                  <a:pt x="5064844" y="3113850"/>
                  <a:pt x="5064903" y="3119519"/>
                  <a:pt x="5064903" y="3125201"/>
                </a:cubicBezTo>
                <a:cubicBezTo>
                  <a:pt x="5064903" y="3129023"/>
                  <a:pt x="5064876" y="3132839"/>
                  <a:pt x="5064310" y="3136641"/>
                </a:cubicBezTo>
                <a:lnTo>
                  <a:pt x="5063811" y="3136608"/>
                </a:lnTo>
                <a:lnTo>
                  <a:pt x="5063785" y="3137103"/>
                </a:lnTo>
                <a:lnTo>
                  <a:pt x="5046666" y="3135477"/>
                </a:lnTo>
                <a:cubicBezTo>
                  <a:pt x="5014292" y="3134950"/>
                  <a:pt x="4982412" y="3131969"/>
                  <a:pt x="4951241" y="3126415"/>
                </a:cubicBezTo>
                <a:cubicBezTo>
                  <a:pt x="4945663" y="3126834"/>
                  <a:pt x="4940334" y="3125886"/>
                  <a:pt x="4935023" y="3124875"/>
                </a:cubicBezTo>
                <a:lnTo>
                  <a:pt x="4934907" y="3123727"/>
                </a:lnTo>
                <a:cubicBezTo>
                  <a:pt x="4576056" y="3064328"/>
                  <a:pt x="4295017" y="2783551"/>
                  <a:pt x="4244741" y="2430686"/>
                </a:cubicBezTo>
                <a:cubicBezTo>
                  <a:pt x="4244574" y="2430633"/>
                  <a:pt x="4244405" y="2430628"/>
                  <a:pt x="4244236" y="2430623"/>
                </a:cubicBezTo>
                <a:lnTo>
                  <a:pt x="4243697" y="2423947"/>
                </a:lnTo>
                <a:cubicBezTo>
                  <a:pt x="4238639" y="2393697"/>
                  <a:pt x="4236188" y="2362806"/>
                  <a:pt x="4236230" y="2331471"/>
                </a:cubicBezTo>
                <a:cubicBezTo>
                  <a:pt x="4234918" y="2325843"/>
                  <a:pt x="4234860" y="2320176"/>
                  <a:pt x="4234860" y="2314495"/>
                </a:cubicBezTo>
                <a:lnTo>
                  <a:pt x="4235454" y="2303055"/>
                </a:lnTo>
                <a:lnTo>
                  <a:pt x="4235952" y="2303088"/>
                </a:lnTo>
                <a:close/>
                <a:moveTo>
                  <a:pt x="4213227" y="2302594"/>
                </a:moveTo>
                <a:lnTo>
                  <a:pt x="4213253" y="2303088"/>
                </a:lnTo>
                <a:lnTo>
                  <a:pt x="4213751" y="2303055"/>
                </a:lnTo>
                <a:lnTo>
                  <a:pt x="4214345" y="2314495"/>
                </a:lnTo>
                <a:cubicBezTo>
                  <a:pt x="4214345" y="2320176"/>
                  <a:pt x="4214286" y="2325843"/>
                  <a:pt x="4212974" y="2331471"/>
                </a:cubicBezTo>
                <a:cubicBezTo>
                  <a:pt x="4213016" y="2362806"/>
                  <a:pt x="4210566" y="2393697"/>
                  <a:pt x="4205507" y="2423947"/>
                </a:cubicBezTo>
                <a:lnTo>
                  <a:pt x="4204969" y="2430623"/>
                </a:lnTo>
                <a:cubicBezTo>
                  <a:pt x="4204799" y="2430628"/>
                  <a:pt x="4204631" y="2430633"/>
                  <a:pt x="4204463" y="2430686"/>
                </a:cubicBezTo>
                <a:cubicBezTo>
                  <a:pt x="4154188" y="2783551"/>
                  <a:pt x="3873149" y="3064328"/>
                  <a:pt x="3514297" y="3123727"/>
                </a:cubicBezTo>
                <a:lnTo>
                  <a:pt x="3514181" y="3124875"/>
                </a:lnTo>
                <a:cubicBezTo>
                  <a:pt x="3508871" y="3125886"/>
                  <a:pt x="3503542" y="3126834"/>
                  <a:pt x="3497965" y="3126415"/>
                </a:cubicBezTo>
                <a:cubicBezTo>
                  <a:pt x="3466793" y="3131969"/>
                  <a:pt x="3434912" y="3134950"/>
                  <a:pt x="3402538" y="3135477"/>
                </a:cubicBezTo>
                <a:lnTo>
                  <a:pt x="3385420" y="3137103"/>
                </a:lnTo>
                <a:lnTo>
                  <a:pt x="3385394" y="3136608"/>
                </a:lnTo>
                <a:lnTo>
                  <a:pt x="3384895" y="3136641"/>
                </a:lnTo>
                <a:cubicBezTo>
                  <a:pt x="3384329" y="3132839"/>
                  <a:pt x="3384302" y="3129023"/>
                  <a:pt x="3384302" y="3125201"/>
                </a:cubicBezTo>
                <a:cubicBezTo>
                  <a:pt x="3384302" y="3119519"/>
                  <a:pt x="3384360" y="3113850"/>
                  <a:pt x="3385672" y="3108220"/>
                </a:cubicBezTo>
                <a:cubicBezTo>
                  <a:pt x="3385630" y="3076892"/>
                  <a:pt x="3388080" y="3046007"/>
                  <a:pt x="3393136" y="3015763"/>
                </a:cubicBezTo>
                <a:lnTo>
                  <a:pt x="3393677" y="3009073"/>
                </a:lnTo>
                <a:cubicBezTo>
                  <a:pt x="3393845" y="3009068"/>
                  <a:pt x="3394015" y="3009063"/>
                  <a:pt x="3394182" y="3009010"/>
                </a:cubicBezTo>
                <a:cubicBezTo>
                  <a:pt x="3444459" y="2656144"/>
                  <a:pt x="3725498" y="2375367"/>
                  <a:pt x="4084348" y="2315969"/>
                </a:cubicBezTo>
                <a:lnTo>
                  <a:pt x="4084465" y="2314821"/>
                </a:lnTo>
                <a:cubicBezTo>
                  <a:pt x="4089774" y="2313811"/>
                  <a:pt x="4095102" y="2312863"/>
                  <a:pt x="4100678" y="2313282"/>
                </a:cubicBezTo>
                <a:cubicBezTo>
                  <a:pt x="4131861" y="2307725"/>
                  <a:pt x="4163754" y="2304744"/>
                  <a:pt x="4196139" y="2304217"/>
                </a:cubicBezTo>
                <a:close/>
                <a:moveTo>
                  <a:pt x="2543827" y="2302594"/>
                </a:moveTo>
                <a:lnTo>
                  <a:pt x="2560914" y="2304217"/>
                </a:lnTo>
                <a:cubicBezTo>
                  <a:pt x="2593300" y="2304744"/>
                  <a:pt x="2625192" y="2307725"/>
                  <a:pt x="2656376" y="2313282"/>
                </a:cubicBezTo>
                <a:cubicBezTo>
                  <a:pt x="2661952" y="2312863"/>
                  <a:pt x="2667280" y="2313811"/>
                  <a:pt x="2672588" y="2314821"/>
                </a:cubicBezTo>
                <a:lnTo>
                  <a:pt x="2672706" y="2315969"/>
                </a:lnTo>
                <a:cubicBezTo>
                  <a:pt x="3031556" y="2375367"/>
                  <a:pt x="3312595" y="2656144"/>
                  <a:pt x="3362871" y="3009010"/>
                </a:cubicBezTo>
                <a:cubicBezTo>
                  <a:pt x="3363039" y="3009063"/>
                  <a:pt x="3363208" y="3009068"/>
                  <a:pt x="3363377" y="3009073"/>
                </a:cubicBezTo>
                <a:lnTo>
                  <a:pt x="3363917" y="3015763"/>
                </a:lnTo>
                <a:cubicBezTo>
                  <a:pt x="3368974" y="3046007"/>
                  <a:pt x="3371423" y="3076892"/>
                  <a:pt x="3371381" y="3108220"/>
                </a:cubicBezTo>
                <a:cubicBezTo>
                  <a:pt x="3372693" y="3113850"/>
                  <a:pt x="3372752" y="3119519"/>
                  <a:pt x="3372752" y="3125201"/>
                </a:cubicBezTo>
                <a:cubicBezTo>
                  <a:pt x="3372752" y="3129023"/>
                  <a:pt x="3372725" y="3132839"/>
                  <a:pt x="3372159" y="3136641"/>
                </a:cubicBezTo>
                <a:lnTo>
                  <a:pt x="3371660" y="3136608"/>
                </a:lnTo>
                <a:lnTo>
                  <a:pt x="3371634" y="3137103"/>
                </a:lnTo>
                <a:lnTo>
                  <a:pt x="3354515" y="3135477"/>
                </a:lnTo>
                <a:cubicBezTo>
                  <a:pt x="3322141" y="3134950"/>
                  <a:pt x="3290261" y="3131969"/>
                  <a:pt x="3259089" y="3126415"/>
                </a:cubicBezTo>
                <a:cubicBezTo>
                  <a:pt x="3253512" y="3126834"/>
                  <a:pt x="3248183" y="3125886"/>
                  <a:pt x="3242872" y="3124875"/>
                </a:cubicBezTo>
                <a:lnTo>
                  <a:pt x="3242756" y="3123727"/>
                </a:lnTo>
                <a:cubicBezTo>
                  <a:pt x="2883905" y="3064328"/>
                  <a:pt x="2602866" y="2783551"/>
                  <a:pt x="2552590" y="2430686"/>
                </a:cubicBezTo>
                <a:cubicBezTo>
                  <a:pt x="2552423" y="2430633"/>
                  <a:pt x="2552254" y="2430628"/>
                  <a:pt x="2552085" y="2430623"/>
                </a:cubicBezTo>
                <a:lnTo>
                  <a:pt x="2551547" y="2423947"/>
                </a:lnTo>
                <a:cubicBezTo>
                  <a:pt x="2546488" y="2393697"/>
                  <a:pt x="2544037" y="2362806"/>
                  <a:pt x="2544079" y="2331471"/>
                </a:cubicBezTo>
                <a:cubicBezTo>
                  <a:pt x="2542767" y="2325843"/>
                  <a:pt x="2542709" y="2320176"/>
                  <a:pt x="2542709" y="2314495"/>
                </a:cubicBezTo>
                <a:lnTo>
                  <a:pt x="2543303" y="2303055"/>
                </a:lnTo>
                <a:lnTo>
                  <a:pt x="2543801" y="2303088"/>
                </a:lnTo>
                <a:close/>
                <a:moveTo>
                  <a:pt x="2521076" y="2302594"/>
                </a:moveTo>
                <a:lnTo>
                  <a:pt x="2521102" y="2303088"/>
                </a:lnTo>
                <a:lnTo>
                  <a:pt x="2521600" y="2303055"/>
                </a:lnTo>
                <a:lnTo>
                  <a:pt x="2522194" y="2314495"/>
                </a:lnTo>
                <a:cubicBezTo>
                  <a:pt x="2522194" y="2320176"/>
                  <a:pt x="2522135" y="2325843"/>
                  <a:pt x="2520823" y="2331471"/>
                </a:cubicBezTo>
                <a:cubicBezTo>
                  <a:pt x="2520865" y="2362806"/>
                  <a:pt x="2518415" y="2393697"/>
                  <a:pt x="2513356" y="2423947"/>
                </a:cubicBezTo>
                <a:lnTo>
                  <a:pt x="2512818" y="2430623"/>
                </a:lnTo>
                <a:cubicBezTo>
                  <a:pt x="2512648" y="2430628"/>
                  <a:pt x="2512480" y="2430633"/>
                  <a:pt x="2512312" y="2430686"/>
                </a:cubicBezTo>
                <a:cubicBezTo>
                  <a:pt x="2462037" y="2783551"/>
                  <a:pt x="2180998" y="3064328"/>
                  <a:pt x="1822147" y="3123727"/>
                </a:cubicBezTo>
                <a:lnTo>
                  <a:pt x="1822030" y="3124875"/>
                </a:lnTo>
                <a:cubicBezTo>
                  <a:pt x="1816720" y="3125886"/>
                  <a:pt x="1811391" y="3126834"/>
                  <a:pt x="1805814" y="3126415"/>
                </a:cubicBezTo>
                <a:cubicBezTo>
                  <a:pt x="1774642" y="3131969"/>
                  <a:pt x="1742762" y="3134950"/>
                  <a:pt x="1710387" y="3135477"/>
                </a:cubicBezTo>
                <a:lnTo>
                  <a:pt x="1693269" y="3137103"/>
                </a:lnTo>
                <a:lnTo>
                  <a:pt x="1693243" y="3136608"/>
                </a:lnTo>
                <a:lnTo>
                  <a:pt x="1692744" y="3136641"/>
                </a:lnTo>
                <a:cubicBezTo>
                  <a:pt x="1692178" y="3132839"/>
                  <a:pt x="1692151" y="3129023"/>
                  <a:pt x="1692151" y="3125201"/>
                </a:cubicBezTo>
                <a:cubicBezTo>
                  <a:pt x="1692151" y="3119519"/>
                  <a:pt x="1692209" y="3113850"/>
                  <a:pt x="1693521" y="3108220"/>
                </a:cubicBezTo>
                <a:cubicBezTo>
                  <a:pt x="1693479" y="3076892"/>
                  <a:pt x="1695929" y="3046007"/>
                  <a:pt x="1700985" y="3015763"/>
                </a:cubicBezTo>
                <a:lnTo>
                  <a:pt x="1701526" y="3009073"/>
                </a:lnTo>
                <a:cubicBezTo>
                  <a:pt x="1701694" y="3009068"/>
                  <a:pt x="1701864" y="3009063"/>
                  <a:pt x="1702031" y="3009010"/>
                </a:cubicBezTo>
                <a:cubicBezTo>
                  <a:pt x="1752308" y="2656144"/>
                  <a:pt x="2033347" y="2375367"/>
                  <a:pt x="2392197" y="2315969"/>
                </a:cubicBezTo>
                <a:lnTo>
                  <a:pt x="2392314" y="2314821"/>
                </a:lnTo>
                <a:cubicBezTo>
                  <a:pt x="2397623" y="2313811"/>
                  <a:pt x="2402951" y="2312863"/>
                  <a:pt x="2408527" y="2313282"/>
                </a:cubicBezTo>
                <a:cubicBezTo>
                  <a:pt x="2439710" y="2307725"/>
                  <a:pt x="2471603" y="2304744"/>
                  <a:pt x="2503988" y="2304217"/>
                </a:cubicBezTo>
                <a:close/>
                <a:moveTo>
                  <a:pt x="851676" y="2302594"/>
                </a:moveTo>
                <a:lnTo>
                  <a:pt x="868763" y="2304217"/>
                </a:lnTo>
                <a:cubicBezTo>
                  <a:pt x="901149" y="2304744"/>
                  <a:pt x="933041" y="2307725"/>
                  <a:pt x="964225" y="2313282"/>
                </a:cubicBezTo>
                <a:cubicBezTo>
                  <a:pt x="969801" y="2312863"/>
                  <a:pt x="975129" y="2313811"/>
                  <a:pt x="980437" y="2314821"/>
                </a:cubicBezTo>
                <a:lnTo>
                  <a:pt x="980555" y="2315969"/>
                </a:lnTo>
                <a:cubicBezTo>
                  <a:pt x="1339405" y="2375367"/>
                  <a:pt x="1620444" y="2656144"/>
                  <a:pt x="1670720" y="3009010"/>
                </a:cubicBezTo>
                <a:cubicBezTo>
                  <a:pt x="1670888" y="3009063"/>
                  <a:pt x="1671057" y="3009068"/>
                  <a:pt x="1671226" y="3009073"/>
                </a:cubicBezTo>
                <a:lnTo>
                  <a:pt x="1671766" y="3015763"/>
                </a:lnTo>
                <a:cubicBezTo>
                  <a:pt x="1676823" y="3046007"/>
                  <a:pt x="1679272" y="3076892"/>
                  <a:pt x="1679230" y="3108220"/>
                </a:cubicBezTo>
                <a:cubicBezTo>
                  <a:pt x="1680542" y="3113850"/>
                  <a:pt x="1680601" y="3119519"/>
                  <a:pt x="1680601" y="3125201"/>
                </a:cubicBezTo>
                <a:cubicBezTo>
                  <a:pt x="1680601" y="3129023"/>
                  <a:pt x="1680574" y="3132839"/>
                  <a:pt x="1680008" y="3136641"/>
                </a:cubicBezTo>
                <a:lnTo>
                  <a:pt x="1679509" y="3136608"/>
                </a:lnTo>
                <a:lnTo>
                  <a:pt x="1679483" y="3137103"/>
                </a:lnTo>
                <a:lnTo>
                  <a:pt x="1662364" y="3135477"/>
                </a:lnTo>
                <a:cubicBezTo>
                  <a:pt x="1629990" y="3134950"/>
                  <a:pt x="1598110" y="3131969"/>
                  <a:pt x="1566938" y="3126415"/>
                </a:cubicBezTo>
                <a:cubicBezTo>
                  <a:pt x="1561361" y="3126834"/>
                  <a:pt x="1556032" y="3125886"/>
                  <a:pt x="1550721" y="3124875"/>
                </a:cubicBezTo>
                <a:lnTo>
                  <a:pt x="1550605" y="3123727"/>
                </a:lnTo>
                <a:cubicBezTo>
                  <a:pt x="1191754" y="3064328"/>
                  <a:pt x="910715" y="2783551"/>
                  <a:pt x="860439" y="2430686"/>
                </a:cubicBezTo>
                <a:cubicBezTo>
                  <a:pt x="860272" y="2430633"/>
                  <a:pt x="860103" y="2430628"/>
                  <a:pt x="859934" y="2430623"/>
                </a:cubicBezTo>
                <a:lnTo>
                  <a:pt x="859396" y="2423947"/>
                </a:lnTo>
                <a:cubicBezTo>
                  <a:pt x="854337" y="2393697"/>
                  <a:pt x="851886" y="2362806"/>
                  <a:pt x="851928" y="2331471"/>
                </a:cubicBezTo>
                <a:cubicBezTo>
                  <a:pt x="850616" y="2325843"/>
                  <a:pt x="850558" y="2320176"/>
                  <a:pt x="850558" y="2314495"/>
                </a:cubicBezTo>
                <a:lnTo>
                  <a:pt x="851152" y="2303055"/>
                </a:lnTo>
                <a:lnTo>
                  <a:pt x="851650" y="2303088"/>
                </a:lnTo>
                <a:close/>
                <a:moveTo>
                  <a:pt x="828925" y="2302594"/>
                </a:moveTo>
                <a:lnTo>
                  <a:pt x="828951" y="2303088"/>
                </a:lnTo>
                <a:lnTo>
                  <a:pt x="829449" y="2303055"/>
                </a:lnTo>
                <a:lnTo>
                  <a:pt x="830043" y="2314495"/>
                </a:lnTo>
                <a:cubicBezTo>
                  <a:pt x="830043" y="2320176"/>
                  <a:pt x="829984" y="2325843"/>
                  <a:pt x="828672" y="2331471"/>
                </a:cubicBezTo>
                <a:cubicBezTo>
                  <a:pt x="828714" y="2362806"/>
                  <a:pt x="826264" y="2393697"/>
                  <a:pt x="821205" y="2423947"/>
                </a:cubicBezTo>
                <a:lnTo>
                  <a:pt x="820667" y="2430623"/>
                </a:lnTo>
                <a:cubicBezTo>
                  <a:pt x="820497" y="2430628"/>
                  <a:pt x="820329" y="2430633"/>
                  <a:pt x="820161" y="2430686"/>
                </a:cubicBezTo>
                <a:cubicBezTo>
                  <a:pt x="769886" y="2783551"/>
                  <a:pt x="488847" y="3064328"/>
                  <a:pt x="129995" y="3123727"/>
                </a:cubicBezTo>
                <a:lnTo>
                  <a:pt x="129879" y="3124875"/>
                </a:lnTo>
                <a:cubicBezTo>
                  <a:pt x="124569" y="3125886"/>
                  <a:pt x="119240" y="3126834"/>
                  <a:pt x="113663" y="3126415"/>
                </a:cubicBezTo>
                <a:cubicBezTo>
                  <a:pt x="82491" y="3131969"/>
                  <a:pt x="50611" y="3134950"/>
                  <a:pt x="18236" y="3135477"/>
                </a:cubicBezTo>
                <a:lnTo>
                  <a:pt x="1118" y="3137103"/>
                </a:lnTo>
                <a:lnTo>
                  <a:pt x="1092" y="3136608"/>
                </a:lnTo>
                <a:lnTo>
                  <a:pt x="593" y="3136641"/>
                </a:lnTo>
                <a:cubicBezTo>
                  <a:pt x="27" y="3132839"/>
                  <a:pt x="0" y="3129023"/>
                  <a:pt x="0" y="3125201"/>
                </a:cubicBezTo>
                <a:cubicBezTo>
                  <a:pt x="0" y="3119519"/>
                  <a:pt x="58" y="3113850"/>
                  <a:pt x="1370" y="3108220"/>
                </a:cubicBezTo>
                <a:cubicBezTo>
                  <a:pt x="1328" y="3076892"/>
                  <a:pt x="3778" y="3046007"/>
                  <a:pt x="8835" y="3015763"/>
                </a:cubicBezTo>
                <a:lnTo>
                  <a:pt x="9375" y="3009073"/>
                </a:lnTo>
                <a:cubicBezTo>
                  <a:pt x="9543" y="3009068"/>
                  <a:pt x="9713" y="3009063"/>
                  <a:pt x="9880" y="3009010"/>
                </a:cubicBezTo>
                <a:cubicBezTo>
                  <a:pt x="60157" y="2656144"/>
                  <a:pt x="341196" y="2375367"/>
                  <a:pt x="700046" y="2315969"/>
                </a:cubicBezTo>
                <a:lnTo>
                  <a:pt x="700163" y="2314821"/>
                </a:lnTo>
                <a:cubicBezTo>
                  <a:pt x="705472" y="2313811"/>
                  <a:pt x="710800" y="2312863"/>
                  <a:pt x="716376" y="2313282"/>
                </a:cubicBezTo>
                <a:cubicBezTo>
                  <a:pt x="747559" y="2307725"/>
                  <a:pt x="779452" y="2304744"/>
                  <a:pt x="811837" y="2304217"/>
                </a:cubicBezTo>
                <a:close/>
                <a:moveTo>
                  <a:pt x="8305836" y="1608087"/>
                </a:moveTo>
                <a:cubicBezTo>
                  <a:pt x="8030646" y="1666766"/>
                  <a:pt x="7815802" y="1879876"/>
                  <a:pt x="7762527" y="2148655"/>
                </a:cubicBezTo>
                <a:cubicBezTo>
                  <a:pt x="8037717" y="2089976"/>
                  <a:pt x="8252560" y="1876866"/>
                  <a:pt x="8305836" y="1608087"/>
                </a:cubicBezTo>
                <a:close/>
                <a:moveTo>
                  <a:pt x="6911971" y="1608087"/>
                </a:moveTo>
                <a:cubicBezTo>
                  <a:pt x="6965247" y="1876866"/>
                  <a:pt x="7180090" y="2089976"/>
                  <a:pt x="7455280" y="2148655"/>
                </a:cubicBezTo>
                <a:cubicBezTo>
                  <a:pt x="7402005" y="1879876"/>
                  <a:pt x="7187161" y="1666766"/>
                  <a:pt x="6911971" y="1608087"/>
                </a:cubicBezTo>
                <a:close/>
                <a:moveTo>
                  <a:pt x="6613685" y="1608087"/>
                </a:moveTo>
                <a:cubicBezTo>
                  <a:pt x="6338495" y="1666766"/>
                  <a:pt x="6123651" y="1879876"/>
                  <a:pt x="6070376" y="2148655"/>
                </a:cubicBezTo>
                <a:cubicBezTo>
                  <a:pt x="6345566" y="2089976"/>
                  <a:pt x="6560409" y="1876866"/>
                  <a:pt x="6613685" y="1608087"/>
                </a:cubicBezTo>
                <a:close/>
                <a:moveTo>
                  <a:pt x="5219820" y="1608087"/>
                </a:moveTo>
                <a:cubicBezTo>
                  <a:pt x="5273096" y="1876866"/>
                  <a:pt x="5487939" y="2089976"/>
                  <a:pt x="5763129" y="2148655"/>
                </a:cubicBezTo>
                <a:cubicBezTo>
                  <a:pt x="5709854" y="1879876"/>
                  <a:pt x="5495010" y="1666766"/>
                  <a:pt x="5219820" y="1608087"/>
                </a:cubicBezTo>
                <a:close/>
                <a:moveTo>
                  <a:pt x="4921534" y="1608087"/>
                </a:moveTo>
                <a:cubicBezTo>
                  <a:pt x="4646344" y="1666766"/>
                  <a:pt x="4431500" y="1879876"/>
                  <a:pt x="4378225" y="2148655"/>
                </a:cubicBezTo>
                <a:cubicBezTo>
                  <a:pt x="4653415" y="2089976"/>
                  <a:pt x="4868259" y="1876866"/>
                  <a:pt x="4921534" y="1608087"/>
                </a:cubicBezTo>
                <a:close/>
                <a:moveTo>
                  <a:pt x="3527669" y="1608087"/>
                </a:moveTo>
                <a:cubicBezTo>
                  <a:pt x="3580945" y="1876866"/>
                  <a:pt x="3795788" y="2089976"/>
                  <a:pt x="4070978" y="2148655"/>
                </a:cubicBezTo>
                <a:cubicBezTo>
                  <a:pt x="4017703" y="1879876"/>
                  <a:pt x="3802859" y="1666766"/>
                  <a:pt x="3527669" y="1608087"/>
                </a:cubicBezTo>
                <a:close/>
                <a:moveTo>
                  <a:pt x="3229383" y="1608087"/>
                </a:moveTo>
                <a:cubicBezTo>
                  <a:pt x="2954193" y="1666766"/>
                  <a:pt x="2739349" y="1879876"/>
                  <a:pt x="2686074" y="2148655"/>
                </a:cubicBezTo>
                <a:cubicBezTo>
                  <a:pt x="2961264" y="2089976"/>
                  <a:pt x="3176107" y="1876866"/>
                  <a:pt x="3229383" y="1608087"/>
                </a:cubicBezTo>
                <a:close/>
                <a:moveTo>
                  <a:pt x="1835518" y="1608087"/>
                </a:moveTo>
                <a:cubicBezTo>
                  <a:pt x="1888794" y="1876866"/>
                  <a:pt x="2103637" y="2089976"/>
                  <a:pt x="2378827" y="2148655"/>
                </a:cubicBezTo>
                <a:cubicBezTo>
                  <a:pt x="2325552" y="1879876"/>
                  <a:pt x="2110708" y="1666766"/>
                  <a:pt x="1835518" y="1608087"/>
                </a:cubicBezTo>
                <a:close/>
                <a:moveTo>
                  <a:pt x="1537232" y="1608087"/>
                </a:moveTo>
                <a:cubicBezTo>
                  <a:pt x="1262042" y="1666766"/>
                  <a:pt x="1047198" y="1879876"/>
                  <a:pt x="993923" y="2148655"/>
                </a:cubicBezTo>
                <a:cubicBezTo>
                  <a:pt x="1269113" y="2089976"/>
                  <a:pt x="1483956" y="1876866"/>
                  <a:pt x="1537232" y="1608087"/>
                </a:cubicBezTo>
                <a:close/>
                <a:moveTo>
                  <a:pt x="143367" y="1608087"/>
                </a:moveTo>
                <a:cubicBezTo>
                  <a:pt x="196643" y="1876866"/>
                  <a:pt x="411486" y="2089976"/>
                  <a:pt x="686676" y="2148655"/>
                </a:cubicBezTo>
                <a:cubicBezTo>
                  <a:pt x="633401" y="1879876"/>
                  <a:pt x="418557" y="1666766"/>
                  <a:pt x="143367" y="1608087"/>
                </a:cubicBezTo>
                <a:close/>
                <a:moveTo>
                  <a:pt x="8461873" y="1464394"/>
                </a:moveTo>
                <a:lnTo>
                  <a:pt x="8478960" y="1466004"/>
                </a:lnTo>
                <a:cubicBezTo>
                  <a:pt x="8511346" y="1466527"/>
                  <a:pt x="8543239" y="1469485"/>
                  <a:pt x="8574422" y="1474998"/>
                </a:cubicBezTo>
                <a:cubicBezTo>
                  <a:pt x="8579998" y="1474582"/>
                  <a:pt x="8585326" y="1475523"/>
                  <a:pt x="8590635" y="1476525"/>
                </a:cubicBezTo>
                <a:lnTo>
                  <a:pt x="8590752" y="1477664"/>
                </a:lnTo>
                <a:cubicBezTo>
                  <a:pt x="8815033" y="1514497"/>
                  <a:pt x="9008920" y="1637126"/>
                  <a:pt x="9135069" y="1809390"/>
                </a:cubicBezTo>
                <a:lnTo>
                  <a:pt x="9139239" y="1816149"/>
                </a:lnTo>
                <a:lnTo>
                  <a:pt x="9139239" y="2119309"/>
                </a:lnTo>
                <a:lnTo>
                  <a:pt x="9120077" y="2050665"/>
                </a:lnTo>
                <a:cubicBezTo>
                  <a:pt x="9039502" y="1829012"/>
                  <a:pt x="8844913" y="1659431"/>
                  <a:pt x="8604122" y="1608087"/>
                </a:cubicBezTo>
                <a:cubicBezTo>
                  <a:pt x="8650738" y="1843269"/>
                  <a:pt x="8821055" y="2035829"/>
                  <a:pt x="9047261" y="2119605"/>
                </a:cubicBezTo>
                <a:lnTo>
                  <a:pt x="9139239" y="2146279"/>
                </a:lnTo>
                <a:lnTo>
                  <a:pt x="9139239" y="2273778"/>
                </a:lnTo>
                <a:lnTo>
                  <a:pt x="9030179" y="2246972"/>
                </a:lnTo>
                <a:cubicBezTo>
                  <a:pt x="8735297" y="2149386"/>
                  <a:pt x="8514628" y="1897812"/>
                  <a:pt x="8470637" y="1591480"/>
                </a:cubicBezTo>
                <a:cubicBezTo>
                  <a:pt x="8470469" y="1591427"/>
                  <a:pt x="8470301" y="1591423"/>
                  <a:pt x="8470131" y="1591418"/>
                </a:cubicBezTo>
                <a:lnTo>
                  <a:pt x="8469593" y="1584794"/>
                </a:lnTo>
                <a:cubicBezTo>
                  <a:pt x="8464534" y="1554782"/>
                  <a:pt x="8462083" y="1524133"/>
                  <a:pt x="8462126" y="1493044"/>
                </a:cubicBezTo>
                <a:cubicBezTo>
                  <a:pt x="8460814" y="1487460"/>
                  <a:pt x="8460755" y="1481838"/>
                  <a:pt x="8460755" y="1476202"/>
                </a:cubicBezTo>
                <a:lnTo>
                  <a:pt x="8461349" y="1464852"/>
                </a:lnTo>
                <a:lnTo>
                  <a:pt x="8461847" y="1464884"/>
                </a:lnTo>
                <a:close/>
                <a:moveTo>
                  <a:pt x="8448085" y="1464394"/>
                </a:moveTo>
                <a:lnTo>
                  <a:pt x="8448111" y="1464884"/>
                </a:lnTo>
                <a:lnTo>
                  <a:pt x="8448609" y="1464852"/>
                </a:lnTo>
                <a:lnTo>
                  <a:pt x="8449203" y="1476202"/>
                </a:lnTo>
                <a:cubicBezTo>
                  <a:pt x="8449203" y="1481838"/>
                  <a:pt x="8449144" y="1487460"/>
                  <a:pt x="8447832" y="1493044"/>
                </a:cubicBezTo>
                <a:cubicBezTo>
                  <a:pt x="8447875" y="1524133"/>
                  <a:pt x="8445424" y="1554782"/>
                  <a:pt x="8440365" y="1584794"/>
                </a:cubicBezTo>
                <a:lnTo>
                  <a:pt x="8439827" y="1591418"/>
                </a:lnTo>
                <a:cubicBezTo>
                  <a:pt x="8439657" y="1591423"/>
                  <a:pt x="8439489" y="1591427"/>
                  <a:pt x="8439321" y="1591480"/>
                </a:cubicBezTo>
                <a:cubicBezTo>
                  <a:pt x="8389046" y="1941574"/>
                  <a:pt x="8108007" y="2220146"/>
                  <a:pt x="7749156" y="2279078"/>
                </a:cubicBezTo>
                <a:lnTo>
                  <a:pt x="7749040" y="2280217"/>
                </a:lnTo>
                <a:cubicBezTo>
                  <a:pt x="7743729" y="2281220"/>
                  <a:pt x="7738400" y="2282161"/>
                  <a:pt x="7732823" y="2281745"/>
                </a:cubicBezTo>
                <a:cubicBezTo>
                  <a:pt x="7701651" y="2287255"/>
                  <a:pt x="7669771" y="2290213"/>
                  <a:pt x="7637396" y="2290736"/>
                </a:cubicBezTo>
                <a:lnTo>
                  <a:pt x="7620278" y="2292349"/>
                </a:lnTo>
                <a:lnTo>
                  <a:pt x="7620252" y="2291858"/>
                </a:lnTo>
                <a:lnTo>
                  <a:pt x="7619753" y="2291891"/>
                </a:lnTo>
                <a:cubicBezTo>
                  <a:pt x="7619187" y="2288119"/>
                  <a:pt x="7619160" y="2284333"/>
                  <a:pt x="7619160" y="2280541"/>
                </a:cubicBezTo>
                <a:cubicBezTo>
                  <a:pt x="7619160" y="2274903"/>
                  <a:pt x="7619219" y="2269279"/>
                  <a:pt x="7620531" y="2263693"/>
                </a:cubicBezTo>
                <a:cubicBezTo>
                  <a:pt x="7620488" y="2232611"/>
                  <a:pt x="7622938" y="2201969"/>
                  <a:pt x="7627995" y="2171962"/>
                </a:cubicBezTo>
                <a:lnTo>
                  <a:pt x="7628535" y="2165325"/>
                </a:lnTo>
                <a:cubicBezTo>
                  <a:pt x="7628704" y="2165320"/>
                  <a:pt x="7628873" y="2165315"/>
                  <a:pt x="7629040" y="2165262"/>
                </a:cubicBezTo>
                <a:cubicBezTo>
                  <a:pt x="7679317" y="1815167"/>
                  <a:pt x="7960356" y="1536596"/>
                  <a:pt x="8319206" y="1477664"/>
                </a:cubicBezTo>
                <a:lnTo>
                  <a:pt x="8319323" y="1476525"/>
                </a:lnTo>
                <a:cubicBezTo>
                  <a:pt x="8324632" y="1475523"/>
                  <a:pt x="8329960" y="1474582"/>
                  <a:pt x="8335536" y="1474998"/>
                </a:cubicBezTo>
                <a:cubicBezTo>
                  <a:pt x="8366719" y="1469485"/>
                  <a:pt x="8398612" y="1466527"/>
                  <a:pt x="8430998" y="1466004"/>
                </a:cubicBezTo>
                <a:close/>
                <a:moveTo>
                  <a:pt x="6769722" y="1464394"/>
                </a:moveTo>
                <a:lnTo>
                  <a:pt x="6786810" y="1466004"/>
                </a:lnTo>
                <a:cubicBezTo>
                  <a:pt x="6819195" y="1466527"/>
                  <a:pt x="6851088" y="1469485"/>
                  <a:pt x="6882271" y="1474998"/>
                </a:cubicBezTo>
                <a:cubicBezTo>
                  <a:pt x="6887847" y="1474582"/>
                  <a:pt x="6893175" y="1475523"/>
                  <a:pt x="6898484" y="1476525"/>
                </a:cubicBezTo>
                <a:lnTo>
                  <a:pt x="6898601" y="1477664"/>
                </a:lnTo>
                <a:cubicBezTo>
                  <a:pt x="7257451" y="1536596"/>
                  <a:pt x="7538490" y="1815167"/>
                  <a:pt x="7588766" y="2165262"/>
                </a:cubicBezTo>
                <a:cubicBezTo>
                  <a:pt x="7588934" y="2165315"/>
                  <a:pt x="7589103" y="2165320"/>
                  <a:pt x="7589272" y="2165325"/>
                </a:cubicBezTo>
                <a:lnTo>
                  <a:pt x="7589812" y="2171962"/>
                </a:lnTo>
                <a:cubicBezTo>
                  <a:pt x="7594869" y="2201969"/>
                  <a:pt x="7597319" y="2232611"/>
                  <a:pt x="7597276" y="2263693"/>
                </a:cubicBezTo>
                <a:cubicBezTo>
                  <a:pt x="7598588" y="2269279"/>
                  <a:pt x="7598647" y="2274903"/>
                  <a:pt x="7598647" y="2280541"/>
                </a:cubicBezTo>
                <a:cubicBezTo>
                  <a:pt x="7598647" y="2284333"/>
                  <a:pt x="7598620" y="2288119"/>
                  <a:pt x="7598054" y="2291891"/>
                </a:cubicBezTo>
                <a:lnTo>
                  <a:pt x="7597555" y="2291858"/>
                </a:lnTo>
                <a:lnTo>
                  <a:pt x="7597529" y="2292349"/>
                </a:lnTo>
                <a:lnTo>
                  <a:pt x="7580411" y="2290736"/>
                </a:lnTo>
                <a:cubicBezTo>
                  <a:pt x="7548036" y="2290213"/>
                  <a:pt x="7516156" y="2287255"/>
                  <a:pt x="7484984" y="2281745"/>
                </a:cubicBezTo>
                <a:cubicBezTo>
                  <a:pt x="7479407" y="2282161"/>
                  <a:pt x="7474078" y="2281220"/>
                  <a:pt x="7468767" y="2280217"/>
                </a:cubicBezTo>
                <a:lnTo>
                  <a:pt x="7468651" y="2279078"/>
                </a:lnTo>
                <a:cubicBezTo>
                  <a:pt x="7109800" y="2220146"/>
                  <a:pt x="6828761" y="1941574"/>
                  <a:pt x="6778486" y="1591480"/>
                </a:cubicBezTo>
                <a:cubicBezTo>
                  <a:pt x="6778318" y="1591427"/>
                  <a:pt x="6778150" y="1591423"/>
                  <a:pt x="6777980" y="1591418"/>
                </a:cubicBezTo>
                <a:lnTo>
                  <a:pt x="6777442" y="1584794"/>
                </a:lnTo>
                <a:cubicBezTo>
                  <a:pt x="6772383" y="1554782"/>
                  <a:pt x="6769933" y="1524133"/>
                  <a:pt x="6769975" y="1493044"/>
                </a:cubicBezTo>
                <a:cubicBezTo>
                  <a:pt x="6768663" y="1487460"/>
                  <a:pt x="6768604" y="1481838"/>
                  <a:pt x="6768604" y="1476202"/>
                </a:cubicBezTo>
                <a:lnTo>
                  <a:pt x="6769198" y="1464852"/>
                </a:lnTo>
                <a:lnTo>
                  <a:pt x="6769696" y="1464884"/>
                </a:lnTo>
                <a:close/>
                <a:moveTo>
                  <a:pt x="6755934" y="1464394"/>
                </a:moveTo>
                <a:lnTo>
                  <a:pt x="6755960" y="1464884"/>
                </a:lnTo>
                <a:lnTo>
                  <a:pt x="6756458" y="1464852"/>
                </a:lnTo>
                <a:lnTo>
                  <a:pt x="6757052" y="1476202"/>
                </a:lnTo>
                <a:cubicBezTo>
                  <a:pt x="6757052" y="1481838"/>
                  <a:pt x="6756994" y="1487460"/>
                  <a:pt x="6755682" y="1493044"/>
                </a:cubicBezTo>
                <a:cubicBezTo>
                  <a:pt x="6755724" y="1524133"/>
                  <a:pt x="6753273" y="1554782"/>
                  <a:pt x="6748215" y="1584794"/>
                </a:cubicBezTo>
                <a:lnTo>
                  <a:pt x="6747676" y="1591418"/>
                </a:lnTo>
                <a:cubicBezTo>
                  <a:pt x="6747507" y="1591423"/>
                  <a:pt x="6747338" y="1591427"/>
                  <a:pt x="6747171" y="1591480"/>
                </a:cubicBezTo>
                <a:cubicBezTo>
                  <a:pt x="6696895" y="1941574"/>
                  <a:pt x="6415856" y="2220146"/>
                  <a:pt x="6057005" y="2279078"/>
                </a:cubicBezTo>
                <a:lnTo>
                  <a:pt x="6056889" y="2280217"/>
                </a:lnTo>
                <a:cubicBezTo>
                  <a:pt x="6051578" y="2281220"/>
                  <a:pt x="6046249" y="2282161"/>
                  <a:pt x="6040672" y="2281745"/>
                </a:cubicBezTo>
                <a:cubicBezTo>
                  <a:pt x="6009500" y="2287255"/>
                  <a:pt x="5977620" y="2290213"/>
                  <a:pt x="5945246" y="2290736"/>
                </a:cubicBezTo>
                <a:lnTo>
                  <a:pt x="5928127" y="2292349"/>
                </a:lnTo>
                <a:lnTo>
                  <a:pt x="5928101" y="2291858"/>
                </a:lnTo>
                <a:lnTo>
                  <a:pt x="5927602" y="2291891"/>
                </a:lnTo>
                <a:cubicBezTo>
                  <a:pt x="5927036" y="2288119"/>
                  <a:pt x="5927009" y="2284333"/>
                  <a:pt x="5927009" y="2280541"/>
                </a:cubicBezTo>
                <a:cubicBezTo>
                  <a:pt x="5927009" y="2274903"/>
                  <a:pt x="5927068" y="2269279"/>
                  <a:pt x="5928380" y="2263693"/>
                </a:cubicBezTo>
                <a:cubicBezTo>
                  <a:pt x="5928338" y="2232611"/>
                  <a:pt x="5930787" y="2201969"/>
                  <a:pt x="5935844" y="2171962"/>
                </a:cubicBezTo>
                <a:lnTo>
                  <a:pt x="5936384" y="2165325"/>
                </a:lnTo>
                <a:cubicBezTo>
                  <a:pt x="5936553" y="2165320"/>
                  <a:pt x="5936722" y="2165315"/>
                  <a:pt x="5936890" y="2165262"/>
                </a:cubicBezTo>
                <a:cubicBezTo>
                  <a:pt x="5987166" y="1815167"/>
                  <a:pt x="6268205" y="1536596"/>
                  <a:pt x="6627056" y="1477664"/>
                </a:cubicBezTo>
                <a:lnTo>
                  <a:pt x="6627173" y="1476525"/>
                </a:lnTo>
                <a:cubicBezTo>
                  <a:pt x="6632481" y="1475523"/>
                  <a:pt x="6637809" y="1474582"/>
                  <a:pt x="6643385" y="1474998"/>
                </a:cubicBezTo>
                <a:cubicBezTo>
                  <a:pt x="6674569" y="1469485"/>
                  <a:pt x="6706461" y="1466527"/>
                  <a:pt x="6738847" y="1466004"/>
                </a:cubicBezTo>
                <a:close/>
                <a:moveTo>
                  <a:pt x="5077571" y="1464394"/>
                </a:moveTo>
                <a:lnTo>
                  <a:pt x="5094659" y="1466004"/>
                </a:lnTo>
                <a:cubicBezTo>
                  <a:pt x="5127044" y="1466527"/>
                  <a:pt x="5158937" y="1469485"/>
                  <a:pt x="5190120" y="1474998"/>
                </a:cubicBezTo>
                <a:cubicBezTo>
                  <a:pt x="5195696" y="1474582"/>
                  <a:pt x="5201024" y="1475523"/>
                  <a:pt x="5206334" y="1476525"/>
                </a:cubicBezTo>
                <a:lnTo>
                  <a:pt x="5206450" y="1477664"/>
                </a:lnTo>
                <a:cubicBezTo>
                  <a:pt x="5565300" y="1536596"/>
                  <a:pt x="5846339" y="1815167"/>
                  <a:pt x="5896616" y="2165262"/>
                </a:cubicBezTo>
                <a:cubicBezTo>
                  <a:pt x="5896783" y="2165315"/>
                  <a:pt x="5896953" y="2165320"/>
                  <a:pt x="5897121" y="2165325"/>
                </a:cubicBezTo>
                <a:lnTo>
                  <a:pt x="5897662" y="2171962"/>
                </a:lnTo>
                <a:cubicBezTo>
                  <a:pt x="5902718" y="2201969"/>
                  <a:pt x="5905168" y="2232611"/>
                  <a:pt x="5905126" y="2263693"/>
                </a:cubicBezTo>
                <a:cubicBezTo>
                  <a:pt x="5906438" y="2269279"/>
                  <a:pt x="5906496" y="2274903"/>
                  <a:pt x="5906496" y="2280541"/>
                </a:cubicBezTo>
                <a:cubicBezTo>
                  <a:pt x="5906496" y="2284333"/>
                  <a:pt x="5906469" y="2288119"/>
                  <a:pt x="5905903" y="2291891"/>
                </a:cubicBezTo>
                <a:lnTo>
                  <a:pt x="5905404" y="2291858"/>
                </a:lnTo>
                <a:lnTo>
                  <a:pt x="5905378" y="2292349"/>
                </a:lnTo>
                <a:lnTo>
                  <a:pt x="5888260" y="2290736"/>
                </a:lnTo>
                <a:cubicBezTo>
                  <a:pt x="5855886" y="2290213"/>
                  <a:pt x="5824005" y="2287255"/>
                  <a:pt x="5792833" y="2281745"/>
                </a:cubicBezTo>
                <a:cubicBezTo>
                  <a:pt x="5787256" y="2282161"/>
                  <a:pt x="5781927" y="2281220"/>
                  <a:pt x="5776617" y="2280217"/>
                </a:cubicBezTo>
                <a:lnTo>
                  <a:pt x="5776501" y="2279078"/>
                </a:lnTo>
                <a:cubicBezTo>
                  <a:pt x="5417649" y="2220146"/>
                  <a:pt x="5136610" y="1941574"/>
                  <a:pt x="5086335" y="1591480"/>
                </a:cubicBezTo>
                <a:cubicBezTo>
                  <a:pt x="5086167" y="1591427"/>
                  <a:pt x="5085999" y="1591423"/>
                  <a:pt x="5085830" y="1591418"/>
                </a:cubicBezTo>
                <a:lnTo>
                  <a:pt x="5085291" y="1584794"/>
                </a:lnTo>
                <a:cubicBezTo>
                  <a:pt x="5080233" y="1554782"/>
                  <a:pt x="5077782" y="1524133"/>
                  <a:pt x="5077824" y="1493044"/>
                </a:cubicBezTo>
                <a:cubicBezTo>
                  <a:pt x="5076512" y="1487460"/>
                  <a:pt x="5076453" y="1481838"/>
                  <a:pt x="5076453" y="1476202"/>
                </a:cubicBezTo>
                <a:lnTo>
                  <a:pt x="5077047" y="1464852"/>
                </a:lnTo>
                <a:lnTo>
                  <a:pt x="5077545" y="1464884"/>
                </a:lnTo>
                <a:close/>
                <a:moveTo>
                  <a:pt x="5063783" y="1464394"/>
                </a:moveTo>
                <a:lnTo>
                  <a:pt x="5063809" y="1464884"/>
                </a:lnTo>
                <a:lnTo>
                  <a:pt x="5064307" y="1464852"/>
                </a:lnTo>
                <a:lnTo>
                  <a:pt x="5064902" y="1476202"/>
                </a:lnTo>
                <a:cubicBezTo>
                  <a:pt x="5064902" y="1481838"/>
                  <a:pt x="5064842" y="1487460"/>
                  <a:pt x="5063530" y="1493044"/>
                </a:cubicBezTo>
                <a:cubicBezTo>
                  <a:pt x="5063572" y="1524133"/>
                  <a:pt x="5061122" y="1554782"/>
                  <a:pt x="5056063" y="1584794"/>
                </a:cubicBezTo>
                <a:lnTo>
                  <a:pt x="5055525" y="1591418"/>
                </a:lnTo>
                <a:cubicBezTo>
                  <a:pt x="5055355" y="1591423"/>
                  <a:pt x="5055187" y="1591427"/>
                  <a:pt x="5055019" y="1591480"/>
                </a:cubicBezTo>
                <a:cubicBezTo>
                  <a:pt x="5004744" y="1941574"/>
                  <a:pt x="4723705" y="2220146"/>
                  <a:pt x="4364853" y="2279078"/>
                </a:cubicBezTo>
                <a:lnTo>
                  <a:pt x="4364737" y="2280217"/>
                </a:lnTo>
                <a:cubicBezTo>
                  <a:pt x="4359427" y="2281220"/>
                  <a:pt x="4354098" y="2282161"/>
                  <a:pt x="4348521" y="2281745"/>
                </a:cubicBezTo>
                <a:cubicBezTo>
                  <a:pt x="4317350" y="2287255"/>
                  <a:pt x="4285468" y="2290213"/>
                  <a:pt x="4253094" y="2290736"/>
                </a:cubicBezTo>
                <a:lnTo>
                  <a:pt x="4235976" y="2292349"/>
                </a:lnTo>
                <a:lnTo>
                  <a:pt x="4235950" y="2291858"/>
                </a:lnTo>
                <a:lnTo>
                  <a:pt x="4235451" y="2291891"/>
                </a:lnTo>
                <a:cubicBezTo>
                  <a:pt x="4234885" y="2288119"/>
                  <a:pt x="4234858" y="2284333"/>
                  <a:pt x="4234858" y="2280541"/>
                </a:cubicBezTo>
                <a:cubicBezTo>
                  <a:pt x="4234858" y="2274903"/>
                  <a:pt x="4234916" y="2269279"/>
                  <a:pt x="4236228" y="2263693"/>
                </a:cubicBezTo>
                <a:cubicBezTo>
                  <a:pt x="4236186" y="2232611"/>
                  <a:pt x="4238636" y="2201969"/>
                  <a:pt x="4243692" y="2171962"/>
                </a:cubicBezTo>
                <a:lnTo>
                  <a:pt x="4244233" y="2165325"/>
                </a:lnTo>
                <a:cubicBezTo>
                  <a:pt x="4244401" y="2165320"/>
                  <a:pt x="4244571" y="2165315"/>
                  <a:pt x="4244738" y="2165262"/>
                </a:cubicBezTo>
                <a:cubicBezTo>
                  <a:pt x="4295015" y="1815167"/>
                  <a:pt x="4576054" y="1536596"/>
                  <a:pt x="4934904" y="1477664"/>
                </a:cubicBezTo>
                <a:lnTo>
                  <a:pt x="4935021" y="1476525"/>
                </a:lnTo>
                <a:cubicBezTo>
                  <a:pt x="4940330" y="1475523"/>
                  <a:pt x="4945658" y="1474582"/>
                  <a:pt x="4951234" y="1474998"/>
                </a:cubicBezTo>
                <a:cubicBezTo>
                  <a:pt x="4982417" y="1469485"/>
                  <a:pt x="5014310" y="1466527"/>
                  <a:pt x="5046695" y="1466004"/>
                </a:cubicBezTo>
                <a:close/>
                <a:moveTo>
                  <a:pt x="3385420" y="1464394"/>
                </a:moveTo>
                <a:lnTo>
                  <a:pt x="3402507" y="1466004"/>
                </a:lnTo>
                <a:cubicBezTo>
                  <a:pt x="3434893" y="1466527"/>
                  <a:pt x="3466785" y="1469485"/>
                  <a:pt x="3497969" y="1474998"/>
                </a:cubicBezTo>
                <a:cubicBezTo>
                  <a:pt x="3503545" y="1474582"/>
                  <a:pt x="3508873" y="1475523"/>
                  <a:pt x="3514181" y="1476525"/>
                </a:cubicBezTo>
                <a:lnTo>
                  <a:pt x="3514298" y="1477664"/>
                </a:lnTo>
                <a:cubicBezTo>
                  <a:pt x="3873149" y="1536596"/>
                  <a:pt x="4154188" y="1815167"/>
                  <a:pt x="4204464" y="2165262"/>
                </a:cubicBezTo>
                <a:cubicBezTo>
                  <a:pt x="4204632" y="2165315"/>
                  <a:pt x="4204801" y="2165320"/>
                  <a:pt x="4204970" y="2165325"/>
                </a:cubicBezTo>
                <a:lnTo>
                  <a:pt x="4205510" y="2171962"/>
                </a:lnTo>
                <a:cubicBezTo>
                  <a:pt x="4210567" y="2201969"/>
                  <a:pt x="4213016" y="2232611"/>
                  <a:pt x="4212974" y="2263693"/>
                </a:cubicBezTo>
                <a:cubicBezTo>
                  <a:pt x="4214286" y="2269279"/>
                  <a:pt x="4214345" y="2274903"/>
                  <a:pt x="4214345" y="2280541"/>
                </a:cubicBezTo>
                <a:cubicBezTo>
                  <a:pt x="4214345" y="2284333"/>
                  <a:pt x="4214318" y="2288119"/>
                  <a:pt x="4213752" y="2291891"/>
                </a:cubicBezTo>
                <a:lnTo>
                  <a:pt x="4213253" y="2291858"/>
                </a:lnTo>
                <a:lnTo>
                  <a:pt x="4213227" y="2292349"/>
                </a:lnTo>
                <a:lnTo>
                  <a:pt x="4196108" y="2290736"/>
                </a:lnTo>
                <a:cubicBezTo>
                  <a:pt x="4163734" y="2290213"/>
                  <a:pt x="4131854" y="2287255"/>
                  <a:pt x="4100682" y="2281745"/>
                </a:cubicBezTo>
                <a:cubicBezTo>
                  <a:pt x="4095105" y="2282161"/>
                  <a:pt x="4089776" y="2281220"/>
                  <a:pt x="4084465" y="2280217"/>
                </a:cubicBezTo>
                <a:lnTo>
                  <a:pt x="4084349" y="2279078"/>
                </a:lnTo>
                <a:cubicBezTo>
                  <a:pt x="3725498" y="2220146"/>
                  <a:pt x="3444459" y="1941574"/>
                  <a:pt x="3394183" y="1591480"/>
                </a:cubicBezTo>
                <a:cubicBezTo>
                  <a:pt x="3394016" y="1591427"/>
                  <a:pt x="3393847" y="1591423"/>
                  <a:pt x="3393678" y="1591418"/>
                </a:cubicBezTo>
                <a:lnTo>
                  <a:pt x="3393139" y="1584794"/>
                </a:lnTo>
                <a:cubicBezTo>
                  <a:pt x="3388081" y="1554782"/>
                  <a:pt x="3385630" y="1524133"/>
                  <a:pt x="3385672" y="1493044"/>
                </a:cubicBezTo>
                <a:cubicBezTo>
                  <a:pt x="3384360" y="1487460"/>
                  <a:pt x="3384302" y="1481838"/>
                  <a:pt x="3384302" y="1476202"/>
                </a:cubicBezTo>
                <a:lnTo>
                  <a:pt x="3384896" y="1464852"/>
                </a:lnTo>
                <a:lnTo>
                  <a:pt x="3385394" y="1464884"/>
                </a:lnTo>
                <a:close/>
                <a:moveTo>
                  <a:pt x="3371632" y="1464394"/>
                </a:moveTo>
                <a:lnTo>
                  <a:pt x="3371658" y="1464884"/>
                </a:lnTo>
                <a:lnTo>
                  <a:pt x="3372156" y="1464852"/>
                </a:lnTo>
                <a:lnTo>
                  <a:pt x="3372750" y="1476202"/>
                </a:lnTo>
                <a:cubicBezTo>
                  <a:pt x="3372750" y="1481838"/>
                  <a:pt x="3372691" y="1487460"/>
                  <a:pt x="3371379" y="1493044"/>
                </a:cubicBezTo>
                <a:cubicBezTo>
                  <a:pt x="3371421" y="1524133"/>
                  <a:pt x="3368971" y="1554782"/>
                  <a:pt x="3363912" y="1584794"/>
                </a:cubicBezTo>
                <a:lnTo>
                  <a:pt x="3363374" y="1591418"/>
                </a:lnTo>
                <a:cubicBezTo>
                  <a:pt x="3363204" y="1591423"/>
                  <a:pt x="3363036" y="1591427"/>
                  <a:pt x="3362868" y="1591480"/>
                </a:cubicBezTo>
                <a:cubicBezTo>
                  <a:pt x="3312593" y="1941574"/>
                  <a:pt x="3031554" y="2220146"/>
                  <a:pt x="2672703" y="2279078"/>
                </a:cubicBezTo>
                <a:lnTo>
                  <a:pt x="2672586" y="2280217"/>
                </a:lnTo>
                <a:cubicBezTo>
                  <a:pt x="2667276" y="2281220"/>
                  <a:pt x="2661947" y="2282161"/>
                  <a:pt x="2656370" y="2281745"/>
                </a:cubicBezTo>
                <a:cubicBezTo>
                  <a:pt x="2625198" y="2287255"/>
                  <a:pt x="2593318" y="2290213"/>
                  <a:pt x="2560943" y="2290736"/>
                </a:cubicBezTo>
                <a:lnTo>
                  <a:pt x="2543825" y="2292349"/>
                </a:lnTo>
                <a:lnTo>
                  <a:pt x="2543799" y="2291858"/>
                </a:lnTo>
                <a:lnTo>
                  <a:pt x="2543300" y="2291891"/>
                </a:lnTo>
                <a:cubicBezTo>
                  <a:pt x="2542734" y="2288119"/>
                  <a:pt x="2542707" y="2284333"/>
                  <a:pt x="2542707" y="2280541"/>
                </a:cubicBezTo>
                <a:cubicBezTo>
                  <a:pt x="2542707" y="2274903"/>
                  <a:pt x="2542765" y="2269279"/>
                  <a:pt x="2544077" y="2263693"/>
                </a:cubicBezTo>
                <a:cubicBezTo>
                  <a:pt x="2544035" y="2232611"/>
                  <a:pt x="2546485" y="2201969"/>
                  <a:pt x="2551541" y="2171962"/>
                </a:cubicBezTo>
                <a:lnTo>
                  <a:pt x="2552082" y="2165325"/>
                </a:lnTo>
                <a:cubicBezTo>
                  <a:pt x="2552250" y="2165320"/>
                  <a:pt x="2552420" y="2165315"/>
                  <a:pt x="2552587" y="2165262"/>
                </a:cubicBezTo>
                <a:cubicBezTo>
                  <a:pt x="2602864" y="1815167"/>
                  <a:pt x="2883903" y="1536596"/>
                  <a:pt x="3242753" y="1477664"/>
                </a:cubicBezTo>
                <a:lnTo>
                  <a:pt x="3242870" y="1476525"/>
                </a:lnTo>
                <a:cubicBezTo>
                  <a:pt x="3248179" y="1475523"/>
                  <a:pt x="3253507" y="1474582"/>
                  <a:pt x="3259083" y="1474998"/>
                </a:cubicBezTo>
                <a:cubicBezTo>
                  <a:pt x="3290266" y="1469485"/>
                  <a:pt x="3322159" y="1466527"/>
                  <a:pt x="3354544" y="1466004"/>
                </a:cubicBezTo>
                <a:close/>
                <a:moveTo>
                  <a:pt x="1693269" y="1464394"/>
                </a:moveTo>
                <a:lnTo>
                  <a:pt x="1710356" y="1466004"/>
                </a:lnTo>
                <a:cubicBezTo>
                  <a:pt x="1742742" y="1466527"/>
                  <a:pt x="1774634" y="1469485"/>
                  <a:pt x="1805818" y="1474998"/>
                </a:cubicBezTo>
                <a:cubicBezTo>
                  <a:pt x="1811394" y="1474582"/>
                  <a:pt x="1816722" y="1475523"/>
                  <a:pt x="1822030" y="1476525"/>
                </a:cubicBezTo>
                <a:lnTo>
                  <a:pt x="1822148" y="1477664"/>
                </a:lnTo>
                <a:cubicBezTo>
                  <a:pt x="2180998" y="1536596"/>
                  <a:pt x="2462037" y="1815167"/>
                  <a:pt x="2512313" y="2165262"/>
                </a:cubicBezTo>
                <a:cubicBezTo>
                  <a:pt x="2512481" y="2165315"/>
                  <a:pt x="2512650" y="2165320"/>
                  <a:pt x="2512819" y="2165325"/>
                </a:cubicBezTo>
                <a:lnTo>
                  <a:pt x="2513359" y="2171962"/>
                </a:lnTo>
                <a:cubicBezTo>
                  <a:pt x="2518416" y="2201969"/>
                  <a:pt x="2520865" y="2232611"/>
                  <a:pt x="2520823" y="2263693"/>
                </a:cubicBezTo>
                <a:cubicBezTo>
                  <a:pt x="2522135" y="2269279"/>
                  <a:pt x="2522194" y="2274903"/>
                  <a:pt x="2522194" y="2280541"/>
                </a:cubicBezTo>
                <a:cubicBezTo>
                  <a:pt x="2522194" y="2284333"/>
                  <a:pt x="2522167" y="2288119"/>
                  <a:pt x="2521601" y="2291891"/>
                </a:cubicBezTo>
                <a:lnTo>
                  <a:pt x="2521102" y="2291858"/>
                </a:lnTo>
                <a:lnTo>
                  <a:pt x="2521076" y="2292349"/>
                </a:lnTo>
                <a:lnTo>
                  <a:pt x="2503957" y="2290736"/>
                </a:lnTo>
                <a:cubicBezTo>
                  <a:pt x="2471583" y="2290213"/>
                  <a:pt x="2439703" y="2287255"/>
                  <a:pt x="2408531" y="2281745"/>
                </a:cubicBezTo>
                <a:cubicBezTo>
                  <a:pt x="2402954" y="2282161"/>
                  <a:pt x="2397625" y="2281220"/>
                  <a:pt x="2392314" y="2280217"/>
                </a:cubicBezTo>
                <a:lnTo>
                  <a:pt x="2392198" y="2279078"/>
                </a:lnTo>
                <a:cubicBezTo>
                  <a:pt x="2033347" y="2220146"/>
                  <a:pt x="1752308" y="1941574"/>
                  <a:pt x="1702032" y="1591480"/>
                </a:cubicBezTo>
                <a:cubicBezTo>
                  <a:pt x="1701865" y="1591427"/>
                  <a:pt x="1701696" y="1591423"/>
                  <a:pt x="1701527" y="1591418"/>
                </a:cubicBezTo>
                <a:lnTo>
                  <a:pt x="1700989" y="1584794"/>
                </a:lnTo>
                <a:cubicBezTo>
                  <a:pt x="1695930" y="1554782"/>
                  <a:pt x="1693479" y="1524133"/>
                  <a:pt x="1693521" y="1493044"/>
                </a:cubicBezTo>
                <a:cubicBezTo>
                  <a:pt x="1692209" y="1487460"/>
                  <a:pt x="1692151" y="1481838"/>
                  <a:pt x="1692151" y="1476202"/>
                </a:cubicBezTo>
                <a:lnTo>
                  <a:pt x="1692745" y="1464852"/>
                </a:lnTo>
                <a:lnTo>
                  <a:pt x="1693243" y="1464884"/>
                </a:lnTo>
                <a:close/>
                <a:moveTo>
                  <a:pt x="1679481" y="1464394"/>
                </a:moveTo>
                <a:lnTo>
                  <a:pt x="1679507" y="1464884"/>
                </a:lnTo>
                <a:lnTo>
                  <a:pt x="1680005" y="1464852"/>
                </a:lnTo>
                <a:lnTo>
                  <a:pt x="1680599" y="1476202"/>
                </a:lnTo>
                <a:cubicBezTo>
                  <a:pt x="1680599" y="1481838"/>
                  <a:pt x="1680540" y="1487460"/>
                  <a:pt x="1679228" y="1493044"/>
                </a:cubicBezTo>
                <a:cubicBezTo>
                  <a:pt x="1679270" y="1524133"/>
                  <a:pt x="1676820" y="1554782"/>
                  <a:pt x="1671761" y="1584794"/>
                </a:cubicBezTo>
                <a:lnTo>
                  <a:pt x="1671223" y="1591418"/>
                </a:lnTo>
                <a:cubicBezTo>
                  <a:pt x="1671053" y="1591423"/>
                  <a:pt x="1670885" y="1591427"/>
                  <a:pt x="1670717" y="1591480"/>
                </a:cubicBezTo>
                <a:cubicBezTo>
                  <a:pt x="1620442" y="1941574"/>
                  <a:pt x="1339403" y="2220146"/>
                  <a:pt x="980552" y="2279078"/>
                </a:cubicBezTo>
                <a:lnTo>
                  <a:pt x="980435" y="2280217"/>
                </a:lnTo>
                <a:cubicBezTo>
                  <a:pt x="975125" y="2281220"/>
                  <a:pt x="969796" y="2282161"/>
                  <a:pt x="964219" y="2281745"/>
                </a:cubicBezTo>
                <a:cubicBezTo>
                  <a:pt x="933047" y="2287255"/>
                  <a:pt x="901167" y="2290213"/>
                  <a:pt x="868792" y="2290736"/>
                </a:cubicBezTo>
                <a:lnTo>
                  <a:pt x="851674" y="2292349"/>
                </a:lnTo>
                <a:lnTo>
                  <a:pt x="851648" y="2291858"/>
                </a:lnTo>
                <a:lnTo>
                  <a:pt x="851149" y="2291891"/>
                </a:lnTo>
                <a:cubicBezTo>
                  <a:pt x="850583" y="2288119"/>
                  <a:pt x="850556" y="2284333"/>
                  <a:pt x="850556" y="2280541"/>
                </a:cubicBezTo>
                <a:cubicBezTo>
                  <a:pt x="850556" y="2274903"/>
                  <a:pt x="850614" y="2269279"/>
                  <a:pt x="851926" y="2263693"/>
                </a:cubicBezTo>
                <a:cubicBezTo>
                  <a:pt x="851884" y="2232611"/>
                  <a:pt x="854334" y="2201969"/>
                  <a:pt x="859390" y="2171962"/>
                </a:cubicBezTo>
                <a:lnTo>
                  <a:pt x="859931" y="2165325"/>
                </a:lnTo>
                <a:cubicBezTo>
                  <a:pt x="860099" y="2165320"/>
                  <a:pt x="860269" y="2165315"/>
                  <a:pt x="860436" y="2165262"/>
                </a:cubicBezTo>
                <a:cubicBezTo>
                  <a:pt x="910713" y="1815167"/>
                  <a:pt x="1191752" y="1536596"/>
                  <a:pt x="1550602" y="1477664"/>
                </a:cubicBezTo>
                <a:lnTo>
                  <a:pt x="1550719" y="1476525"/>
                </a:lnTo>
                <a:cubicBezTo>
                  <a:pt x="1556028" y="1475523"/>
                  <a:pt x="1561356" y="1474582"/>
                  <a:pt x="1566932" y="1474998"/>
                </a:cubicBezTo>
                <a:cubicBezTo>
                  <a:pt x="1598115" y="1469485"/>
                  <a:pt x="1630008" y="1466527"/>
                  <a:pt x="1662393" y="1466004"/>
                </a:cubicBezTo>
                <a:close/>
                <a:moveTo>
                  <a:pt x="1118" y="1464394"/>
                </a:moveTo>
                <a:lnTo>
                  <a:pt x="18205" y="1466004"/>
                </a:lnTo>
                <a:cubicBezTo>
                  <a:pt x="50591" y="1466527"/>
                  <a:pt x="82483" y="1469485"/>
                  <a:pt x="113667" y="1474998"/>
                </a:cubicBezTo>
                <a:cubicBezTo>
                  <a:pt x="119243" y="1474582"/>
                  <a:pt x="124571" y="1475523"/>
                  <a:pt x="129879" y="1476525"/>
                </a:cubicBezTo>
                <a:lnTo>
                  <a:pt x="129997" y="1477664"/>
                </a:lnTo>
                <a:cubicBezTo>
                  <a:pt x="488847" y="1536596"/>
                  <a:pt x="769886" y="1815167"/>
                  <a:pt x="820162" y="2165262"/>
                </a:cubicBezTo>
                <a:cubicBezTo>
                  <a:pt x="820330" y="2165315"/>
                  <a:pt x="820499" y="2165320"/>
                  <a:pt x="820668" y="2165325"/>
                </a:cubicBezTo>
                <a:lnTo>
                  <a:pt x="821208" y="2171962"/>
                </a:lnTo>
                <a:cubicBezTo>
                  <a:pt x="826265" y="2201969"/>
                  <a:pt x="828714" y="2232611"/>
                  <a:pt x="828672" y="2263693"/>
                </a:cubicBezTo>
                <a:cubicBezTo>
                  <a:pt x="829984" y="2269279"/>
                  <a:pt x="830043" y="2274903"/>
                  <a:pt x="830043" y="2280541"/>
                </a:cubicBezTo>
                <a:cubicBezTo>
                  <a:pt x="830043" y="2284333"/>
                  <a:pt x="830016" y="2288119"/>
                  <a:pt x="829450" y="2291891"/>
                </a:cubicBezTo>
                <a:lnTo>
                  <a:pt x="828951" y="2291858"/>
                </a:lnTo>
                <a:lnTo>
                  <a:pt x="828925" y="2292349"/>
                </a:lnTo>
                <a:lnTo>
                  <a:pt x="811806" y="2290736"/>
                </a:lnTo>
                <a:cubicBezTo>
                  <a:pt x="779432" y="2290213"/>
                  <a:pt x="747552" y="2287255"/>
                  <a:pt x="716380" y="2281745"/>
                </a:cubicBezTo>
                <a:cubicBezTo>
                  <a:pt x="710803" y="2282161"/>
                  <a:pt x="705474" y="2281220"/>
                  <a:pt x="700163" y="2280217"/>
                </a:cubicBezTo>
                <a:lnTo>
                  <a:pt x="700047" y="2279078"/>
                </a:lnTo>
                <a:cubicBezTo>
                  <a:pt x="341196" y="2220146"/>
                  <a:pt x="60157" y="1941574"/>
                  <a:pt x="9881" y="1591480"/>
                </a:cubicBezTo>
                <a:cubicBezTo>
                  <a:pt x="9714" y="1591427"/>
                  <a:pt x="9545" y="1591423"/>
                  <a:pt x="9376" y="1591418"/>
                </a:cubicBezTo>
                <a:lnTo>
                  <a:pt x="8837" y="1584794"/>
                </a:lnTo>
                <a:cubicBezTo>
                  <a:pt x="3779" y="1554782"/>
                  <a:pt x="1328" y="1524133"/>
                  <a:pt x="1370" y="1493044"/>
                </a:cubicBezTo>
                <a:cubicBezTo>
                  <a:pt x="58" y="1487460"/>
                  <a:pt x="0" y="1481838"/>
                  <a:pt x="0" y="1476202"/>
                </a:cubicBezTo>
                <a:lnTo>
                  <a:pt x="594" y="1464852"/>
                </a:lnTo>
                <a:lnTo>
                  <a:pt x="1092" y="1464884"/>
                </a:lnTo>
                <a:close/>
                <a:moveTo>
                  <a:pt x="7762529" y="750600"/>
                </a:moveTo>
                <a:cubicBezTo>
                  <a:pt x="7815805" y="1021506"/>
                  <a:pt x="8030648" y="1236303"/>
                  <a:pt x="8305838" y="1295446"/>
                </a:cubicBezTo>
                <a:cubicBezTo>
                  <a:pt x="8252563" y="1024540"/>
                  <a:pt x="8037719" y="809743"/>
                  <a:pt x="7762529" y="750600"/>
                </a:cubicBezTo>
                <a:close/>
                <a:moveTo>
                  <a:pt x="7455280" y="750600"/>
                </a:moveTo>
                <a:cubicBezTo>
                  <a:pt x="7180090" y="809743"/>
                  <a:pt x="6965246" y="1024540"/>
                  <a:pt x="6911971" y="1295446"/>
                </a:cubicBezTo>
                <a:cubicBezTo>
                  <a:pt x="7187161" y="1236303"/>
                  <a:pt x="7402004" y="1021506"/>
                  <a:pt x="7455280" y="750600"/>
                </a:cubicBezTo>
                <a:close/>
                <a:moveTo>
                  <a:pt x="6070378" y="750600"/>
                </a:moveTo>
                <a:cubicBezTo>
                  <a:pt x="6123654" y="1021506"/>
                  <a:pt x="6338497" y="1236303"/>
                  <a:pt x="6613687" y="1295446"/>
                </a:cubicBezTo>
                <a:cubicBezTo>
                  <a:pt x="6560412" y="1024540"/>
                  <a:pt x="6345568" y="809743"/>
                  <a:pt x="6070378" y="750600"/>
                </a:cubicBezTo>
                <a:close/>
                <a:moveTo>
                  <a:pt x="5763129" y="750600"/>
                </a:moveTo>
                <a:cubicBezTo>
                  <a:pt x="5487939" y="809743"/>
                  <a:pt x="5273095" y="1024540"/>
                  <a:pt x="5219820" y="1295446"/>
                </a:cubicBezTo>
                <a:cubicBezTo>
                  <a:pt x="5495010" y="1236303"/>
                  <a:pt x="5709853" y="1021506"/>
                  <a:pt x="5763129" y="750600"/>
                </a:cubicBezTo>
                <a:close/>
                <a:moveTo>
                  <a:pt x="4378227" y="750600"/>
                </a:moveTo>
                <a:cubicBezTo>
                  <a:pt x="4431503" y="1021506"/>
                  <a:pt x="4646346" y="1236303"/>
                  <a:pt x="4921536" y="1295446"/>
                </a:cubicBezTo>
                <a:cubicBezTo>
                  <a:pt x="4868261" y="1024540"/>
                  <a:pt x="4653417" y="809743"/>
                  <a:pt x="4378227" y="750600"/>
                </a:cubicBezTo>
                <a:close/>
                <a:moveTo>
                  <a:pt x="4070978" y="750600"/>
                </a:moveTo>
                <a:cubicBezTo>
                  <a:pt x="3795788" y="809743"/>
                  <a:pt x="3580944" y="1024540"/>
                  <a:pt x="3527669" y="1295446"/>
                </a:cubicBezTo>
                <a:cubicBezTo>
                  <a:pt x="3802859" y="1236303"/>
                  <a:pt x="4017702" y="1021506"/>
                  <a:pt x="4070978" y="750600"/>
                </a:cubicBezTo>
                <a:close/>
                <a:moveTo>
                  <a:pt x="2686076" y="750600"/>
                </a:moveTo>
                <a:cubicBezTo>
                  <a:pt x="2739352" y="1021506"/>
                  <a:pt x="2954195" y="1236303"/>
                  <a:pt x="3229385" y="1295446"/>
                </a:cubicBezTo>
                <a:cubicBezTo>
                  <a:pt x="3176110" y="1024540"/>
                  <a:pt x="2961266" y="809743"/>
                  <a:pt x="2686076" y="750600"/>
                </a:cubicBezTo>
                <a:close/>
                <a:moveTo>
                  <a:pt x="2378827" y="750600"/>
                </a:moveTo>
                <a:cubicBezTo>
                  <a:pt x="2103637" y="809743"/>
                  <a:pt x="1888793" y="1024540"/>
                  <a:pt x="1835518" y="1295446"/>
                </a:cubicBezTo>
                <a:cubicBezTo>
                  <a:pt x="2110708" y="1236303"/>
                  <a:pt x="2325551" y="1021506"/>
                  <a:pt x="2378827" y="750600"/>
                </a:cubicBezTo>
                <a:close/>
                <a:moveTo>
                  <a:pt x="993925" y="750600"/>
                </a:moveTo>
                <a:cubicBezTo>
                  <a:pt x="1047201" y="1021506"/>
                  <a:pt x="1262044" y="1236303"/>
                  <a:pt x="1537234" y="1295446"/>
                </a:cubicBezTo>
                <a:cubicBezTo>
                  <a:pt x="1483959" y="1024540"/>
                  <a:pt x="1269115" y="809743"/>
                  <a:pt x="993925" y="750600"/>
                </a:cubicBezTo>
                <a:close/>
                <a:moveTo>
                  <a:pt x="686676" y="750600"/>
                </a:moveTo>
                <a:cubicBezTo>
                  <a:pt x="411486" y="809743"/>
                  <a:pt x="196642" y="1024540"/>
                  <a:pt x="143367" y="1295446"/>
                </a:cubicBezTo>
                <a:cubicBezTo>
                  <a:pt x="418557" y="1236303"/>
                  <a:pt x="633400" y="1021506"/>
                  <a:pt x="686676" y="750600"/>
                </a:cubicBezTo>
                <a:close/>
                <a:moveTo>
                  <a:pt x="9139239" y="624486"/>
                </a:moveTo>
                <a:lnTo>
                  <a:pt x="9139239" y="752995"/>
                </a:lnTo>
                <a:lnTo>
                  <a:pt x="9047261" y="779881"/>
                </a:lnTo>
                <a:cubicBezTo>
                  <a:pt x="8821055" y="864319"/>
                  <a:pt x="8650738" y="1058403"/>
                  <a:pt x="8604122" y="1295446"/>
                </a:cubicBezTo>
                <a:cubicBezTo>
                  <a:pt x="8844913" y="1243696"/>
                  <a:pt x="9039501" y="1072773"/>
                  <a:pt x="9120077" y="849365"/>
                </a:cubicBezTo>
                <a:lnTo>
                  <a:pt x="9139239" y="780178"/>
                </a:lnTo>
                <a:lnTo>
                  <a:pt x="9139239" y="1085737"/>
                </a:lnTo>
                <a:lnTo>
                  <a:pt x="9135069" y="1092549"/>
                </a:lnTo>
                <a:cubicBezTo>
                  <a:pt x="9008919" y="1266178"/>
                  <a:pt x="8815033" y="1389778"/>
                  <a:pt x="8590751" y="1426902"/>
                </a:cubicBezTo>
                <a:lnTo>
                  <a:pt x="8590635" y="1428050"/>
                </a:lnTo>
                <a:cubicBezTo>
                  <a:pt x="8585324" y="1429061"/>
                  <a:pt x="8579995" y="1430009"/>
                  <a:pt x="8574418" y="1429590"/>
                </a:cubicBezTo>
                <a:cubicBezTo>
                  <a:pt x="8543246" y="1435144"/>
                  <a:pt x="8511366" y="1438125"/>
                  <a:pt x="8478991" y="1438652"/>
                </a:cubicBezTo>
                <a:lnTo>
                  <a:pt x="8461873" y="1440278"/>
                </a:lnTo>
                <a:lnTo>
                  <a:pt x="8461847" y="1439783"/>
                </a:lnTo>
                <a:lnTo>
                  <a:pt x="8461348" y="1439816"/>
                </a:lnTo>
                <a:cubicBezTo>
                  <a:pt x="8460782" y="1436014"/>
                  <a:pt x="8460755" y="1432198"/>
                  <a:pt x="8460755" y="1428376"/>
                </a:cubicBezTo>
                <a:cubicBezTo>
                  <a:pt x="8460755" y="1422694"/>
                  <a:pt x="8460814" y="1417025"/>
                  <a:pt x="8462126" y="1411395"/>
                </a:cubicBezTo>
                <a:cubicBezTo>
                  <a:pt x="8462083" y="1380067"/>
                  <a:pt x="8464533" y="1349182"/>
                  <a:pt x="8469590" y="1318938"/>
                </a:cubicBezTo>
                <a:lnTo>
                  <a:pt x="8470130" y="1312248"/>
                </a:lnTo>
                <a:cubicBezTo>
                  <a:pt x="8470299" y="1312243"/>
                  <a:pt x="8470468" y="1312238"/>
                  <a:pt x="8470636" y="1312185"/>
                </a:cubicBezTo>
                <a:cubicBezTo>
                  <a:pt x="8514628" y="1003427"/>
                  <a:pt x="8735297" y="749863"/>
                  <a:pt x="9030178" y="651504"/>
                </a:cubicBezTo>
                <a:close/>
                <a:moveTo>
                  <a:pt x="7620280" y="605769"/>
                </a:moveTo>
                <a:lnTo>
                  <a:pt x="7637367" y="607392"/>
                </a:lnTo>
                <a:cubicBezTo>
                  <a:pt x="7669753" y="607919"/>
                  <a:pt x="7701646" y="610900"/>
                  <a:pt x="7732829" y="616457"/>
                </a:cubicBezTo>
                <a:cubicBezTo>
                  <a:pt x="7738405" y="616038"/>
                  <a:pt x="7743733" y="616986"/>
                  <a:pt x="7749042" y="617996"/>
                </a:cubicBezTo>
                <a:lnTo>
                  <a:pt x="7749159" y="619144"/>
                </a:lnTo>
                <a:cubicBezTo>
                  <a:pt x="8108009" y="678542"/>
                  <a:pt x="8389048" y="959319"/>
                  <a:pt x="8439324" y="1312185"/>
                </a:cubicBezTo>
                <a:cubicBezTo>
                  <a:pt x="8439492" y="1312238"/>
                  <a:pt x="8439661" y="1312243"/>
                  <a:pt x="8439830" y="1312248"/>
                </a:cubicBezTo>
                <a:lnTo>
                  <a:pt x="8440370" y="1318938"/>
                </a:lnTo>
                <a:cubicBezTo>
                  <a:pt x="8445427" y="1349182"/>
                  <a:pt x="8447877" y="1380067"/>
                  <a:pt x="8447834" y="1411395"/>
                </a:cubicBezTo>
                <a:cubicBezTo>
                  <a:pt x="8449146" y="1417025"/>
                  <a:pt x="8449205" y="1422694"/>
                  <a:pt x="8449205" y="1428376"/>
                </a:cubicBezTo>
                <a:cubicBezTo>
                  <a:pt x="8449205" y="1432198"/>
                  <a:pt x="8449178" y="1436014"/>
                  <a:pt x="8448612" y="1439816"/>
                </a:cubicBezTo>
                <a:lnTo>
                  <a:pt x="8448113" y="1439783"/>
                </a:lnTo>
                <a:lnTo>
                  <a:pt x="8448087" y="1440278"/>
                </a:lnTo>
                <a:lnTo>
                  <a:pt x="8430969" y="1438652"/>
                </a:lnTo>
                <a:cubicBezTo>
                  <a:pt x="8398594" y="1438125"/>
                  <a:pt x="8366714" y="1435144"/>
                  <a:pt x="8335542" y="1429590"/>
                </a:cubicBezTo>
                <a:cubicBezTo>
                  <a:pt x="8329965" y="1430009"/>
                  <a:pt x="8324636" y="1429061"/>
                  <a:pt x="8319325" y="1428050"/>
                </a:cubicBezTo>
                <a:lnTo>
                  <a:pt x="8319209" y="1426902"/>
                </a:lnTo>
                <a:cubicBezTo>
                  <a:pt x="7960358" y="1367503"/>
                  <a:pt x="7679319" y="1086726"/>
                  <a:pt x="7629044" y="733861"/>
                </a:cubicBezTo>
                <a:cubicBezTo>
                  <a:pt x="7628876" y="733808"/>
                  <a:pt x="7628708" y="733803"/>
                  <a:pt x="7628538" y="733798"/>
                </a:cubicBezTo>
                <a:lnTo>
                  <a:pt x="7628000" y="727122"/>
                </a:lnTo>
                <a:cubicBezTo>
                  <a:pt x="7622941" y="696872"/>
                  <a:pt x="7620490" y="665981"/>
                  <a:pt x="7620533" y="634646"/>
                </a:cubicBezTo>
                <a:cubicBezTo>
                  <a:pt x="7619221" y="629018"/>
                  <a:pt x="7619162" y="623351"/>
                  <a:pt x="7619162" y="617670"/>
                </a:cubicBezTo>
                <a:lnTo>
                  <a:pt x="7619756" y="606230"/>
                </a:lnTo>
                <a:lnTo>
                  <a:pt x="7620254" y="606263"/>
                </a:lnTo>
                <a:close/>
                <a:moveTo>
                  <a:pt x="7597529" y="605769"/>
                </a:moveTo>
                <a:lnTo>
                  <a:pt x="7597555" y="606263"/>
                </a:lnTo>
                <a:lnTo>
                  <a:pt x="7598053" y="606230"/>
                </a:lnTo>
                <a:lnTo>
                  <a:pt x="7598647" y="617670"/>
                </a:lnTo>
                <a:cubicBezTo>
                  <a:pt x="7598647" y="623351"/>
                  <a:pt x="7598588" y="629018"/>
                  <a:pt x="7597276" y="634646"/>
                </a:cubicBezTo>
                <a:cubicBezTo>
                  <a:pt x="7597319" y="665981"/>
                  <a:pt x="7594868" y="696872"/>
                  <a:pt x="7589809" y="727122"/>
                </a:cubicBezTo>
                <a:lnTo>
                  <a:pt x="7589271" y="733798"/>
                </a:lnTo>
                <a:cubicBezTo>
                  <a:pt x="7589101" y="733803"/>
                  <a:pt x="7588933" y="733808"/>
                  <a:pt x="7588765" y="733861"/>
                </a:cubicBezTo>
                <a:cubicBezTo>
                  <a:pt x="7538490" y="1086726"/>
                  <a:pt x="7257451" y="1367503"/>
                  <a:pt x="6898600" y="1426902"/>
                </a:cubicBezTo>
                <a:lnTo>
                  <a:pt x="6898484" y="1428050"/>
                </a:lnTo>
                <a:cubicBezTo>
                  <a:pt x="6893173" y="1429061"/>
                  <a:pt x="6887844" y="1430009"/>
                  <a:pt x="6882267" y="1429590"/>
                </a:cubicBezTo>
                <a:cubicBezTo>
                  <a:pt x="6851095" y="1435144"/>
                  <a:pt x="6819215" y="1438125"/>
                  <a:pt x="6786841" y="1438652"/>
                </a:cubicBezTo>
                <a:lnTo>
                  <a:pt x="6769722" y="1440278"/>
                </a:lnTo>
                <a:lnTo>
                  <a:pt x="6769696" y="1439783"/>
                </a:lnTo>
                <a:lnTo>
                  <a:pt x="6769197" y="1439816"/>
                </a:lnTo>
                <a:cubicBezTo>
                  <a:pt x="6768631" y="1436014"/>
                  <a:pt x="6768604" y="1432198"/>
                  <a:pt x="6768604" y="1428376"/>
                </a:cubicBezTo>
                <a:cubicBezTo>
                  <a:pt x="6768604" y="1422694"/>
                  <a:pt x="6768663" y="1417025"/>
                  <a:pt x="6769975" y="1411395"/>
                </a:cubicBezTo>
                <a:cubicBezTo>
                  <a:pt x="6769933" y="1380067"/>
                  <a:pt x="6772382" y="1349182"/>
                  <a:pt x="6777439" y="1318938"/>
                </a:cubicBezTo>
                <a:lnTo>
                  <a:pt x="6777979" y="1312248"/>
                </a:lnTo>
                <a:cubicBezTo>
                  <a:pt x="6778148" y="1312243"/>
                  <a:pt x="6778317" y="1312238"/>
                  <a:pt x="6778485" y="1312185"/>
                </a:cubicBezTo>
                <a:cubicBezTo>
                  <a:pt x="6828761" y="959319"/>
                  <a:pt x="7109800" y="678542"/>
                  <a:pt x="7468650" y="619144"/>
                </a:cubicBezTo>
                <a:lnTo>
                  <a:pt x="7468767" y="617996"/>
                </a:lnTo>
                <a:cubicBezTo>
                  <a:pt x="7474076" y="616986"/>
                  <a:pt x="7479404" y="616038"/>
                  <a:pt x="7484980" y="616457"/>
                </a:cubicBezTo>
                <a:cubicBezTo>
                  <a:pt x="7516163" y="610900"/>
                  <a:pt x="7548056" y="607919"/>
                  <a:pt x="7580442" y="607392"/>
                </a:cubicBezTo>
                <a:close/>
                <a:moveTo>
                  <a:pt x="5928129" y="605769"/>
                </a:moveTo>
                <a:lnTo>
                  <a:pt x="5945217" y="607392"/>
                </a:lnTo>
                <a:cubicBezTo>
                  <a:pt x="5977602" y="607919"/>
                  <a:pt x="6009495" y="610900"/>
                  <a:pt x="6040678" y="616457"/>
                </a:cubicBezTo>
                <a:cubicBezTo>
                  <a:pt x="6046254" y="616038"/>
                  <a:pt x="6051582" y="616986"/>
                  <a:pt x="6056891" y="617996"/>
                </a:cubicBezTo>
                <a:lnTo>
                  <a:pt x="6057008" y="619144"/>
                </a:lnTo>
                <a:cubicBezTo>
                  <a:pt x="6415858" y="678542"/>
                  <a:pt x="6696897" y="959319"/>
                  <a:pt x="6747174" y="1312185"/>
                </a:cubicBezTo>
                <a:cubicBezTo>
                  <a:pt x="6747341" y="1312238"/>
                  <a:pt x="6747511" y="1312243"/>
                  <a:pt x="6747679" y="1312248"/>
                </a:cubicBezTo>
                <a:lnTo>
                  <a:pt x="6748220" y="1318938"/>
                </a:lnTo>
                <a:cubicBezTo>
                  <a:pt x="6753276" y="1349182"/>
                  <a:pt x="6755726" y="1380067"/>
                  <a:pt x="6755684" y="1411395"/>
                </a:cubicBezTo>
                <a:cubicBezTo>
                  <a:pt x="6756996" y="1417025"/>
                  <a:pt x="6757054" y="1422694"/>
                  <a:pt x="6757054" y="1428376"/>
                </a:cubicBezTo>
                <a:cubicBezTo>
                  <a:pt x="6757054" y="1432198"/>
                  <a:pt x="6757027" y="1436014"/>
                  <a:pt x="6756461" y="1439816"/>
                </a:cubicBezTo>
                <a:lnTo>
                  <a:pt x="6755962" y="1439783"/>
                </a:lnTo>
                <a:lnTo>
                  <a:pt x="6755936" y="1440278"/>
                </a:lnTo>
                <a:lnTo>
                  <a:pt x="6738818" y="1438652"/>
                </a:lnTo>
                <a:cubicBezTo>
                  <a:pt x="6706444" y="1438125"/>
                  <a:pt x="6674563" y="1435144"/>
                  <a:pt x="6643391" y="1429590"/>
                </a:cubicBezTo>
                <a:cubicBezTo>
                  <a:pt x="6637814" y="1430009"/>
                  <a:pt x="6632485" y="1429061"/>
                  <a:pt x="6627175" y="1428050"/>
                </a:cubicBezTo>
                <a:lnTo>
                  <a:pt x="6627059" y="1426902"/>
                </a:lnTo>
                <a:cubicBezTo>
                  <a:pt x="6268207" y="1367503"/>
                  <a:pt x="5987168" y="1086726"/>
                  <a:pt x="5936893" y="733861"/>
                </a:cubicBezTo>
                <a:cubicBezTo>
                  <a:pt x="5936725" y="733808"/>
                  <a:pt x="5936557" y="733803"/>
                  <a:pt x="5936387" y="733798"/>
                </a:cubicBezTo>
                <a:lnTo>
                  <a:pt x="5935849" y="727122"/>
                </a:lnTo>
                <a:cubicBezTo>
                  <a:pt x="5930790" y="696872"/>
                  <a:pt x="5928340" y="665981"/>
                  <a:pt x="5928382" y="634646"/>
                </a:cubicBezTo>
                <a:cubicBezTo>
                  <a:pt x="5927070" y="629018"/>
                  <a:pt x="5927011" y="623351"/>
                  <a:pt x="5927011" y="617670"/>
                </a:cubicBezTo>
                <a:lnTo>
                  <a:pt x="5927605" y="606230"/>
                </a:lnTo>
                <a:lnTo>
                  <a:pt x="5928103" y="606263"/>
                </a:lnTo>
                <a:close/>
                <a:moveTo>
                  <a:pt x="5905378" y="605769"/>
                </a:moveTo>
                <a:lnTo>
                  <a:pt x="5905404" y="606263"/>
                </a:lnTo>
                <a:lnTo>
                  <a:pt x="5905902" y="606230"/>
                </a:lnTo>
                <a:lnTo>
                  <a:pt x="5906496" y="617670"/>
                </a:lnTo>
                <a:cubicBezTo>
                  <a:pt x="5906496" y="623351"/>
                  <a:pt x="5906438" y="629018"/>
                  <a:pt x="5905126" y="634646"/>
                </a:cubicBezTo>
                <a:cubicBezTo>
                  <a:pt x="5905168" y="665981"/>
                  <a:pt x="5902717" y="696872"/>
                  <a:pt x="5897659" y="727122"/>
                </a:cubicBezTo>
                <a:lnTo>
                  <a:pt x="5897120" y="733798"/>
                </a:lnTo>
                <a:cubicBezTo>
                  <a:pt x="5896951" y="733803"/>
                  <a:pt x="5896782" y="733808"/>
                  <a:pt x="5896615" y="733861"/>
                </a:cubicBezTo>
                <a:cubicBezTo>
                  <a:pt x="5846339" y="1086726"/>
                  <a:pt x="5565300" y="1367503"/>
                  <a:pt x="5206449" y="1426902"/>
                </a:cubicBezTo>
                <a:lnTo>
                  <a:pt x="5206334" y="1428050"/>
                </a:lnTo>
                <a:cubicBezTo>
                  <a:pt x="5201022" y="1429061"/>
                  <a:pt x="5195693" y="1430009"/>
                  <a:pt x="5190116" y="1429590"/>
                </a:cubicBezTo>
                <a:cubicBezTo>
                  <a:pt x="5158944" y="1435144"/>
                  <a:pt x="5127065" y="1438125"/>
                  <a:pt x="5094690" y="1438652"/>
                </a:cubicBezTo>
                <a:lnTo>
                  <a:pt x="5077571" y="1440278"/>
                </a:lnTo>
                <a:lnTo>
                  <a:pt x="5077545" y="1439783"/>
                </a:lnTo>
                <a:lnTo>
                  <a:pt x="5077046" y="1439816"/>
                </a:lnTo>
                <a:cubicBezTo>
                  <a:pt x="5076480" y="1436014"/>
                  <a:pt x="5076453" y="1432198"/>
                  <a:pt x="5076453" y="1428376"/>
                </a:cubicBezTo>
                <a:cubicBezTo>
                  <a:pt x="5076453" y="1422694"/>
                  <a:pt x="5076512" y="1417025"/>
                  <a:pt x="5077824" y="1411395"/>
                </a:cubicBezTo>
                <a:cubicBezTo>
                  <a:pt x="5077782" y="1380067"/>
                  <a:pt x="5080231" y="1349182"/>
                  <a:pt x="5085288" y="1318938"/>
                </a:cubicBezTo>
                <a:lnTo>
                  <a:pt x="5085828" y="1312248"/>
                </a:lnTo>
                <a:cubicBezTo>
                  <a:pt x="5085997" y="1312243"/>
                  <a:pt x="5086166" y="1312238"/>
                  <a:pt x="5086334" y="1312185"/>
                </a:cubicBezTo>
                <a:cubicBezTo>
                  <a:pt x="5136610" y="959319"/>
                  <a:pt x="5417649" y="678542"/>
                  <a:pt x="5776501" y="619144"/>
                </a:cubicBezTo>
                <a:lnTo>
                  <a:pt x="5776617" y="617996"/>
                </a:lnTo>
                <a:cubicBezTo>
                  <a:pt x="5781926" y="616986"/>
                  <a:pt x="5787253" y="616038"/>
                  <a:pt x="5792829" y="616457"/>
                </a:cubicBezTo>
                <a:cubicBezTo>
                  <a:pt x="5824013" y="610900"/>
                  <a:pt x="5855905" y="607919"/>
                  <a:pt x="5888291" y="607392"/>
                </a:cubicBezTo>
                <a:close/>
                <a:moveTo>
                  <a:pt x="4235979" y="605769"/>
                </a:moveTo>
                <a:lnTo>
                  <a:pt x="4253065" y="607392"/>
                </a:lnTo>
                <a:cubicBezTo>
                  <a:pt x="4285451" y="607919"/>
                  <a:pt x="4317343" y="610900"/>
                  <a:pt x="4348528" y="616457"/>
                </a:cubicBezTo>
                <a:cubicBezTo>
                  <a:pt x="4354104" y="616038"/>
                  <a:pt x="4359431" y="616986"/>
                  <a:pt x="4364739" y="617996"/>
                </a:cubicBezTo>
                <a:lnTo>
                  <a:pt x="4364856" y="619144"/>
                </a:lnTo>
                <a:cubicBezTo>
                  <a:pt x="4723707" y="678542"/>
                  <a:pt x="5004746" y="959319"/>
                  <a:pt x="5055022" y="1312185"/>
                </a:cubicBezTo>
                <a:cubicBezTo>
                  <a:pt x="5055190" y="1312238"/>
                  <a:pt x="5055359" y="1312243"/>
                  <a:pt x="5055528" y="1312248"/>
                </a:cubicBezTo>
                <a:lnTo>
                  <a:pt x="5056068" y="1318938"/>
                </a:lnTo>
                <a:cubicBezTo>
                  <a:pt x="5061125" y="1349182"/>
                  <a:pt x="5063574" y="1380067"/>
                  <a:pt x="5063532" y="1411395"/>
                </a:cubicBezTo>
                <a:cubicBezTo>
                  <a:pt x="5064844" y="1417025"/>
                  <a:pt x="5064903" y="1422694"/>
                  <a:pt x="5064903" y="1428376"/>
                </a:cubicBezTo>
                <a:cubicBezTo>
                  <a:pt x="5064903" y="1432198"/>
                  <a:pt x="5064876" y="1436014"/>
                  <a:pt x="5064310" y="1439816"/>
                </a:cubicBezTo>
                <a:lnTo>
                  <a:pt x="5063811" y="1439783"/>
                </a:lnTo>
                <a:lnTo>
                  <a:pt x="5063785" y="1440278"/>
                </a:lnTo>
                <a:lnTo>
                  <a:pt x="5046666" y="1438652"/>
                </a:lnTo>
                <a:cubicBezTo>
                  <a:pt x="5014292" y="1438125"/>
                  <a:pt x="4982412" y="1435144"/>
                  <a:pt x="4951241" y="1429590"/>
                </a:cubicBezTo>
                <a:cubicBezTo>
                  <a:pt x="4945663" y="1430009"/>
                  <a:pt x="4940334" y="1429061"/>
                  <a:pt x="4935023" y="1428050"/>
                </a:cubicBezTo>
                <a:lnTo>
                  <a:pt x="4934907" y="1426902"/>
                </a:lnTo>
                <a:cubicBezTo>
                  <a:pt x="4576056" y="1367503"/>
                  <a:pt x="4295017" y="1086726"/>
                  <a:pt x="4244741" y="733861"/>
                </a:cubicBezTo>
                <a:cubicBezTo>
                  <a:pt x="4244574" y="733808"/>
                  <a:pt x="4244405" y="733803"/>
                  <a:pt x="4244236" y="733798"/>
                </a:cubicBezTo>
                <a:lnTo>
                  <a:pt x="4243697" y="727122"/>
                </a:lnTo>
                <a:cubicBezTo>
                  <a:pt x="4238639" y="696872"/>
                  <a:pt x="4236188" y="665981"/>
                  <a:pt x="4236230" y="634646"/>
                </a:cubicBezTo>
                <a:cubicBezTo>
                  <a:pt x="4234918" y="629018"/>
                  <a:pt x="4234860" y="623351"/>
                  <a:pt x="4234860" y="617670"/>
                </a:cubicBezTo>
                <a:lnTo>
                  <a:pt x="4235454" y="606230"/>
                </a:lnTo>
                <a:lnTo>
                  <a:pt x="4235952" y="606263"/>
                </a:lnTo>
                <a:close/>
                <a:moveTo>
                  <a:pt x="4213227" y="605769"/>
                </a:moveTo>
                <a:lnTo>
                  <a:pt x="4213253" y="606263"/>
                </a:lnTo>
                <a:lnTo>
                  <a:pt x="4213751" y="606230"/>
                </a:lnTo>
                <a:lnTo>
                  <a:pt x="4214345" y="617670"/>
                </a:lnTo>
                <a:cubicBezTo>
                  <a:pt x="4214345" y="623351"/>
                  <a:pt x="4214286" y="629018"/>
                  <a:pt x="4212974" y="634646"/>
                </a:cubicBezTo>
                <a:cubicBezTo>
                  <a:pt x="4213016" y="665981"/>
                  <a:pt x="4210566" y="696872"/>
                  <a:pt x="4205507" y="727122"/>
                </a:cubicBezTo>
                <a:lnTo>
                  <a:pt x="4204969" y="733798"/>
                </a:lnTo>
                <a:cubicBezTo>
                  <a:pt x="4204799" y="733803"/>
                  <a:pt x="4204631" y="733808"/>
                  <a:pt x="4204463" y="733861"/>
                </a:cubicBezTo>
                <a:cubicBezTo>
                  <a:pt x="4154188" y="1086726"/>
                  <a:pt x="3873149" y="1367503"/>
                  <a:pt x="3514297" y="1426902"/>
                </a:cubicBezTo>
                <a:lnTo>
                  <a:pt x="3514181" y="1428050"/>
                </a:lnTo>
                <a:cubicBezTo>
                  <a:pt x="3508871" y="1429061"/>
                  <a:pt x="3503542" y="1430009"/>
                  <a:pt x="3497965" y="1429590"/>
                </a:cubicBezTo>
                <a:cubicBezTo>
                  <a:pt x="3466793" y="1435144"/>
                  <a:pt x="3434912" y="1438125"/>
                  <a:pt x="3402538" y="1438652"/>
                </a:cubicBezTo>
                <a:lnTo>
                  <a:pt x="3385420" y="1440278"/>
                </a:lnTo>
                <a:lnTo>
                  <a:pt x="3385394" y="1439783"/>
                </a:lnTo>
                <a:lnTo>
                  <a:pt x="3384895" y="1439816"/>
                </a:lnTo>
                <a:cubicBezTo>
                  <a:pt x="3384329" y="1436014"/>
                  <a:pt x="3384302" y="1432198"/>
                  <a:pt x="3384302" y="1428376"/>
                </a:cubicBezTo>
                <a:cubicBezTo>
                  <a:pt x="3384302" y="1422694"/>
                  <a:pt x="3384360" y="1417025"/>
                  <a:pt x="3385672" y="1411395"/>
                </a:cubicBezTo>
                <a:cubicBezTo>
                  <a:pt x="3385630" y="1380067"/>
                  <a:pt x="3388080" y="1349182"/>
                  <a:pt x="3393136" y="1318938"/>
                </a:cubicBezTo>
                <a:lnTo>
                  <a:pt x="3393677" y="1312248"/>
                </a:lnTo>
                <a:cubicBezTo>
                  <a:pt x="3393845" y="1312243"/>
                  <a:pt x="3394015" y="1312238"/>
                  <a:pt x="3394182" y="1312185"/>
                </a:cubicBezTo>
                <a:cubicBezTo>
                  <a:pt x="3444459" y="959319"/>
                  <a:pt x="3725498" y="678542"/>
                  <a:pt x="4084348" y="619144"/>
                </a:cubicBezTo>
                <a:lnTo>
                  <a:pt x="4084465" y="617996"/>
                </a:lnTo>
                <a:cubicBezTo>
                  <a:pt x="4089774" y="616986"/>
                  <a:pt x="4095102" y="616038"/>
                  <a:pt x="4100678" y="616457"/>
                </a:cubicBezTo>
                <a:cubicBezTo>
                  <a:pt x="4131861" y="610900"/>
                  <a:pt x="4163754" y="607919"/>
                  <a:pt x="4196139" y="607392"/>
                </a:cubicBezTo>
                <a:close/>
                <a:moveTo>
                  <a:pt x="2543827" y="605769"/>
                </a:moveTo>
                <a:lnTo>
                  <a:pt x="2560914" y="607392"/>
                </a:lnTo>
                <a:cubicBezTo>
                  <a:pt x="2593300" y="607919"/>
                  <a:pt x="2625192" y="610900"/>
                  <a:pt x="2656376" y="616457"/>
                </a:cubicBezTo>
                <a:cubicBezTo>
                  <a:pt x="2661952" y="616038"/>
                  <a:pt x="2667280" y="616986"/>
                  <a:pt x="2672588" y="617996"/>
                </a:cubicBezTo>
                <a:lnTo>
                  <a:pt x="2672706" y="619144"/>
                </a:lnTo>
                <a:cubicBezTo>
                  <a:pt x="3031556" y="678542"/>
                  <a:pt x="3312595" y="959319"/>
                  <a:pt x="3362871" y="1312185"/>
                </a:cubicBezTo>
                <a:cubicBezTo>
                  <a:pt x="3363039" y="1312238"/>
                  <a:pt x="3363208" y="1312243"/>
                  <a:pt x="3363377" y="1312248"/>
                </a:cubicBezTo>
                <a:lnTo>
                  <a:pt x="3363917" y="1318938"/>
                </a:lnTo>
                <a:cubicBezTo>
                  <a:pt x="3368974" y="1349182"/>
                  <a:pt x="3371423" y="1380067"/>
                  <a:pt x="3371381" y="1411395"/>
                </a:cubicBezTo>
                <a:cubicBezTo>
                  <a:pt x="3372693" y="1417025"/>
                  <a:pt x="3372752" y="1422694"/>
                  <a:pt x="3372752" y="1428376"/>
                </a:cubicBezTo>
                <a:cubicBezTo>
                  <a:pt x="3372752" y="1432198"/>
                  <a:pt x="3372725" y="1436014"/>
                  <a:pt x="3372159" y="1439816"/>
                </a:cubicBezTo>
                <a:lnTo>
                  <a:pt x="3371660" y="1439783"/>
                </a:lnTo>
                <a:lnTo>
                  <a:pt x="3371634" y="1440278"/>
                </a:lnTo>
                <a:lnTo>
                  <a:pt x="3354515" y="1438652"/>
                </a:lnTo>
                <a:cubicBezTo>
                  <a:pt x="3322141" y="1438125"/>
                  <a:pt x="3290261" y="1435144"/>
                  <a:pt x="3259089" y="1429590"/>
                </a:cubicBezTo>
                <a:cubicBezTo>
                  <a:pt x="3253512" y="1430009"/>
                  <a:pt x="3248183" y="1429061"/>
                  <a:pt x="3242872" y="1428050"/>
                </a:cubicBezTo>
                <a:lnTo>
                  <a:pt x="3242756" y="1426902"/>
                </a:lnTo>
                <a:cubicBezTo>
                  <a:pt x="2883905" y="1367503"/>
                  <a:pt x="2602866" y="1086726"/>
                  <a:pt x="2552590" y="733861"/>
                </a:cubicBezTo>
                <a:cubicBezTo>
                  <a:pt x="2552423" y="733808"/>
                  <a:pt x="2552254" y="733803"/>
                  <a:pt x="2552085" y="733798"/>
                </a:cubicBezTo>
                <a:lnTo>
                  <a:pt x="2551547" y="727122"/>
                </a:lnTo>
                <a:cubicBezTo>
                  <a:pt x="2546488" y="696872"/>
                  <a:pt x="2544037" y="665981"/>
                  <a:pt x="2544079" y="634646"/>
                </a:cubicBezTo>
                <a:cubicBezTo>
                  <a:pt x="2542767" y="629018"/>
                  <a:pt x="2542709" y="623351"/>
                  <a:pt x="2542709" y="617670"/>
                </a:cubicBezTo>
                <a:lnTo>
                  <a:pt x="2543303" y="606230"/>
                </a:lnTo>
                <a:lnTo>
                  <a:pt x="2543801" y="606263"/>
                </a:lnTo>
                <a:close/>
                <a:moveTo>
                  <a:pt x="2521076" y="605769"/>
                </a:moveTo>
                <a:lnTo>
                  <a:pt x="2521102" y="606263"/>
                </a:lnTo>
                <a:lnTo>
                  <a:pt x="2521600" y="606230"/>
                </a:lnTo>
                <a:lnTo>
                  <a:pt x="2522194" y="617670"/>
                </a:lnTo>
                <a:cubicBezTo>
                  <a:pt x="2522194" y="623351"/>
                  <a:pt x="2522135" y="629018"/>
                  <a:pt x="2520823" y="634646"/>
                </a:cubicBezTo>
                <a:cubicBezTo>
                  <a:pt x="2520865" y="665981"/>
                  <a:pt x="2518415" y="696872"/>
                  <a:pt x="2513356" y="727122"/>
                </a:cubicBezTo>
                <a:lnTo>
                  <a:pt x="2512818" y="733798"/>
                </a:lnTo>
                <a:cubicBezTo>
                  <a:pt x="2512648" y="733803"/>
                  <a:pt x="2512480" y="733808"/>
                  <a:pt x="2512312" y="733861"/>
                </a:cubicBezTo>
                <a:cubicBezTo>
                  <a:pt x="2462037" y="1086726"/>
                  <a:pt x="2180998" y="1367503"/>
                  <a:pt x="1822147" y="1426902"/>
                </a:cubicBezTo>
                <a:lnTo>
                  <a:pt x="1822030" y="1428050"/>
                </a:lnTo>
                <a:cubicBezTo>
                  <a:pt x="1816720" y="1429061"/>
                  <a:pt x="1811391" y="1430009"/>
                  <a:pt x="1805814" y="1429590"/>
                </a:cubicBezTo>
                <a:cubicBezTo>
                  <a:pt x="1774642" y="1435144"/>
                  <a:pt x="1742762" y="1438125"/>
                  <a:pt x="1710387" y="1438652"/>
                </a:cubicBezTo>
                <a:lnTo>
                  <a:pt x="1693269" y="1440278"/>
                </a:lnTo>
                <a:lnTo>
                  <a:pt x="1693243" y="1439783"/>
                </a:lnTo>
                <a:lnTo>
                  <a:pt x="1692744" y="1439816"/>
                </a:lnTo>
                <a:cubicBezTo>
                  <a:pt x="1692178" y="1436014"/>
                  <a:pt x="1692151" y="1432198"/>
                  <a:pt x="1692151" y="1428376"/>
                </a:cubicBezTo>
                <a:cubicBezTo>
                  <a:pt x="1692151" y="1422694"/>
                  <a:pt x="1692209" y="1417025"/>
                  <a:pt x="1693521" y="1411395"/>
                </a:cubicBezTo>
                <a:cubicBezTo>
                  <a:pt x="1693479" y="1380067"/>
                  <a:pt x="1695929" y="1349182"/>
                  <a:pt x="1700985" y="1318938"/>
                </a:cubicBezTo>
                <a:lnTo>
                  <a:pt x="1701526" y="1312248"/>
                </a:lnTo>
                <a:cubicBezTo>
                  <a:pt x="1701694" y="1312243"/>
                  <a:pt x="1701864" y="1312238"/>
                  <a:pt x="1702031" y="1312185"/>
                </a:cubicBezTo>
                <a:cubicBezTo>
                  <a:pt x="1752308" y="959319"/>
                  <a:pt x="2033347" y="678542"/>
                  <a:pt x="2392197" y="619144"/>
                </a:cubicBezTo>
                <a:lnTo>
                  <a:pt x="2392314" y="617996"/>
                </a:lnTo>
                <a:cubicBezTo>
                  <a:pt x="2397623" y="616986"/>
                  <a:pt x="2402951" y="616038"/>
                  <a:pt x="2408527" y="616457"/>
                </a:cubicBezTo>
                <a:cubicBezTo>
                  <a:pt x="2439710" y="610900"/>
                  <a:pt x="2471603" y="607919"/>
                  <a:pt x="2503988" y="607392"/>
                </a:cubicBezTo>
                <a:close/>
                <a:moveTo>
                  <a:pt x="851676" y="605769"/>
                </a:moveTo>
                <a:lnTo>
                  <a:pt x="868763" y="607392"/>
                </a:lnTo>
                <a:cubicBezTo>
                  <a:pt x="901149" y="607919"/>
                  <a:pt x="933041" y="610900"/>
                  <a:pt x="964225" y="616457"/>
                </a:cubicBezTo>
                <a:cubicBezTo>
                  <a:pt x="969801" y="616038"/>
                  <a:pt x="975129" y="616986"/>
                  <a:pt x="980437" y="617996"/>
                </a:cubicBezTo>
                <a:lnTo>
                  <a:pt x="980555" y="619144"/>
                </a:lnTo>
                <a:cubicBezTo>
                  <a:pt x="1339405" y="678542"/>
                  <a:pt x="1620444" y="959319"/>
                  <a:pt x="1670720" y="1312185"/>
                </a:cubicBezTo>
                <a:cubicBezTo>
                  <a:pt x="1670888" y="1312238"/>
                  <a:pt x="1671057" y="1312243"/>
                  <a:pt x="1671226" y="1312248"/>
                </a:cubicBezTo>
                <a:lnTo>
                  <a:pt x="1671766" y="1318938"/>
                </a:lnTo>
                <a:cubicBezTo>
                  <a:pt x="1676823" y="1349182"/>
                  <a:pt x="1679272" y="1380067"/>
                  <a:pt x="1679230" y="1411395"/>
                </a:cubicBezTo>
                <a:cubicBezTo>
                  <a:pt x="1680542" y="1417025"/>
                  <a:pt x="1680601" y="1422694"/>
                  <a:pt x="1680601" y="1428376"/>
                </a:cubicBezTo>
                <a:cubicBezTo>
                  <a:pt x="1680601" y="1432198"/>
                  <a:pt x="1680574" y="1436014"/>
                  <a:pt x="1680008" y="1439816"/>
                </a:cubicBezTo>
                <a:lnTo>
                  <a:pt x="1679509" y="1439783"/>
                </a:lnTo>
                <a:lnTo>
                  <a:pt x="1679483" y="1440278"/>
                </a:lnTo>
                <a:lnTo>
                  <a:pt x="1662364" y="1438652"/>
                </a:lnTo>
                <a:cubicBezTo>
                  <a:pt x="1629990" y="1438125"/>
                  <a:pt x="1598110" y="1435144"/>
                  <a:pt x="1566938" y="1429590"/>
                </a:cubicBezTo>
                <a:cubicBezTo>
                  <a:pt x="1561361" y="1430009"/>
                  <a:pt x="1556032" y="1429061"/>
                  <a:pt x="1550721" y="1428050"/>
                </a:cubicBezTo>
                <a:lnTo>
                  <a:pt x="1550605" y="1426902"/>
                </a:lnTo>
                <a:cubicBezTo>
                  <a:pt x="1191754" y="1367503"/>
                  <a:pt x="910715" y="1086726"/>
                  <a:pt x="860439" y="733861"/>
                </a:cubicBezTo>
                <a:cubicBezTo>
                  <a:pt x="860272" y="733808"/>
                  <a:pt x="860103" y="733803"/>
                  <a:pt x="859934" y="733798"/>
                </a:cubicBezTo>
                <a:lnTo>
                  <a:pt x="859396" y="727122"/>
                </a:lnTo>
                <a:cubicBezTo>
                  <a:pt x="854337" y="696872"/>
                  <a:pt x="851886" y="665981"/>
                  <a:pt x="851928" y="634646"/>
                </a:cubicBezTo>
                <a:cubicBezTo>
                  <a:pt x="850616" y="629018"/>
                  <a:pt x="850558" y="623351"/>
                  <a:pt x="850558" y="617670"/>
                </a:cubicBezTo>
                <a:lnTo>
                  <a:pt x="851152" y="606230"/>
                </a:lnTo>
                <a:lnTo>
                  <a:pt x="851650" y="606263"/>
                </a:lnTo>
                <a:close/>
                <a:moveTo>
                  <a:pt x="828925" y="605769"/>
                </a:moveTo>
                <a:lnTo>
                  <a:pt x="828951" y="606263"/>
                </a:lnTo>
                <a:lnTo>
                  <a:pt x="829449" y="606230"/>
                </a:lnTo>
                <a:lnTo>
                  <a:pt x="830043" y="617670"/>
                </a:lnTo>
                <a:cubicBezTo>
                  <a:pt x="830043" y="623351"/>
                  <a:pt x="829984" y="629018"/>
                  <a:pt x="828672" y="634646"/>
                </a:cubicBezTo>
                <a:cubicBezTo>
                  <a:pt x="828714" y="665981"/>
                  <a:pt x="826264" y="696872"/>
                  <a:pt x="821205" y="727122"/>
                </a:cubicBezTo>
                <a:lnTo>
                  <a:pt x="820667" y="733798"/>
                </a:lnTo>
                <a:cubicBezTo>
                  <a:pt x="820497" y="733803"/>
                  <a:pt x="820329" y="733808"/>
                  <a:pt x="820161" y="733861"/>
                </a:cubicBezTo>
                <a:cubicBezTo>
                  <a:pt x="769886" y="1086726"/>
                  <a:pt x="488847" y="1367503"/>
                  <a:pt x="129995" y="1426902"/>
                </a:cubicBezTo>
                <a:lnTo>
                  <a:pt x="129879" y="1428050"/>
                </a:lnTo>
                <a:cubicBezTo>
                  <a:pt x="124569" y="1429061"/>
                  <a:pt x="119240" y="1430009"/>
                  <a:pt x="113663" y="1429590"/>
                </a:cubicBezTo>
                <a:cubicBezTo>
                  <a:pt x="82491" y="1435144"/>
                  <a:pt x="50611" y="1438125"/>
                  <a:pt x="18236" y="1438652"/>
                </a:cubicBezTo>
                <a:lnTo>
                  <a:pt x="1118" y="1440278"/>
                </a:lnTo>
                <a:lnTo>
                  <a:pt x="1092" y="1439783"/>
                </a:lnTo>
                <a:lnTo>
                  <a:pt x="593" y="1439816"/>
                </a:lnTo>
                <a:cubicBezTo>
                  <a:pt x="27" y="1436014"/>
                  <a:pt x="0" y="1432198"/>
                  <a:pt x="0" y="1428376"/>
                </a:cubicBezTo>
                <a:cubicBezTo>
                  <a:pt x="0" y="1422694"/>
                  <a:pt x="58" y="1417025"/>
                  <a:pt x="1370" y="1411395"/>
                </a:cubicBezTo>
                <a:cubicBezTo>
                  <a:pt x="1328" y="1380067"/>
                  <a:pt x="3778" y="1349182"/>
                  <a:pt x="8835" y="1318938"/>
                </a:cubicBezTo>
                <a:lnTo>
                  <a:pt x="9375" y="1312248"/>
                </a:lnTo>
                <a:cubicBezTo>
                  <a:pt x="9543" y="1312243"/>
                  <a:pt x="9713" y="1312238"/>
                  <a:pt x="9880" y="1312185"/>
                </a:cubicBezTo>
                <a:cubicBezTo>
                  <a:pt x="60157" y="959319"/>
                  <a:pt x="341196" y="678542"/>
                  <a:pt x="700046" y="619144"/>
                </a:cubicBezTo>
                <a:lnTo>
                  <a:pt x="700163" y="617996"/>
                </a:lnTo>
                <a:cubicBezTo>
                  <a:pt x="705472" y="616986"/>
                  <a:pt x="710800" y="616038"/>
                  <a:pt x="716376" y="616457"/>
                </a:cubicBezTo>
                <a:cubicBezTo>
                  <a:pt x="747559" y="610900"/>
                  <a:pt x="779452" y="607919"/>
                  <a:pt x="811837" y="607392"/>
                </a:cubicBezTo>
                <a:close/>
                <a:moveTo>
                  <a:pt x="8824701" y="0"/>
                </a:moveTo>
                <a:lnTo>
                  <a:pt x="9033411" y="0"/>
                </a:lnTo>
                <a:cubicBezTo>
                  <a:pt x="9066347" y="30426"/>
                  <a:pt x="9096640" y="63469"/>
                  <a:pt x="9123965" y="98781"/>
                </a:cubicBezTo>
                <a:lnTo>
                  <a:pt x="9139239" y="122382"/>
                </a:lnTo>
                <a:lnTo>
                  <a:pt x="9139239" y="425734"/>
                </a:lnTo>
                <a:lnTo>
                  <a:pt x="9104305" y="314451"/>
                </a:lnTo>
                <a:cubicBezTo>
                  <a:pt x="9046997" y="183490"/>
                  <a:pt x="8948803" y="73504"/>
                  <a:pt x="8824701" y="0"/>
                </a:cubicBezTo>
                <a:close/>
                <a:moveTo>
                  <a:pt x="8494877" y="0"/>
                </a:moveTo>
                <a:lnTo>
                  <a:pt x="8628893" y="0"/>
                </a:lnTo>
                <a:cubicBezTo>
                  <a:pt x="8697052" y="198004"/>
                  <a:pt x="8856086" y="355591"/>
                  <a:pt x="9058275" y="426756"/>
                </a:cubicBezTo>
                <a:lnTo>
                  <a:pt x="9139239" y="449526"/>
                </a:lnTo>
                <a:lnTo>
                  <a:pt x="9139239" y="577136"/>
                </a:lnTo>
                <a:lnTo>
                  <a:pt x="9043252" y="554355"/>
                </a:lnTo>
                <a:cubicBezTo>
                  <a:pt x="8776836" y="470904"/>
                  <a:pt x="8569058" y="262348"/>
                  <a:pt x="8494877" y="0"/>
                </a:cubicBezTo>
                <a:close/>
                <a:moveTo>
                  <a:pt x="7876547" y="0"/>
                </a:moveTo>
                <a:lnTo>
                  <a:pt x="8085257" y="0"/>
                </a:lnTo>
                <a:cubicBezTo>
                  <a:pt x="7919787" y="98005"/>
                  <a:pt x="7800378" y="260867"/>
                  <a:pt x="7762527" y="451830"/>
                </a:cubicBezTo>
                <a:cubicBezTo>
                  <a:pt x="8006579" y="399791"/>
                  <a:pt x="8203169" y="226290"/>
                  <a:pt x="8281065" y="0"/>
                </a:cubicBezTo>
                <a:lnTo>
                  <a:pt x="8415081" y="0"/>
                </a:lnTo>
                <a:cubicBezTo>
                  <a:pt x="8330303" y="299826"/>
                  <a:pt x="8071031" y="529393"/>
                  <a:pt x="7749156" y="582253"/>
                </a:cubicBezTo>
                <a:lnTo>
                  <a:pt x="7749040" y="583392"/>
                </a:lnTo>
                <a:cubicBezTo>
                  <a:pt x="7743729" y="584395"/>
                  <a:pt x="7738400" y="585336"/>
                  <a:pt x="7732823" y="584920"/>
                </a:cubicBezTo>
                <a:cubicBezTo>
                  <a:pt x="7701651" y="590430"/>
                  <a:pt x="7669771" y="593388"/>
                  <a:pt x="7637396" y="593911"/>
                </a:cubicBezTo>
                <a:lnTo>
                  <a:pt x="7620278" y="595524"/>
                </a:lnTo>
                <a:lnTo>
                  <a:pt x="7620252" y="595033"/>
                </a:lnTo>
                <a:lnTo>
                  <a:pt x="7619753" y="595066"/>
                </a:lnTo>
                <a:cubicBezTo>
                  <a:pt x="7619187" y="591293"/>
                  <a:pt x="7619160" y="587507"/>
                  <a:pt x="7619160" y="583715"/>
                </a:cubicBezTo>
                <a:cubicBezTo>
                  <a:pt x="7619160" y="578078"/>
                  <a:pt x="7619219" y="572454"/>
                  <a:pt x="7620531" y="566868"/>
                </a:cubicBezTo>
                <a:cubicBezTo>
                  <a:pt x="7620488" y="535786"/>
                  <a:pt x="7622938" y="505143"/>
                  <a:pt x="7627995" y="475137"/>
                </a:cubicBezTo>
                <a:lnTo>
                  <a:pt x="7628535" y="468500"/>
                </a:lnTo>
                <a:cubicBezTo>
                  <a:pt x="7628704" y="468495"/>
                  <a:pt x="7628873" y="468490"/>
                  <a:pt x="7629040" y="468437"/>
                </a:cubicBezTo>
                <a:cubicBezTo>
                  <a:pt x="7655343" y="285283"/>
                  <a:pt x="7744803" y="121704"/>
                  <a:pt x="7876547" y="0"/>
                </a:cubicBezTo>
                <a:close/>
                <a:moveTo>
                  <a:pt x="6802727" y="0"/>
                </a:moveTo>
                <a:lnTo>
                  <a:pt x="6936742" y="0"/>
                </a:lnTo>
                <a:cubicBezTo>
                  <a:pt x="7014638" y="226290"/>
                  <a:pt x="7211228" y="399791"/>
                  <a:pt x="7455280" y="451830"/>
                </a:cubicBezTo>
                <a:cubicBezTo>
                  <a:pt x="7417429" y="260867"/>
                  <a:pt x="7298020" y="98005"/>
                  <a:pt x="7132550" y="0"/>
                </a:cubicBezTo>
                <a:lnTo>
                  <a:pt x="7341259" y="0"/>
                </a:lnTo>
                <a:cubicBezTo>
                  <a:pt x="7473003" y="121704"/>
                  <a:pt x="7562464" y="285283"/>
                  <a:pt x="7588766" y="468437"/>
                </a:cubicBezTo>
                <a:cubicBezTo>
                  <a:pt x="7588934" y="468490"/>
                  <a:pt x="7589103" y="468495"/>
                  <a:pt x="7589272" y="468500"/>
                </a:cubicBezTo>
                <a:lnTo>
                  <a:pt x="7589812" y="475137"/>
                </a:lnTo>
                <a:cubicBezTo>
                  <a:pt x="7594869" y="505143"/>
                  <a:pt x="7597319" y="535786"/>
                  <a:pt x="7597276" y="566868"/>
                </a:cubicBezTo>
                <a:cubicBezTo>
                  <a:pt x="7598588" y="572454"/>
                  <a:pt x="7598647" y="578078"/>
                  <a:pt x="7598647" y="583715"/>
                </a:cubicBezTo>
                <a:cubicBezTo>
                  <a:pt x="7598647" y="587507"/>
                  <a:pt x="7598620" y="591293"/>
                  <a:pt x="7598054" y="595066"/>
                </a:cubicBezTo>
                <a:lnTo>
                  <a:pt x="7597555" y="595033"/>
                </a:lnTo>
                <a:lnTo>
                  <a:pt x="7597529" y="595524"/>
                </a:lnTo>
                <a:lnTo>
                  <a:pt x="7580411" y="593911"/>
                </a:lnTo>
                <a:cubicBezTo>
                  <a:pt x="7548036" y="593388"/>
                  <a:pt x="7516156" y="590430"/>
                  <a:pt x="7484984" y="584920"/>
                </a:cubicBezTo>
                <a:cubicBezTo>
                  <a:pt x="7479407" y="585336"/>
                  <a:pt x="7474078" y="584395"/>
                  <a:pt x="7468767" y="583392"/>
                </a:cubicBezTo>
                <a:lnTo>
                  <a:pt x="7468651" y="582253"/>
                </a:lnTo>
                <a:cubicBezTo>
                  <a:pt x="7146776" y="529393"/>
                  <a:pt x="6887504" y="299826"/>
                  <a:pt x="6802727" y="0"/>
                </a:cubicBezTo>
                <a:close/>
                <a:moveTo>
                  <a:pt x="6184397" y="0"/>
                </a:moveTo>
                <a:lnTo>
                  <a:pt x="6393106" y="0"/>
                </a:lnTo>
                <a:cubicBezTo>
                  <a:pt x="6227636" y="98005"/>
                  <a:pt x="6108227" y="260867"/>
                  <a:pt x="6070376" y="451830"/>
                </a:cubicBezTo>
                <a:cubicBezTo>
                  <a:pt x="6314429" y="399791"/>
                  <a:pt x="6511018" y="226290"/>
                  <a:pt x="6588914" y="0"/>
                </a:cubicBezTo>
                <a:lnTo>
                  <a:pt x="6722931" y="0"/>
                </a:lnTo>
                <a:cubicBezTo>
                  <a:pt x="6638152" y="299826"/>
                  <a:pt x="6378880" y="529393"/>
                  <a:pt x="6057005" y="582253"/>
                </a:cubicBezTo>
                <a:lnTo>
                  <a:pt x="6056889" y="583392"/>
                </a:lnTo>
                <a:cubicBezTo>
                  <a:pt x="6051578" y="584395"/>
                  <a:pt x="6046249" y="585336"/>
                  <a:pt x="6040672" y="584920"/>
                </a:cubicBezTo>
                <a:cubicBezTo>
                  <a:pt x="6009500" y="590430"/>
                  <a:pt x="5977620" y="593388"/>
                  <a:pt x="5945246" y="593911"/>
                </a:cubicBezTo>
                <a:lnTo>
                  <a:pt x="5928127" y="595524"/>
                </a:lnTo>
                <a:lnTo>
                  <a:pt x="5928101" y="595033"/>
                </a:lnTo>
                <a:lnTo>
                  <a:pt x="5927602" y="595066"/>
                </a:lnTo>
                <a:cubicBezTo>
                  <a:pt x="5927036" y="591293"/>
                  <a:pt x="5927009" y="587507"/>
                  <a:pt x="5927009" y="583715"/>
                </a:cubicBezTo>
                <a:cubicBezTo>
                  <a:pt x="5927009" y="578078"/>
                  <a:pt x="5927068" y="572454"/>
                  <a:pt x="5928380" y="566868"/>
                </a:cubicBezTo>
                <a:cubicBezTo>
                  <a:pt x="5928338" y="535786"/>
                  <a:pt x="5930787" y="505143"/>
                  <a:pt x="5935844" y="475137"/>
                </a:cubicBezTo>
                <a:lnTo>
                  <a:pt x="5936384" y="468500"/>
                </a:lnTo>
                <a:cubicBezTo>
                  <a:pt x="5936553" y="468495"/>
                  <a:pt x="5936722" y="468490"/>
                  <a:pt x="5936890" y="468437"/>
                </a:cubicBezTo>
                <a:cubicBezTo>
                  <a:pt x="5963192" y="285283"/>
                  <a:pt x="6052653" y="121703"/>
                  <a:pt x="6184397" y="0"/>
                </a:cubicBezTo>
                <a:close/>
                <a:moveTo>
                  <a:pt x="5110576" y="0"/>
                </a:moveTo>
                <a:lnTo>
                  <a:pt x="5244592" y="0"/>
                </a:lnTo>
                <a:cubicBezTo>
                  <a:pt x="5322488" y="226290"/>
                  <a:pt x="5519077" y="399791"/>
                  <a:pt x="5763129" y="451830"/>
                </a:cubicBezTo>
                <a:cubicBezTo>
                  <a:pt x="5725278" y="260867"/>
                  <a:pt x="5605869" y="98005"/>
                  <a:pt x="5440399" y="0"/>
                </a:cubicBezTo>
                <a:lnTo>
                  <a:pt x="5649109" y="0"/>
                </a:lnTo>
                <a:cubicBezTo>
                  <a:pt x="5780853" y="121704"/>
                  <a:pt x="5870314" y="285283"/>
                  <a:pt x="5896616" y="468437"/>
                </a:cubicBezTo>
                <a:cubicBezTo>
                  <a:pt x="5896783" y="468490"/>
                  <a:pt x="5896953" y="468495"/>
                  <a:pt x="5897121" y="468500"/>
                </a:cubicBezTo>
                <a:lnTo>
                  <a:pt x="5897662" y="475137"/>
                </a:lnTo>
                <a:cubicBezTo>
                  <a:pt x="5902718" y="505143"/>
                  <a:pt x="5905168" y="535786"/>
                  <a:pt x="5905126" y="566868"/>
                </a:cubicBezTo>
                <a:cubicBezTo>
                  <a:pt x="5906438" y="572454"/>
                  <a:pt x="5906496" y="578078"/>
                  <a:pt x="5906496" y="583715"/>
                </a:cubicBezTo>
                <a:cubicBezTo>
                  <a:pt x="5906496" y="587507"/>
                  <a:pt x="5906469" y="591293"/>
                  <a:pt x="5905903" y="595066"/>
                </a:cubicBezTo>
                <a:lnTo>
                  <a:pt x="5905404" y="595033"/>
                </a:lnTo>
                <a:lnTo>
                  <a:pt x="5905378" y="595524"/>
                </a:lnTo>
                <a:lnTo>
                  <a:pt x="5888260" y="593911"/>
                </a:lnTo>
                <a:cubicBezTo>
                  <a:pt x="5855886" y="593388"/>
                  <a:pt x="5824005" y="590430"/>
                  <a:pt x="5792833" y="584920"/>
                </a:cubicBezTo>
                <a:cubicBezTo>
                  <a:pt x="5787256" y="585336"/>
                  <a:pt x="5781927" y="584395"/>
                  <a:pt x="5776617" y="583392"/>
                </a:cubicBezTo>
                <a:lnTo>
                  <a:pt x="5776501" y="582253"/>
                </a:lnTo>
                <a:cubicBezTo>
                  <a:pt x="5454626" y="529393"/>
                  <a:pt x="5195354" y="299826"/>
                  <a:pt x="5110576" y="0"/>
                </a:cubicBezTo>
                <a:close/>
                <a:moveTo>
                  <a:pt x="4492246" y="0"/>
                </a:moveTo>
                <a:lnTo>
                  <a:pt x="4700955" y="0"/>
                </a:lnTo>
                <a:cubicBezTo>
                  <a:pt x="4535485" y="98005"/>
                  <a:pt x="4416076" y="260867"/>
                  <a:pt x="4378225" y="451830"/>
                </a:cubicBezTo>
                <a:cubicBezTo>
                  <a:pt x="4622279" y="399791"/>
                  <a:pt x="4818867" y="226290"/>
                  <a:pt x="4896763" y="0"/>
                </a:cubicBezTo>
                <a:lnTo>
                  <a:pt x="5030779" y="0"/>
                </a:lnTo>
                <a:cubicBezTo>
                  <a:pt x="4946001" y="299826"/>
                  <a:pt x="4686729" y="529393"/>
                  <a:pt x="4364853" y="582253"/>
                </a:cubicBezTo>
                <a:lnTo>
                  <a:pt x="4364737" y="583392"/>
                </a:lnTo>
                <a:cubicBezTo>
                  <a:pt x="4359427" y="584395"/>
                  <a:pt x="4354098" y="585336"/>
                  <a:pt x="4348521" y="584920"/>
                </a:cubicBezTo>
                <a:cubicBezTo>
                  <a:pt x="4317350" y="590430"/>
                  <a:pt x="4285468" y="593388"/>
                  <a:pt x="4253094" y="593911"/>
                </a:cubicBezTo>
                <a:lnTo>
                  <a:pt x="4235976" y="595524"/>
                </a:lnTo>
                <a:lnTo>
                  <a:pt x="4235950" y="595033"/>
                </a:lnTo>
                <a:lnTo>
                  <a:pt x="4235451" y="595066"/>
                </a:lnTo>
                <a:cubicBezTo>
                  <a:pt x="4234885" y="591293"/>
                  <a:pt x="4234858" y="587507"/>
                  <a:pt x="4234858" y="583715"/>
                </a:cubicBezTo>
                <a:cubicBezTo>
                  <a:pt x="4234858" y="578078"/>
                  <a:pt x="4234916" y="572454"/>
                  <a:pt x="4236228" y="566868"/>
                </a:cubicBezTo>
                <a:cubicBezTo>
                  <a:pt x="4236186" y="535786"/>
                  <a:pt x="4238636" y="505143"/>
                  <a:pt x="4243692" y="475137"/>
                </a:cubicBezTo>
                <a:lnTo>
                  <a:pt x="4244233" y="468500"/>
                </a:lnTo>
                <a:cubicBezTo>
                  <a:pt x="4244401" y="468495"/>
                  <a:pt x="4244571" y="468490"/>
                  <a:pt x="4244738" y="468437"/>
                </a:cubicBezTo>
                <a:cubicBezTo>
                  <a:pt x="4271041" y="285283"/>
                  <a:pt x="4360502" y="121704"/>
                  <a:pt x="4492246" y="0"/>
                </a:cubicBezTo>
                <a:close/>
                <a:moveTo>
                  <a:pt x="3418424" y="0"/>
                </a:moveTo>
                <a:lnTo>
                  <a:pt x="3552441" y="0"/>
                </a:lnTo>
                <a:cubicBezTo>
                  <a:pt x="3630337" y="226291"/>
                  <a:pt x="3826926" y="399791"/>
                  <a:pt x="4070978" y="451830"/>
                </a:cubicBezTo>
                <a:cubicBezTo>
                  <a:pt x="4033127" y="260867"/>
                  <a:pt x="3913719" y="98005"/>
                  <a:pt x="3748249" y="0"/>
                </a:cubicBezTo>
                <a:lnTo>
                  <a:pt x="3956957" y="0"/>
                </a:lnTo>
                <a:cubicBezTo>
                  <a:pt x="4088702" y="121703"/>
                  <a:pt x="4178162" y="285283"/>
                  <a:pt x="4204464" y="468437"/>
                </a:cubicBezTo>
                <a:cubicBezTo>
                  <a:pt x="4204632" y="468490"/>
                  <a:pt x="4204801" y="468495"/>
                  <a:pt x="4204970" y="468499"/>
                </a:cubicBezTo>
                <a:lnTo>
                  <a:pt x="4205510" y="475137"/>
                </a:lnTo>
                <a:cubicBezTo>
                  <a:pt x="4210567" y="505143"/>
                  <a:pt x="4213016" y="535786"/>
                  <a:pt x="4212974" y="566868"/>
                </a:cubicBezTo>
                <a:cubicBezTo>
                  <a:pt x="4214286" y="572454"/>
                  <a:pt x="4214345" y="578078"/>
                  <a:pt x="4214345" y="583715"/>
                </a:cubicBezTo>
                <a:cubicBezTo>
                  <a:pt x="4214345" y="587508"/>
                  <a:pt x="4214318" y="591293"/>
                  <a:pt x="4213752" y="595066"/>
                </a:cubicBezTo>
                <a:lnTo>
                  <a:pt x="4213253" y="595033"/>
                </a:lnTo>
                <a:lnTo>
                  <a:pt x="4213227" y="595524"/>
                </a:lnTo>
                <a:lnTo>
                  <a:pt x="4196108" y="593911"/>
                </a:lnTo>
                <a:cubicBezTo>
                  <a:pt x="4163734" y="593388"/>
                  <a:pt x="4131854" y="590430"/>
                  <a:pt x="4100682" y="584920"/>
                </a:cubicBezTo>
                <a:cubicBezTo>
                  <a:pt x="4095105" y="585336"/>
                  <a:pt x="4089776" y="584395"/>
                  <a:pt x="4084465" y="583392"/>
                </a:cubicBezTo>
                <a:lnTo>
                  <a:pt x="4084349" y="582253"/>
                </a:lnTo>
                <a:cubicBezTo>
                  <a:pt x="3762475" y="529393"/>
                  <a:pt x="3503203" y="299826"/>
                  <a:pt x="3418424" y="0"/>
                </a:cubicBezTo>
                <a:close/>
                <a:moveTo>
                  <a:pt x="2800095" y="0"/>
                </a:moveTo>
                <a:lnTo>
                  <a:pt x="3008804" y="0"/>
                </a:lnTo>
                <a:cubicBezTo>
                  <a:pt x="2843334" y="98005"/>
                  <a:pt x="2723925" y="260867"/>
                  <a:pt x="2686074" y="451830"/>
                </a:cubicBezTo>
                <a:cubicBezTo>
                  <a:pt x="2930126" y="399791"/>
                  <a:pt x="3126716" y="226291"/>
                  <a:pt x="3204612" y="0"/>
                </a:cubicBezTo>
                <a:lnTo>
                  <a:pt x="3338628" y="0"/>
                </a:lnTo>
                <a:cubicBezTo>
                  <a:pt x="3253850" y="299826"/>
                  <a:pt x="2994578" y="529393"/>
                  <a:pt x="2672703" y="582253"/>
                </a:cubicBezTo>
                <a:lnTo>
                  <a:pt x="2672586" y="583392"/>
                </a:lnTo>
                <a:cubicBezTo>
                  <a:pt x="2667276" y="584395"/>
                  <a:pt x="2661947" y="585336"/>
                  <a:pt x="2656370" y="584920"/>
                </a:cubicBezTo>
                <a:cubicBezTo>
                  <a:pt x="2625198" y="590430"/>
                  <a:pt x="2593318" y="593388"/>
                  <a:pt x="2560943" y="593911"/>
                </a:cubicBezTo>
                <a:lnTo>
                  <a:pt x="2543825" y="595524"/>
                </a:lnTo>
                <a:lnTo>
                  <a:pt x="2543799" y="595033"/>
                </a:lnTo>
                <a:lnTo>
                  <a:pt x="2543300" y="595066"/>
                </a:lnTo>
                <a:cubicBezTo>
                  <a:pt x="2542734" y="591293"/>
                  <a:pt x="2542707" y="587507"/>
                  <a:pt x="2542707" y="583715"/>
                </a:cubicBezTo>
                <a:cubicBezTo>
                  <a:pt x="2542707" y="578078"/>
                  <a:pt x="2542765" y="572454"/>
                  <a:pt x="2544077" y="566868"/>
                </a:cubicBezTo>
                <a:cubicBezTo>
                  <a:pt x="2544035" y="535786"/>
                  <a:pt x="2546485" y="505143"/>
                  <a:pt x="2551541" y="475137"/>
                </a:cubicBezTo>
                <a:lnTo>
                  <a:pt x="2552082" y="468499"/>
                </a:lnTo>
                <a:cubicBezTo>
                  <a:pt x="2552250" y="468495"/>
                  <a:pt x="2552420" y="468490"/>
                  <a:pt x="2552587" y="468437"/>
                </a:cubicBezTo>
                <a:cubicBezTo>
                  <a:pt x="2578890" y="285283"/>
                  <a:pt x="2668350" y="121703"/>
                  <a:pt x="2800095" y="0"/>
                </a:cubicBezTo>
                <a:close/>
                <a:moveTo>
                  <a:pt x="1726273" y="0"/>
                </a:moveTo>
                <a:lnTo>
                  <a:pt x="1860290" y="0"/>
                </a:lnTo>
                <a:cubicBezTo>
                  <a:pt x="1938186" y="226291"/>
                  <a:pt x="2134775" y="399791"/>
                  <a:pt x="2378827" y="451830"/>
                </a:cubicBezTo>
                <a:cubicBezTo>
                  <a:pt x="2340976" y="260867"/>
                  <a:pt x="2221567" y="98005"/>
                  <a:pt x="2056098" y="0"/>
                </a:cubicBezTo>
                <a:lnTo>
                  <a:pt x="2264806" y="0"/>
                </a:lnTo>
                <a:cubicBezTo>
                  <a:pt x="2396551" y="121703"/>
                  <a:pt x="2486011" y="285283"/>
                  <a:pt x="2512313" y="468437"/>
                </a:cubicBezTo>
                <a:cubicBezTo>
                  <a:pt x="2512481" y="468490"/>
                  <a:pt x="2512650" y="468495"/>
                  <a:pt x="2512819" y="468499"/>
                </a:cubicBezTo>
                <a:lnTo>
                  <a:pt x="2513359" y="475137"/>
                </a:lnTo>
                <a:cubicBezTo>
                  <a:pt x="2518416" y="505143"/>
                  <a:pt x="2520865" y="535786"/>
                  <a:pt x="2520823" y="566868"/>
                </a:cubicBezTo>
                <a:cubicBezTo>
                  <a:pt x="2522135" y="572454"/>
                  <a:pt x="2522194" y="578078"/>
                  <a:pt x="2522194" y="583715"/>
                </a:cubicBezTo>
                <a:cubicBezTo>
                  <a:pt x="2522194" y="587508"/>
                  <a:pt x="2522167" y="591293"/>
                  <a:pt x="2521601" y="595066"/>
                </a:cubicBezTo>
                <a:lnTo>
                  <a:pt x="2521102" y="595033"/>
                </a:lnTo>
                <a:lnTo>
                  <a:pt x="2521076" y="595524"/>
                </a:lnTo>
                <a:lnTo>
                  <a:pt x="2503957" y="593911"/>
                </a:lnTo>
                <a:cubicBezTo>
                  <a:pt x="2471583" y="593388"/>
                  <a:pt x="2439703" y="590430"/>
                  <a:pt x="2408531" y="584920"/>
                </a:cubicBezTo>
                <a:cubicBezTo>
                  <a:pt x="2402954" y="585336"/>
                  <a:pt x="2397625" y="584395"/>
                  <a:pt x="2392314" y="583392"/>
                </a:cubicBezTo>
                <a:lnTo>
                  <a:pt x="2392198" y="582253"/>
                </a:lnTo>
                <a:cubicBezTo>
                  <a:pt x="2070324" y="529393"/>
                  <a:pt x="1811051" y="299826"/>
                  <a:pt x="1726273" y="0"/>
                </a:cubicBezTo>
                <a:close/>
                <a:moveTo>
                  <a:pt x="1107944" y="0"/>
                </a:moveTo>
                <a:lnTo>
                  <a:pt x="1316652" y="0"/>
                </a:lnTo>
                <a:cubicBezTo>
                  <a:pt x="1151183" y="98005"/>
                  <a:pt x="1031774" y="260867"/>
                  <a:pt x="993923" y="451830"/>
                </a:cubicBezTo>
                <a:cubicBezTo>
                  <a:pt x="1237975" y="399791"/>
                  <a:pt x="1434564" y="226291"/>
                  <a:pt x="1512461" y="0"/>
                </a:cubicBezTo>
                <a:lnTo>
                  <a:pt x="1646477" y="0"/>
                </a:lnTo>
                <a:cubicBezTo>
                  <a:pt x="1561699" y="299826"/>
                  <a:pt x="1302427" y="529393"/>
                  <a:pt x="980552" y="582253"/>
                </a:cubicBezTo>
                <a:lnTo>
                  <a:pt x="980435" y="583392"/>
                </a:lnTo>
                <a:cubicBezTo>
                  <a:pt x="975125" y="584395"/>
                  <a:pt x="969796" y="585336"/>
                  <a:pt x="964219" y="584920"/>
                </a:cubicBezTo>
                <a:cubicBezTo>
                  <a:pt x="933047" y="590430"/>
                  <a:pt x="901167" y="593388"/>
                  <a:pt x="868792" y="593911"/>
                </a:cubicBezTo>
                <a:lnTo>
                  <a:pt x="851674" y="595524"/>
                </a:lnTo>
                <a:lnTo>
                  <a:pt x="851648" y="595033"/>
                </a:lnTo>
                <a:lnTo>
                  <a:pt x="851149" y="595066"/>
                </a:lnTo>
                <a:cubicBezTo>
                  <a:pt x="850583" y="591293"/>
                  <a:pt x="850556" y="587507"/>
                  <a:pt x="850556" y="583715"/>
                </a:cubicBezTo>
                <a:cubicBezTo>
                  <a:pt x="850556" y="578078"/>
                  <a:pt x="850614" y="572454"/>
                  <a:pt x="851926" y="566868"/>
                </a:cubicBezTo>
                <a:cubicBezTo>
                  <a:pt x="851884" y="535786"/>
                  <a:pt x="854334" y="505143"/>
                  <a:pt x="859390" y="475137"/>
                </a:cubicBezTo>
                <a:lnTo>
                  <a:pt x="859931" y="468499"/>
                </a:lnTo>
                <a:cubicBezTo>
                  <a:pt x="860099" y="468495"/>
                  <a:pt x="860269" y="468490"/>
                  <a:pt x="860436" y="468437"/>
                </a:cubicBezTo>
                <a:cubicBezTo>
                  <a:pt x="886739" y="285283"/>
                  <a:pt x="976199" y="121704"/>
                  <a:pt x="1107944" y="0"/>
                </a:cubicBezTo>
                <a:close/>
                <a:moveTo>
                  <a:pt x="34122" y="0"/>
                </a:moveTo>
                <a:lnTo>
                  <a:pt x="168138" y="0"/>
                </a:lnTo>
                <a:cubicBezTo>
                  <a:pt x="246034" y="226290"/>
                  <a:pt x="442624" y="399791"/>
                  <a:pt x="686676" y="451830"/>
                </a:cubicBezTo>
                <a:cubicBezTo>
                  <a:pt x="648825" y="260867"/>
                  <a:pt x="529416" y="98005"/>
                  <a:pt x="363946" y="0"/>
                </a:cubicBezTo>
                <a:lnTo>
                  <a:pt x="572655" y="0"/>
                </a:lnTo>
                <a:cubicBezTo>
                  <a:pt x="704400" y="121703"/>
                  <a:pt x="793860" y="285283"/>
                  <a:pt x="820162" y="468437"/>
                </a:cubicBezTo>
                <a:cubicBezTo>
                  <a:pt x="820330" y="468490"/>
                  <a:pt x="820499" y="468495"/>
                  <a:pt x="820668" y="468500"/>
                </a:cubicBezTo>
                <a:lnTo>
                  <a:pt x="821208" y="475137"/>
                </a:lnTo>
                <a:cubicBezTo>
                  <a:pt x="826265" y="505143"/>
                  <a:pt x="828714" y="535786"/>
                  <a:pt x="828672" y="566868"/>
                </a:cubicBezTo>
                <a:cubicBezTo>
                  <a:pt x="829984" y="572454"/>
                  <a:pt x="830043" y="578078"/>
                  <a:pt x="830043" y="583715"/>
                </a:cubicBezTo>
                <a:cubicBezTo>
                  <a:pt x="830043" y="587508"/>
                  <a:pt x="830016" y="591293"/>
                  <a:pt x="829450" y="595066"/>
                </a:cubicBezTo>
                <a:lnTo>
                  <a:pt x="828951" y="595033"/>
                </a:lnTo>
                <a:lnTo>
                  <a:pt x="828925" y="595524"/>
                </a:lnTo>
                <a:lnTo>
                  <a:pt x="811806" y="593911"/>
                </a:lnTo>
                <a:cubicBezTo>
                  <a:pt x="779432" y="593388"/>
                  <a:pt x="747552" y="590430"/>
                  <a:pt x="716380" y="584920"/>
                </a:cubicBezTo>
                <a:cubicBezTo>
                  <a:pt x="710803" y="585336"/>
                  <a:pt x="705474" y="584395"/>
                  <a:pt x="700163" y="583392"/>
                </a:cubicBezTo>
                <a:lnTo>
                  <a:pt x="700047" y="582253"/>
                </a:lnTo>
                <a:cubicBezTo>
                  <a:pt x="378172" y="529393"/>
                  <a:pt x="118900" y="299826"/>
                  <a:pt x="34122"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smtClean="0"/>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F2349340-E942-400C-8C9A-39DF4ADE3F8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C8737A-8E18-4809-93C0-3FDF6199F2F8}"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903347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2349340-E942-400C-8C9A-39DF4ADE3F8F}"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C8737A-8E18-4809-93C0-3FDF6199F2F8}" type="slidenum">
              <a:rPr lang="en-US" smtClean="0"/>
              <a:t>‹#›</a:t>
            </a:fld>
            <a:endParaRPr lang="en-US"/>
          </a:p>
        </p:txBody>
      </p:sp>
    </p:spTree>
    <p:extLst>
      <p:ext uri="{BB962C8B-B14F-4D97-AF65-F5344CB8AC3E}">
        <p14:creationId xmlns:p14="http://schemas.microsoft.com/office/powerpoint/2010/main" val="42419154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smtClean="0"/>
              <a:t>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2349340-E942-400C-8C9A-39DF4ADE3F8F}" type="datetimeFigureOut">
              <a:rPr lang="en-US" smtClean="0"/>
              <a:t>4/7/2025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C8737A-8E18-4809-93C0-3FDF6199F2F8}" type="slidenum">
              <a:rPr lang="en-US" smtClean="0"/>
              <a:t>‹#›</a:t>
            </a:fld>
            <a:endParaRPr lang="en-US"/>
          </a:p>
        </p:txBody>
      </p:sp>
    </p:spTree>
    <p:extLst>
      <p:ext uri="{BB962C8B-B14F-4D97-AF65-F5344CB8AC3E}">
        <p14:creationId xmlns:p14="http://schemas.microsoft.com/office/powerpoint/2010/main" val="1512342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2349340-E942-400C-8C9A-39DF4ADE3F8F}" type="datetimeFigureOut">
              <a:rPr lang="en-US" smtClean="0"/>
              <a:t>4/7/2025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C8737A-8E18-4809-93C0-3FDF6199F2F8}" type="slidenum">
              <a:rPr lang="en-US" smtClean="0"/>
              <a:t>‹#›</a:t>
            </a:fld>
            <a:endParaRPr lang="en-US"/>
          </a:p>
        </p:txBody>
      </p:sp>
    </p:spTree>
    <p:extLst>
      <p:ext uri="{BB962C8B-B14F-4D97-AF65-F5344CB8AC3E}">
        <p14:creationId xmlns:p14="http://schemas.microsoft.com/office/powerpoint/2010/main" val="15009999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2349340-E942-400C-8C9A-39DF4ADE3F8F}" type="datetimeFigureOut">
              <a:rPr lang="en-US" smtClean="0"/>
              <a:t>4/7/2025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C8737A-8E18-4809-93C0-3FDF6199F2F8}" type="slidenum">
              <a:rPr lang="en-US" smtClean="0"/>
              <a:t>‹#›</a:t>
            </a:fld>
            <a:endParaRPr lang="en-US"/>
          </a:p>
        </p:txBody>
      </p:sp>
    </p:spTree>
    <p:extLst>
      <p:ext uri="{BB962C8B-B14F-4D97-AF65-F5344CB8AC3E}">
        <p14:creationId xmlns:p14="http://schemas.microsoft.com/office/powerpoint/2010/main" val="24775169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smtClean="0"/>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F2349340-E942-400C-8C9A-39DF4ADE3F8F}"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C8737A-8E18-4809-93C0-3FDF6199F2F8}" type="slidenum">
              <a:rPr lang="en-US" smtClean="0"/>
              <a:t>‹#›</a:t>
            </a:fld>
            <a:endParaRPr lang="en-US"/>
          </a:p>
        </p:txBody>
      </p:sp>
    </p:spTree>
    <p:extLst>
      <p:ext uri="{BB962C8B-B14F-4D97-AF65-F5344CB8AC3E}">
        <p14:creationId xmlns:p14="http://schemas.microsoft.com/office/powerpoint/2010/main" val="3921512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1">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smtClean="0"/>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5000"/>
                    <a:lumOff val="5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F2349340-E942-400C-8C9A-39DF4ADE3F8F}" type="datetimeFigureOut">
              <a:rPr lang="en-US" smtClean="0"/>
              <a:t>4/7/2025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C8737A-8E18-4809-93C0-3FDF6199F2F8}" type="slidenum">
              <a:rPr lang="en-US" smtClean="0"/>
              <a:t>‹#›</a:t>
            </a:fld>
            <a:endParaRPr lang="en-US"/>
          </a:p>
        </p:txBody>
      </p:sp>
      <p:cxnSp>
        <p:nvCxnSpPr>
          <p:cNvPr id="8" name="Straight Connector 7"/>
          <p:cNvCxnSpPr/>
          <p:nvPr/>
        </p:nvCxnSpPr>
        <p:spPr>
          <a:xfrm flipV="1">
            <a:off x="629013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314326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349340-E942-400C-8C9A-39DF4ADE3F8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C8737A-8E18-4809-93C0-3FDF6199F2F8}" type="slidenum">
              <a:rPr lang="en-US" smtClean="0"/>
              <a:t>‹#›</a:t>
            </a:fld>
            <a:endParaRPr lang="en-US"/>
          </a:p>
        </p:txBody>
      </p:sp>
    </p:spTree>
    <p:extLst>
      <p:ext uri="{BB962C8B-B14F-4D97-AF65-F5344CB8AC3E}">
        <p14:creationId xmlns:p14="http://schemas.microsoft.com/office/powerpoint/2010/main" val="1506002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349340-E942-400C-8C9A-39DF4ADE3F8F}" type="datetimeFigureOut">
              <a:rPr lang="en-US" smtClean="0"/>
              <a:t>4/7/2025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C8737A-8E18-4809-93C0-3FDF6199F2F8}" type="slidenum">
              <a:rPr lang="en-US" smtClean="0"/>
              <a:t>‹#›</a:t>
            </a:fld>
            <a:endParaRPr lang="en-US"/>
          </a:p>
        </p:txBody>
      </p:sp>
      <p:cxnSp>
        <p:nvCxnSpPr>
          <p:cNvPr id="7" name="Straight Connector 6"/>
          <p:cNvCxnSpPr/>
          <p:nvPr/>
        </p:nvCxnSpPr>
        <p:spPr>
          <a:xfrm rot="5400000" flipV="1">
            <a:off x="7543800" y="173563"/>
            <a:ext cx="0" cy="6858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464157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2349340-E942-400C-8C9A-39DF4ADE3F8F}" type="datetimeFigureOut">
              <a:rPr lang="en-US" smtClean="0"/>
              <a:t>4/7/2025</a:t>
            </a:fld>
            <a:endParaRPr lang="en-US"/>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8CC8737A-8E18-4809-93C0-3FDF6199F2F8}" type="slidenum">
              <a:rPr lang="en-US" smtClean="0"/>
              <a:t>‹#›</a:t>
            </a:fld>
            <a:endParaRPr lang="en-US"/>
          </a:p>
        </p:txBody>
      </p:sp>
      <p:cxnSp>
        <p:nvCxnSpPr>
          <p:cNvPr id="7" name="Straight Connector 6"/>
          <p:cNvCxnSpPr/>
          <p:nvPr/>
        </p:nvCxnSpPr>
        <p:spPr>
          <a:xfrm flipV="1">
            <a:off x="5715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8887741"/>
      </p:ext>
    </p:extLst>
  </p:cSld>
  <p:clrMap bg1="lt1" tx1="dk1" bg2="lt2" tx2="dk2" accent1="accent1" accent2="accent2" accent3="accent3" accent4="accent4" accent5="accent5" accent6="accent6" hlink="hlink" folHlink="folHlink"/>
  <p:sldLayoutIdLst>
    <p:sldLayoutId id="2147483786" r:id="rId1"/>
    <p:sldLayoutId id="2147483787" r:id="rId2"/>
    <p:sldLayoutId id="2147483788" r:id="rId3"/>
    <p:sldLayoutId id="2147483789" r:id="rId4"/>
    <p:sldLayoutId id="2147483790" r:id="rId5"/>
    <p:sldLayoutId id="2147483791" r:id="rId6"/>
    <p:sldLayoutId id="2147483792" r:id="rId7"/>
    <p:sldLayoutId id="2147483793" r:id="rId8"/>
    <p:sldLayoutId id="2147483794" r:id="rId9"/>
    <p:sldLayoutId id="2147483795" r:id="rId10"/>
    <p:sldLayoutId id="2147483796" r:id="rId11"/>
  </p:sldLayoutIdLst>
  <p:txStyles>
    <p:titleStyle>
      <a:lvl1pPr algn="l" defTabSz="914400" rtl="0" eaLnBrk="1" latinLnBrk="0" hangingPunct="1">
        <a:lnSpc>
          <a:spcPct val="80000"/>
        </a:lnSpc>
        <a:spcBef>
          <a:spcPct val="0"/>
        </a:spcBef>
        <a:buNone/>
        <a:defRPr sz="44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6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Uncertainty</a:t>
            </a:r>
          </a:p>
        </p:txBody>
      </p:sp>
      <p:sp>
        <p:nvSpPr>
          <p:cNvPr id="3" name="Subtitle 2"/>
          <p:cNvSpPr>
            <a:spLocks noGrp="1"/>
          </p:cNvSpPr>
          <p:nvPr>
            <p:ph type="subTitle" idx="1"/>
          </p:nvPr>
        </p:nvSpPr>
        <p:spPr/>
        <p:txBody>
          <a:bodyPr/>
          <a:lstStyle/>
          <a:p>
            <a:r>
              <a:rPr lang="en-US" dirty="0"/>
              <a:t>In which we see what an agent should do when not all is crystal clear.</a:t>
            </a:r>
          </a:p>
          <a:p>
            <a:endParaRPr lang="en-US"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710184"/>
          </a:xfrm>
        </p:spPr>
        <p:txBody>
          <a:bodyPr/>
          <a:lstStyle/>
          <a:p>
            <a:pPr algn="ctr"/>
            <a:r>
              <a:rPr lang="en-US" dirty="0"/>
              <a:t>Acting Under Uncertainty</a:t>
            </a:r>
            <a:endParaRPr lang="en-IN" dirty="0"/>
          </a:p>
        </p:txBody>
      </p:sp>
      <p:sp>
        <p:nvSpPr>
          <p:cNvPr id="3" name="Content Placeholder 2"/>
          <p:cNvSpPr>
            <a:spLocks noGrp="1"/>
          </p:cNvSpPr>
          <p:nvPr>
            <p:ph idx="1"/>
          </p:nvPr>
        </p:nvSpPr>
        <p:spPr>
          <a:xfrm>
            <a:off x="768096" y="1676400"/>
            <a:ext cx="7290055" cy="4267200"/>
          </a:xfrm>
        </p:spPr>
        <p:txBody>
          <a:bodyPr/>
          <a:lstStyle/>
          <a:p>
            <a:pPr algn="just">
              <a:buFont typeface="Wingdings" panose="05000000000000000000" pitchFamily="2" charset="2"/>
              <a:buChar char="Ø"/>
            </a:pPr>
            <a:r>
              <a:rPr lang="en-US" dirty="0"/>
              <a:t>Agents may need to handle uncertainty, whether due to partial observability, </a:t>
            </a:r>
            <a:r>
              <a:rPr lang="en-US" dirty="0" smtClean="0"/>
              <a:t>nondeterminism</a:t>
            </a:r>
            <a:r>
              <a:rPr lang="en-US" dirty="0"/>
              <a:t>, or a combination of the two. </a:t>
            </a:r>
            <a:endParaRPr lang="en-US" dirty="0" smtClean="0"/>
          </a:p>
          <a:p>
            <a:pPr algn="just">
              <a:buFont typeface="Wingdings" panose="05000000000000000000" pitchFamily="2" charset="2"/>
              <a:buChar char="Ø"/>
            </a:pPr>
            <a:endParaRPr lang="en-US" dirty="0" smtClean="0"/>
          </a:p>
          <a:p>
            <a:pPr algn="just">
              <a:buFont typeface="Wingdings" panose="05000000000000000000" pitchFamily="2" charset="2"/>
              <a:buChar char="Ø"/>
            </a:pPr>
            <a:r>
              <a:rPr lang="en-US" dirty="0" smtClean="0"/>
              <a:t>An </a:t>
            </a:r>
            <a:r>
              <a:rPr lang="en-US" dirty="0"/>
              <a:t>agent may never know for certain what state it’s in or where it will end up after a sequence of actions.</a:t>
            </a:r>
            <a:endParaRPr lang="en-IN" dirty="0"/>
          </a:p>
        </p:txBody>
      </p:sp>
    </p:spTree>
    <p:extLst>
      <p:ext uri="{BB962C8B-B14F-4D97-AF65-F5344CB8AC3E}">
        <p14:creationId xmlns:p14="http://schemas.microsoft.com/office/powerpoint/2010/main" val="725631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pPr algn="ctr"/>
            <a:r>
              <a:rPr lang="en-US" dirty="0"/>
              <a:t>Acting Under Uncertainty</a:t>
            </a:r>
          </a:p>
        </p:txBody>
      </p:sp>
      <p:sp>
        <p:nvSpPr>
          <p:cNvPr id="3" name="Content Placeholder 2"/>
          <p:cNvSpPr>
            <a:spLocks noGrp="1"/>
          </p:cNvSpPr>
          <p:nvPr>
            <p:ph idx="1"/>
          </p:nvPr>
        </p:nvSpPr>
        <p:spPr>
          <a:xfrm>
            <a:off x="457200" y="1371600"/>
            <a:ext cx="8229600" cy="4754563"/>
          </a:xfrm>
        </p:spPr>
        <p:txBody>
          <a:bodyPr>
            <a:normAutofit/>
          </a:bodyPr>
          <a:lstStyle/>
          <a:p>
            <a:pPr>
              <a:buFont typeface="Wingdings" panose="05000000000000000000" pitchFamily="2" charset="2"/>
              <a:buChar char="Ø"/>
            </a:pPr>
            <a:r>
              <a:rPr lang="en-US" dirty="0"/>
              <a:t>When an gent knows enough facts about its environment, the logical approach enables it to derive plans</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Unfortunately, agents almost never have access to the whole truth about the environment</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Agents must, therefore, act under uncertainty</a:t>
            </a:r>
            <a:r>
              <a:rPr lang="en-US" dirty="0" smtClean="0"/>
              <a:t>.</a:t>
            </a:r>
          </a:p>
          <a:p>
            <a:pPr>
              <a:buFont typeface="Wingdings" panose="05000000000000000000" pitchFamily="2" charset="2"/>
              <a:buChar char="Ø"/>
            </a:pPr>
            <a:endParaRPr lang="en-US" dirty="0"/>
          </a:p>
          <a:p>
            <a:pPr algn="just">
              <a:buFont typeface="Wingdings" panose="05000000000000000000" pitchFamily="2" charset="2"/>
              <a:buChar char="Ø"/>
            </a:pPr>
            <a:r>
              <a:rPr lang="en-US" dirty="0" err="1"/>
              <a:t>Eg</a:t>
            </a:r>
            <a:r>
              <a:rPr lang="en-US" dirty="0"/>
              <a:t> : An agent wants drive someone to the airport to catch a flight and is considering a plan A90, that involves leaving home 90 minutes  before flight starts and driving at a reasonable speed.</a:t>
            </a: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dirty="0"/>
              <a:t>Acting Under Uncertainty</a:t>
            </a:r>
          </a:p>
        </p:txBody>
      </p:sp>
      <p:sp>
        <p:nvSpPr>
          <p:cNvPr id="3" name="Content Placeholder 2"/>
          <p:cNvSpPr>
            <a:spLocks noGrp="1"/>
          </p:cNvSpPr>
          <p:nvPr>
            <p:ph idx="1"/>
          </p:nvPr>
        </p:nvSpPr>
        <p:spPr>
          <a:xfrm>
            <a:off x="457200" y="990600"/>
            <a:ext cx="8229600" cy="5135563"/>
          </a:xfrm>
        </p:spPr>
        <p:txBody>
          <a:bodyPr>
            <a:normAutofit/>
          </a:bodyPr>
          <a:lstStyle/>
          <a:p>
            <a:pPr algn="just">
              <a:buFont typeface="Wingdings" panose="05000000000000000000" pitchFamily="2" charset="2"/>
              <a:buChar char="Ø"/>
            </a:pPr>
            <a:endParaRPr lang="en-US" dirty="0" smtClean="0"/>
          </a:p>
          <a:p>
            <a:pPr algn="just">
              <a:buFont typeface="Wingdings" panose="05000000000000000000" pitchFamily="2" charset="2"/>
              <a:buChar char="Ø"/>
            </a:pPr>
            <a:r>
              <a:rPr lang="en-US" dirty="0" smtClean="0"/>
              <a:t>Even </a:t>
            </a:r>
            <a:r>
              <a:rPr lang="en-US" dirty="0"/>
              <a:t>though the airport is only 15 miles away, the agent will not be conclude with certainty that “Plan A90 will get us to the airport in time</a:t>
            </a:r>
            <a:r>
              <a:rPr lang="en-US" dirty="0" smtClean="0"/>
              <a:t>”.</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a:t> Instead, it reaches the weaker conclusion “Plan A90 will get us to the airport in time as long as my car doesn’t break down, or run out of gas, and I don’t get into an accident and there are no accidents on the bridge, and the plane doesn’t leave early and</a:t>
            </a:r>
            <a:r>
              <a:rPr lang="en-US" dirty="0" smtClean="0"/>
              <a:t>…..”.</a:t>
            </a:r>
          </a:p>
          <a:p>
            <a:pPr marL="0" indent="0" algn="just">
              <a:buNone/>
            </a:pPr>
            <a:endParaRPr lang="en-US" dirty="0"/>
          </a:p>
          <a:p>
            <a:pPr algn="just">
              <a:buFont typeface="Wingdings" panose="05000000000000000000" pitchFamily="2" charset="2"/>
              <a:buChar char="Ø"/>
            </a:pPr>
            <a:r>
              <a:rPr lang="en-US" dirty="0"/>
              <a:t> None of these can be deduced, so the plan’s success cannot be inferred. </a:t>
            </a:r>
            <a:endParaRPr lang="en-US" dirty="0" smtClean="0"/>
          </a:p>
          <a:p>
            <a:pPr marL="0" indent="0" algn="just">
              <a:buNone/>
            </a:pPr>
            <a:endParaRPr lang="en-US" dirty="0"/>
          </a:p>
          <a:p>
            <a:pPr algn="just">
              <a:buFont typeface="Wingdings" panose="05000000000000000000" pitchFamily="2" charset="2"/>
              <a:buChar char="Ø"/>
            </a:pPr>
            <a:r>
              <a:rPr lang="en-US" dirty="0"/>
              <a:t>This is an example of </a:t>
            </a:r>
            <a:r>
              <a:rPr lang="en-US" b="1" dirty="0"/>
              <a:t>qualification problem.</a:t>
            </a: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39762"/>
          </a:xfrm>
        </p:spPr>
        <p:txBody>
          <a:bodyPr>
            <a:normAutofit/>
          </a:bodyPr>
          <a:lstStyle/>
          <a:p>
            <a:r>
              <a:rPr lang="en-US" dirty="0"/>
              <a:t>Acting Under Uncertainty</a:t>
            </a:r>
          </a:p>
        </p:txBody>
      </p:sp>
      <p:sp>
        <p:nvSpPr>
          <p:cNvPr id="3" name="Content Placeholder 2"/>
          <p:cNvSpPr>
            <a:spLocks noGrp="1"/>
          </p:cNvSpPr>
          <p:nvPr>
            <p:ph idx="1"/>
          </p:nvPr>
        </p:nvSpPr>
        <p:spPr>
          <a:xfrm>
            <a:off x="457200" y="1066800"/>
            <a:ext cx="8229600" cy="5562600"/>
          </a:xfrm>
        </p:spPr>
        <p:txBody>
          <a:bodyPr>
            <a:normAutofit/>
          </a:bodyPr>
          <a:lstStyle/>
          <a:p>
            <a:pPr algn="just">
              <a:buFont typeface="Wingdings" panose="05000000000000000000" pitchFamily="2" charset="2"/>
              <a:buChar char="Ø"/>
            </a:pPr>
            <a:r>
              <a:rPr lang="en-US" dirty="0"/>
              <a:t>No pure logic agent will be able to conclude that plan A90 is the right thing to do</a:t>
            </a:r>
            <a:r>
              <a:rPr lang="en-US" dirty="0" smtClean="0"/>
              <a:t>.</a:t>
            </a:r>
          </a:p>
          <a:p>
            <a:pPr marL="0" indent="0" algn="just">
              <a:buNone/>
            </a:pPr>
            <a:endParaRPr lang="en-US" dirty="0"/>
          </a:p>
          <a:p>
            <a:pPr algn="just">
              <a:buFont typeface="Wingdings" panose="05000000000000000000" pitchFamily="2" charset="2"/>
              <a:buChar char="Ø"/>
            </a:pPr>
            <a:r>
              <a:rPr lang="en-US" dirty="0"/>
              <a:t>Suppose that A90 is the right thing to do – what does this mean</a:t>
            </a:r>
            <a:r>
              <a:rPr lang="en-US" dirty="0" smtClean="0"/>
              <a:t>.</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a:t>It means A90 expected to maximize the performance measure – getting to the airport in time, avoiding long , unproductive wait at the airport</a:t>
            </a:r>
            <a:r>
              <a:rPr lang="en-US" dirty="0" smtClean="0"/>
              <a:t>.</a:t>
            </a:r>
          </a:p>
          <a:p>
            <a:pPr algn="just">
              <a:buFont typeface="Wingdings" panose="05000000000000000000" pitchFamily="2" charset="2"/>
              <a:buChar char="Ø"/>
            </a:pPr>
            <a:endParaRPr lang="en-US" dirty="0"/>
          </a:p>
          <a:p>
            <a:pPr algn="just">
              <a:buFont typeface="Wingdings" panose="05000000000000000000" pitchFamily="2" charset="2"/>
              <a:buChar char="Ø"/>
            </a:pPr>
            <a:r>
              <a:rPr lang="en-US" dirty="0"/>
              <a:t>A120 might increase the agent’s belief that it will get to the airport on time, but also increase the likelihood of long wait.</a:t>
            </a: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15962"/>
          </a:xfrm>
        </p:spPr>
        <p:txBody>
          <a:bodyPr>
            <a:normAutofit/>
          </a:bodyPr>
          <a:lstStyle/>
          <a:p>
            <a:r>
              <a:rPr lang="en-US" dirty="0"/>
              <a:t>Acting Under Uncertainty</a:t>
            </a:r>
          </a:p>
        </p:txBody>
      </p:sp>
      <p:sp>
        <p:nvSpPr>
          <p:cNvPr id="3" name="Content Placeholder 2"/>
          <p:cNvSpPr>
            <a:spLocks noGrp="1"/>
          </p:cNvSpPr>
          <p:nvPr>
            <p:ph idx="1"/>
          </p:nvPr>
        </p:nvSpPr>
        <p:spPr>
          <a:xfrm>
            <a:off x="457200" y="990600"/>
            <a:ext cx="8229600" cy="5135563"/>
          </a:xfrm>
        </p:spPr>
        <p:txBody>
          <a:bodyPr/>
          <a:lstStyle/>
          <a:p>
            <a:pPr algn="just">
              <a:buFont typeface="Wingdings" panose="05000000000000000000" pitchFamily="2" charset="2"/>
              <a:buChar char="Ø"/>
            </a:pPr>
            <a:endParaRPr lang="en-US" dirty="0" smtClean="0"/>
          </a:p>
          <a:p>
            <a:pPr algn="just">
              <a:buFont typeface="Wingdings" panose="05000000000000000000" pitchFamily="2" charset="2"/>
              <a:buChar char="Ø"/>
            </a:pPr>
            <a:r>
              <a:rPr lang="en-US" dirty="0" smtClean="0"/>
              <a:t>The </a:t>
            </a:r>
            <a:r>
              <a:rPr lang="en-US" b="1" dirty="0"/>
              <a:t>right thing to do</a:t>
            </a:r>
            <a:r>
              <a:rPr lang="en-US" dirty="0"/>
              <a:t>-the rational decision-therefore depends on both the </a:t>
            </a:r>
            <a:r>
              <a:rPr lang="en-US" b="1" dirty="0"/>
              <a:t>relative importance of various goals and the likelihood that, and degree to which, they will be achieved.</a:t>
            </a: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38200"/>
            <a:ext cx="8229600" cy="715962"/>
          </a:xfrm>
        </p:spPr>
        <p:txBody>
          <a:bodyPr>
            <a:noAutofit/>
          </a:bodyPr>
          <a:lstStyle/>
          <a:p>
            <a:pPr algn="ctr"/>
            <a:r>
              <a:rPr lang="en-US" sz="3200" dirty="0"/>
              <a:t>Handling uncertain </a:t>
            </a:r>
            <a:r>
              <a:rPr lang="en-US" sz="3200" dirty="0" smtClean="0"/>
              <a:t>knowledge - </a:t>
            </a:r>
            <a:r>
              <a:rPr lang="en-US" sz="3200" dirty="0"/>
              <a:t>Dental diagnosis using FOL</a:t>
            </a:r>
            <a:br>
              <a:rPr lang="en-US" sz="3200" dirty="0"/>
            </a:br>
            <a:endParaRPr lang="en-US" sz="3200" dirty="0"/>
          </a:p>
        </p:txBody>
      </p:sp>
      <p:sp>
        <p:nvSpPr>
          <p:cNvPr id="3" name="Content Placeholder 2"/>
          <p:cNvSpPr>
            <a:spLocks noGrp="1"/>
          </p:cNvSpPr>
          <p:nvPr>
            <p:ph idx="1"/>
          </p:nvPr>
        </p:nvSpPr>
        <p:spPr>
          <a:xfrm>
            <a:off x="838200" y="1465277"/>
            <a:ext cx="8229600" cy="5410200"/>
          </a:xfrm>
        </p:spPr>
        <p:txBody>
          <a:bodyPr>
            <a:normAutofit lnSpcReduction="10000"/>
          </a:bodyPr>
          <a:lstStyle/>
          <a:p>
            <a:pPr>
              <a:buFont typeface="Wingdings" panose="05000000000000000000" pitchFamily="2" charset="2"/>
              <a:buChar char="Ø"/>
            </a:pPr>
            <a:r>
              <a:rPr lang="en-US" sz="2400" dirty="0" err="1" smtClean="0"/>
              <a:t>Ұp</a:t>
            </a:r>
            <a:r>
              <a:rPr lang="en-US" sz="2400" dirty="0" smtClean="0"/>
              <a:t> </a:t>
            </a:r>
            <a:r>
              <a:rPr lang="en-US" sz="2400" dirty="0"/>
              <a:t>Symptom(p, Toothache) </a:t>
            </a:r>
            <a:r>
              <a:rPr lang="en-US" sz="2400" dirty="0">
                <a:sym typeface="Wingdings" pitchFamily="2" charset="2"/>
              </a:rPr>
              <a:t> Disease(p, cavity</a:t>
            </a:r>
            <a:r>
              <a:rPr lang="en-US" sz="2400" dirty="0" smtClean="0">
                <a:sym typeface="Wingdings" pitchFamily="2" charset="2"/>
              </a:rPr>
              <a:t>)</a:t>
            </a:r>
          </a:p>
          <a:p>
            <a:pPr>
              <a:buFont typeface="Wingdings" panose="05000000000000000000" pitchFamily="2" charset="2"/>
              <a:buChar char="Ø"/>
            </a:pPr>
            <a:endParaRPr lang="en-US" sz="2400" dirty="0">
              <a:sym typeface="Wingdings" pitchFamily="2" charset="2"/>
            </a:endParaRPr>
          </a:p>
          <a:p>
            <a:pPr>
              <a:buFont typeface="Wingdings" panose="05000000000000000000" pitchFamily="2" charset="2"/>
              <a:buChar char="Ø"/>
            </a:pPr>
            <a:r>
              <a:rPr lang="en-US" sz="2400" dirty="0">
                <a:sym typeface="Wingdings" pitchFamily="2" charset="2"/>
              </a:rPr>
              <a:t>Rule is wrong…not all patients with toothaches have cavities; some of them have gum disease etc</a:t>
            </a:r>
            <a:r>
              <a:rPr lang="en-US" sz="2400" dirty="0" smtClean="0">
                <a:sym typeface="Wingdings" pitchFamily="2" charset="2"/>
              </a:rPr>
              <a:t>…</a:t>
            </a:r>
          </a:p>
          <a:p>
            <a:pPr>
              <a:buFont typeface="Wingdings" panose="05000000000000000000" pitchFamily="2" charset="2"/>
              <a:buChar char="Ø"/>
            </a:pPr>
            <a:endParaRPr lang="en-US" sz="2400" dirty="0">
              <a:sym typeface="Wingdings" pitchFamily="2" charset="2"/>
            </a:endParaRPr>
          </a:p>
          <a:p>
            <a:pPr>
              <a:buFont typeface="Wingdings" panose="05000000000000000000" pitchFamily="2" charset="2"/>
              <a:buChar char="Ø"/>
            </a:pPr>
            <a:r>
              <a:rPr lang="en-US" sz="2400" dirty="0" err="1"/>
              <a:t>Ұp</a:t>
            </a:r>
            <a:r>
              <a:rPr lang="en-US" sz="2400" dirty="0"/>
              <a:t> Symptom(p, Toothache) </a:t>
            </a:r>
            <a:r>
              <a:rPr lang="en-US" sz="2400" dirty="0">
                <a:sym typeface="Wingdings" pitchFamily="2" charset="2"/>
              </a:rPr>
              <a:t> Disease(p, cavity) V Disease( p, </a:t>
            </a:r>
            <a:r>
              <a:rPr lang="en-US" sz="2400" dirty="0" err="1">
                <a:sym typeface="Wingdings" pitchFamily="2" charset="2"/>
              </a:rPr>
              <a:t>GumDisease</a:t>
            </a:r>
            <a:r>
              <a:rPr lang="en-US" sz="2400" dirty="0">
                <a:sym typeface="Wingdings" pitchFamily="2" charset="2"/>
              </a:rPr>
              <a:t>) V Disease(p, </a:t>
            </a:r>
            <a:r>
              <a:rPr lang="en-US" sz="2400" dirty="0" err="1">
                <a:sym typeface="Wingdings" pitchFamily="2" charset="2"/>
              </a:rPr>
              <a:t>Abcess</a:t>
            </a:r>
            <a:r>
              <a:rPr lang="en-US" sz="2400" dirty="0" smtClean="0">
                <a:sym typeface="Wingdings" pitchFamily="2" charset="2"/>
              </a:rPr>
              <a:t>)…..</a:t>
            </a:r>
          </a:p>
          <a:p>
            <a:pPr>
              <a:buFont typeface="Wingdings" panose="05000000000000000000" pitchFamily="2" charset="2"/>
              <a:buChar char="Ø"/>
            </a:pPr>
            <a:endParaRPr lang="en-US" sz="2400" dirty="0">
              <a:sym typeface="Wingdings" pitchFamily="2" charset="2"/>
            </a:endParaRPr>
          </a:p>
          <a:p>
            <a:pPr>
              <a:buFont typeface="Wingdings" panose="05000000000000000000" pitchFamily="2" charset="2"/>
              <a:buChar char="Ø"/>
            </a:pPr>
            <a:r>
              <a:rPr lang="en-US" sz="2400" dirty="0">
                <a:sym typeface="Wingdings" pitchFamily="2" charset="2"/>
              </a:rPr>
              <a:t>To make the rule true…unlimited list of possible causes has to be added.</a:t>
            </a:r>
          </a:p>
          <a:p>
            <a:pPr>
              <a:buFont typeface="Wingdings" panose="05000000000000000000" pitchFamily="2" charset="2"/>
              <a:buChar char="Ø"/>
            </a:pPr>
            <a:r>
              <a:rPr lang="en-US" sz="2400" dirty="0" err="1"/>
              <a:t>Ұp</a:t>
            </a:r>
            <a:r>
              <a:rPr lang="en-US" sz="2400" dirty="0"/>
              <a:t> Disease(p, Cavity ) </a:t>
            </a:r>
            <a:r>
              <a:rPr lang="en-US" sz="2400" dirty="0">
                <a:sym typeface="Wingdings" pitchFamily="2" charset="2"/>
              </a:rPr>
              <a:t> Symptom(p, Toothache)</a:t>
            </a:r>
          </a:p>
          <a:p>
            <a:pPr>
              <a:buFont typeface="Wingdings" panose="05000000000000000000" pitchFamily="2" charset="2"/>
              <a:buChar char="Ø"/>
            </a:pPr>
            <a:r>
              <a:rPr lang="en-US" sz="2400" dirty="0">
                <a:sym typeface="Wingdings" pitchFamily="2" charset="2"/>
              </a:rPr>
              <a:t>This is also not right either; not all cavities cause pain.</a:t>
            </a:r>
          </a:p>
          <a:p>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pPr algn="ctr"/>
            <a:r>
              <a:rPr lang="en-US" dirty="0"/>
              <a:t>Handling uncertain knowledge</a:t>
            </a:r>
          </a:p>
        </p:txBody>
      </p:sp>
      <p:sp>
        <p:nvSpPr>
          <p:cNvPr id="3" name="Content Placeholder 2"/>
          <p:cNvSpPr>
            <a:spLocks noGrp="1"/>
          </p:cNvSpPr>
          <p:nvPr>
            <p:ph idx="1"/>
          </p:nvPr>
        </p:nvSpPr>
        <p:spPr>
          <a:xfrm>
            <a:off x="914400" y="1447800"/>
            <a:ext cx="7772400" cy="5029200"/>
          </a:xfrm>
        </p:spPr>
        <p:txBody>
          <a:bodyPr>
            <a:normAutofit/>
          </a:bodyPr>
          <a:lstStyle/>
          <a:p>
            <a:pPr>
              <a:buFont typeface="Wingdings" panose="05000000000000000000" pitchFamily="2" charset="2"/>
              <a:buChar char="Ø"/>
            </a:pPr>
            <a:r>
              <a:rPr lang="en-US" dirty="0"/>
              <a:t>FOL to cope with domain like medical diagnosis fails for three reasons</a:t>
            </a:r>
          </a:p>
          <a:p>
            <a:pPr>
              <a:buFont typeface="Wingdings" panose="05000000000000000000" pitchFamily="2" charset="2"/>
              <a:buChar char="Ø"/>
            </a:pPr>
            <a:r>
              <a:rPr lang="en-US" b="1" dirty="0"/>
              <a:t> Laziness  - </a:t>
            </a:r>
            <a:r>
              <a:rPr lang="en-US" dirty="0"/>
              <a:t>Too much work to list the complete set of antecedents or consequents.</a:t>
            </a:r>
          </a:p>
          <a:p>
            <a:pPr>
              <a:buFont typeface="Wingdings" panose="05000000000000000000" pitchFamily="2" charset="2"/>
              <a:buChar char="Ø"/>
            </a:pPr>
            <a:r>
              <a:rPr lang="en-US" b="1" dirty="0"/>
              <a:t>Theoretical Ignorance – </a:t>
            </a:r>
            <a:r>
              <a:rPr lang="en-US" dirty="0"/>
              <a:t>Medical science has no complete theory of the domain.</a:t>
            </a:r>
          </a:p>
          <a:p>
            <a:pPr>
              <a:buFont typeface="Wingdings" panose="05000000000000000000" pitchFamily="2" charset="2"/>
              <a:buChar char="Ø"/>
            </a:pPr>
            <a:r>
              <a:rPr lang="en-US" b="1" dirty="0"/>
              <a:t>Practical Ignorance – </a:t>
            </a:r>
            <a:r>
              <a:rPr lang="en-US" dirty="0"/>
              <a:t>Even if we know all the rules, not all rules can be run on a patient</a:t>
            </a:r>
            <a:r>
              <a:rPr lang="en-US" dirty="0" smtClean="0"/>
              <a:t>.</a:t>
            </a:r>
          </a:p>
          <a:p>
            <a:pPr marL="0" indent="0">
              <a:buNone/>
            </a:pPr>
            <a:endParaRPr lang="en-US" dirty="0"/>
          </a:p>
          <a:p>
            <a:pPr>
              <a:buFont typeface="Wingdings" panose="05000000000000000000" pitchFamily="2" charset="2"/>
              <a:buChar char="Ø"/>
            </a:pPr>
            <a:r>
              <a:rPr lang="en-US" dirty="0"/>
              <a:t>The connection between toothaches and cavities is just not a logical consequence.</a:t>
            </a:r>
          </a:p>
          <a:p>
            <a:pPr>
              <a:buFont typeface="Wingdings" panose="05000000000000000000" pitchFamily="2" charset="2"/>
              <a:buChar char="Ø"/>
            </a:pPr>
            <a:r>
              <a:rPr lang="en-US" dirty="0"/>
              <a:t>The Agents knowledge can at best provide only a </a:t>
            </a:r>
            <a:r>
              <a:rPr lang="en-US" b="1" dirty="0"/>
              <a:t>degree of belief.</a:t>
            </a:r>
          </a:p>
          <a:p>
            <a:pPr>
              <a:buFont typeface="Wingdings" panose="05000000000000000000" pitchFamily="2" charset="2"/>
              <a:buChar char="Ø"/>
            </a:pPr>
            <a:r>
              <a:rPr lang="en-US" dirty="0"/>
              <a:t>Our main tool for dealing with degree of belief is </a:t>
            </a:r>
            <a:r>
              <a:rPr lang="en-US" b="1" dirty="0"/>
              <a:t>probability theory.</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txBody>
          <a:bodyPr>
            <a:normAutofit/>
          </a:bodyPr>
          <a:lstStyle/>
          <a:p>
            <a:pPr algn="ctr"/>
            <a:r>
              <a:rPr lang="en-US" dirty="0"/>
              <a:t>Handling uncertain knowledge</a:t>
            </a:r>
          </a:p>
        </p:txBody>
      </p:sp>
      <p:sp>
        <p:nvSpPr>
          <p:cNvPr id="3" name="Content Placeholder 2"/>
          <p:cNvSpPr>
            <a:spLocks noGrp="1"/>
          </p:cNvSpPr>
          <p:nvPr>
            <p:ph idx="1"/>
          </p:nvPr>
        </p:nvSpPr>
        <p:spPr>
          <a:xfrm>
            <a:off x="914400" y="1066800"/>
            <a:ext cx="7772400" cy="4953000"/>
          </a:xfrm>
        </p:spPr>
        <p:txBody>
          <a:bodyPr>
            <a:normAutofit/>
          </a:bodyPr>
          <a:lstStyle/>
          <a:p>
            <a:pPr>
              <a:buFont typeface="Wingdings" panose="05000000000000000000" pitchFamily="2" charset="2"/>
              <a:buChar char="Ø"/>
            </a:pPr>
            <a:r>
              <a:rPr lang="en-US" dirty="0" err="1"/>
              <a:t>Eg</a:t>
            </a:r>
            <a:r>
              <a:rPr lang="en-US" dirty="0"/>
              <a:t> : 80% chance – that is, a probability of </a:t>
            </a:r>
            <a:r>
              <a:rPr lang="en-US" dirty="0" err="1"/>
              <a:t>of</a:t>
            </a:r>
            <a:r>
              <a:rPr lang="en-US" dirty="0"/>
              <a:t> 0.8 – that the patient has a cavity if he or she has a toothache</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The missing 20% summarizes all the other possible causes of toothache that we are too lazy or ignorant to confirm or deny</a:t>
            </a:r>
            <a:r>
              <a:rPr lang="en-US" dirty="0" smtClean="0"/>
              <a:t>.</a:t>
            </a:r>
          </a:p>
          <a:p>
            <a:pPr marL="0" indent="0">
              <a:buNone/>
            </a:pP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Assigning probability 0 –Unequivocal belief that the sentence is false.</a:t>
            </a:r>
          </a:p>
          <a:p>
            <a:pPr>
              <a:buFont typeface="Wingdings" panose="05000000000000000000" pitchFamily="2" charset="2"/>
              <a:buChar char="Ø"/>
            </a:pPr>
            <a:r>
              <a:rPr lang="en-US" dirty="0"/>
              <a:t>Assigning probability 1 –Unequivocal belief that the sentence is true</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Probabilities between 0 and 1 corresponds to intermediate degrees of belief in the truth of the sentence</a:t>
            </a:r>
            <a:r>
              <a:rPr lang="en-US" dirty="0" smtClean="0"/>
              <a:t>.</a:t>
            </a:r>
          </a:p>
          <a:p>
            <a:pPr marL="0" indent="0">
              <a:buNone/>
            </a:pPr>
            <a:endParaRPr lang="en-US" dirty="0"/>
          </a:p>
          <a:p>
            <a:pPr>
              <a:buFont typeface="Wingdings" panose="05000000000000000000" pitchFamily="2" charset="2"/>
              <a:buChar char="Ø"/>
            </a:pPr>
            <a:r>
              <a:rPr lang="en-US" dirty="0"/>
              <a:t>Degree of belief is different from the degree truth.</a:t>
            </a:r>
          </a:p>
          <a:p>
            <a:pPr>
              <a:buFont typeface="Wingdings" panose="05000000000000000000" pitchFamily="2" charset="2"/>
              <a:buChar char="Ø"/>
            </a:pPr>
            <a:r>
              <a:rPr lang="en-US" dirty="0"/>
              <a:t>Degree of truth is the subject of fuzzy logic.</a:t>
            </a:r>
          </a:p>
          <a:p>
            <a:endParaRPr lang="en-IN" dirty="0"/>
          </a:p>
        </p:txBody>
      </p:sp>
    </p:spTree>
    <p:extLst>
      <p:ext uri="{BB962C8B-B14F-4D97-AF65-F5344CB8AC3E}">
        <p14:creationId xmlns:p14="http://schemas.microsoft.com/office/powerpoint/2010/main" val="33603563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Handling uncertain knowledge</a:t>
            </a:r>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Before the evidence is obtained, we talk about </a:t>
            </a:r>
            <a:r>
              <a:rPr lang="en-US" b="1" dirty="0">
                <a:solidFill>
                  <a:srgbClr val="FF0000"/>
                </a:solidFill>
              </a:rPr>
              <a:t>prior or unconditional probability</a:t>
            </a:r>
            <a:r>
              <a:rPr lang="en-US" b="1" dirty="0" smtClean="0">
                <a:solidFill>
                  <a:srgbClr val="FF0000"/>
                </a:solidFill>
              </a:rPr>
              <a:t>.</a:t>
            </a:r>
          </a:p>
          <a:p>
            <a:pPr>
              <a:buFont typeface="Wingdings" panose="05000000000000000000" pitchFamily="2" charset="2"/>
              <a:buChar char="Ø"/>
            </a:pPr>
            <a:endParaRPr lang="en-US" dirty="0"/>
          </a:p>
          <a:p>
            <a:pPr>
              <a:buFont typeface="Wingdings" panose="05000000000000000000" pitchFamily="2" charset="2"/>
              <a:buChar char="Ø"/>
            </a:pPr>
            <a:r>
              <a:rPr lang="en-US" dirty="0"/>
              <a:t>After the evidence is obtained we talk about </a:t>
            </a:r>
            <a:r>
              <a:rPr lang="en-US" b="1" dirty="0">
                <a:solidFill>
                  <a:srgbClr val="FF0000"/>
                </a:solidFill>
              </a:rPr>
              <a:t>posterior or conditional probability.</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92162"/>
          </a:xfrm>
        </p:spPr>
        <p:txBody>
          <a:bodyPr/>
          <a:lstStyle/>
          <a:p>
            <a:r>
              <a:rPr lang="en-US" dirty="0"/>
              <a:t>Uncertainty and Rational Decisions</a:t>
            </a:r>
          </a:p>
        </p:txBody>
      </p:sp>
      <p:sp>
        <p:nvSpPr>
          <p:cNvPr id="3" name="Content Placeholder 2"/>
          <p:cNvSpPr>
            <a:spLocks noGrp="1"/>
          </p:cNvSpPr>
          <p:nvPr>
            <p:ph idx="1"/>
          </p:nvPr>
        </p:nvSpPr>
        <p:spPr>
          <a:xfrm>
            <a:off x="914400" y="1143000"/>
            <a:ext cx="7772400" cy="5334000"/>
          </a:xfrm>
        </p:spPr>
        <p:txBody>
          <a:bodyPr/>
          <a:lstStyle/>
          <a:p>
            <a:pPr>
              <a:buFont typeface="Wingdings" panose="05000000000000000000" pitchFamily="2" charset="2"/>
              <a:buChar char="Ø"/>
            </a:pPr>
            <a:r>
              <a:rPr lang="en-US" dirty="0"/>
              <a:t>The presence of uncertainty radically changes the way an agent makes decisions. </a:t>
            </a:r>
          </a:p>
          <a:p>
            <a:pPr>
              <a:buFont typeface="Wingdings" panose="05000000000000000000" pitchFamily="2" charset="2"/>
              <a:buChar char="Ø"/>
            </a:pPr>
            <a:r>
              <a:rPr lang="en-US" dirty="0"/>
              <a:t>Suppose A90 plan for getting to the airport has 95% chance of succeeding. Does this mean it is a rational choice.</a:t>
            </a:r>
          </a:p>
          <a:p>
            <a:pPr>
              <a:buFont typeface="Wingdings" panose="05000000000000000000" pitchFamily="2" charset="2"/>
              <a:buChar char="Ø"/>
            </a:pPr>
            <a:r>
              <a:rPr lang="en-US" dirty="0"/>
              <a:t>There may be A120 with higher probabilities of success.</a:t>
            </a:r>
          </a:p>
          <a:p>
            <a:pPr>
              <a:buFont typeface="Wingdings" panose="05000000000000000000" pitchFamily="2" charset="2"/>
              <a:buChar char="Ø"/>
            </a:pPr>
            <a:r>
              <a:rPr lang="en-US" dirty="0"/>
              <a:t>What about A1440, a plan that involves leaving home 24hrs in advance</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    </a:t>
            </a:r>
            <a:r>
              <a:rPr lang="en-US" b="1" dirty="0"/>
              <a:t>Decision theory = Probability theory + utility </a:t>
            </a:r>
            <a:r>
              <a:rPr lang="en-US" b="1" dirty="0" smtClean="0"/>
              <a:t>theory</a:t>
            </a:r>
          </a:p>
          <a:p>
            <a:pPr>
              <a:buFont typeface="Wingdings" panose="05000000000000000000" pitchFamily="2" charset="2"/>
              <a:buChar char="Ø"/>
            </a:pPr>
            <a:endParaRPr lang="en-US" dirty="0"/>
          </a:p>
          <a:p>
            <a:pPr algn="just">
              <a:buFont typeface="Wingdings" panose="05000000000000000000" pitchFamily="2" charset="2"/>
              <a:buChar char="Ø"/>
            </a:pPr>
            <a:r>
              <a:rPr lang="en-US" dirty="0"/>
              <a:t>The fundamental idea of decision theory is that an agent is rational if and only if it chooses the action that yields the highest expected utility, averaged over all the possible outcomes of the action. This is called the principle of maximum expected utility (MEU).</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059587-FBED-4EEF-B27D-36FC7E961C83}"/>
              </a:ext>
            </a:extLst>
          </p:cNvPr>
          <p:cNvSpPr>
            <a:spLocks noGrp="1"/>
          </p:cNvSpPr>
          <p:nvPr>
            <p:ph type="title"/>
          </p:nvPr>
        </p:nvSpPr>
        <p:spPr/>
        <p:txBody>
          <a:bodyPr/>
          <a:lstStyle/>
          <a:p>
            <a:pPr algn="ctr"/>
            <a:r>
              <a:rPr lang="en-IN" b="1" dirty="0"/>
              <a:t>What probabilities are about</a:t>
            </a:r>
          </a:p>
        </p:txBody>
      </p:sp>
      <p:sp>
        <p:nvSpPr>
          <p:cNvPr id="3" name="Content Placeholder 2">
            <a:extLst>
              <a:ext uri="{FF2B5EF4-FFF2-40B4-BE49-F238E27FC236}">
                <a16:creationId xmlns:a16="http://schemas.microsoft.com/office/drawing/2014/main" id="{1FA80D24-BE69-446E-962F-1B7AA2B04553}"/>
              </a:ext>
            </a:extLst>
          </p:cNvPr>
          <p:cNvSpPr>
            <a:spLocks noGrp="1"/>
          </p:cNvSpPr>
          <p:nvPr>
            <p:ph idx="1"/>
          </p:nvPr>
        </p:nvSpPr>
        <p:spPr>
          <a:xfrm>
            <a:off x="914400" y="1600200"/>
            <a:ext cx="7772400" cy="4419600"/>
          </a:xfrm>
        </p:spPr>
        <p:txBody>
          <a:bodyPr/>
          <a:lstStyle/>
          <a:p>
            <a:endParaRPr lang="en-US" dirty="0" smtClean="0"/>
          </a:p>
          <a:p>
            <a:pPr>
              <a:buFont typeface="Wingdings" panose="05000000000000000000" pitchFamily="2" charset="2"/>
              <a:buChar char="Ø"/>
            </a:pPr>
            <a:r>
              <a:rPr lang="en-US" dirty="0" smtClean="0"/>
              <a:t>Like </a:t>
            </a:r>
            <a:r>
              <a:rPr lang="en-US" dirty="0"/>
              <a:t>logical assertions, probabilistic assertions are about possible worlds.</a:t>
            </a:r>
          </a:p>
          <a:p>
            <a:pPr>
              <a:buFont typeface="Wingdings" panose="05000000000000000000" pitchFamily="2" charset="2"/>
              <a:buChar char="Ø"/>
            </a:pPr>
            <a:endParaRPr lang="en-US" dirty="0"/>
          </a:p>
          <a:p>
            <a:pPr>
              <a:buFont typeface="Wingdings" panose="05000000000000000000" pitchFamily="2" charset="2"/>
              <a:buChar char="Ø"/>
            </a:pPr>
            <a:r>
              <a:rPr lang="en-US" dirty="0"/>
              <a:t>In probability theory, the set of all possible worlds is called the sample space.</a:t>
            </a:r>
          </a:p>
          <a:p>
            <a:pPr>
              <a:buFont typeface="Wingdings" panose="05000000000000000000" pitchFamily="2" charset="2"/>
              <a:buChar char="Ø"/>
            </a:pPr>
            <a:endParaRPr lang="en-US" dirty="0"/>
          </a:p>
          <a:p>
            <a:pPr>
              <a:buFont typeface="Wingdings" panose="05000000000000000000" pitchFamily="2" charset="2"/>
              <a:buChar char="Ø"/>
            </a:pPr>
            <a:r>
              <a:rPr lang="en-US" dirty="0"/>
              <a:t> The possible worlds are mutually exclusive and exhaustive—two possible worlds cannot both be the case, and one possible world must be the case. </a:t>
            </a:r>
            <a:endParaRPr lang="en-IN" dirty="0"/>
          </a:p>
        </p:txBody>
      </p:sp>
    </p:spTree>
    <p:extLst>
      <p:ext uri="{BB962C8B-B14F-4D97-AF65-F5344CB8AC3E}">
        <p14:creationId xmlns:p14="http://schemas.microsoft.com/office/powerpoint/2010/main" val="13976081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0B4348-2DBB-4F1D-BD47-C6A27A0C3ED3}"/>
              </a:ext>
            </a:extLst>
          </p:cNvPr>
          <p:cNvSpPr>
            <a:spLocks noGrp="1"/>
          </p:cNvSpPr>
          <p:nvPr>
            <p:ph type="title"/>
          </p:nvPr>
        </p:nvSpPr>
        <p:spPr/>
        <p:txBody>
          <a:bodyPr/>
          <a:lstStyle/>
          <a:p>
            <a:pPr algn="ctr"/>
            <a:r>
              <a:rPr lang="en-IN" b="1" dirty="0"/>
              <a:t>What probabilities are about</a:t>
            </a:r>
            <a:endParaRPr lang="en-IN" dirty="0"/>
          </a:p>
        </p:txBody>
      </p:sp>
      <p:sp>
        <p:nvSpPr>
          <p:cNvPr id="3" name="Content Placeholder 2">
            <a:extLst>
              <a:ext uri="{FF2B5EF4-FFF2-40B4-BE49-F238E27FC236}">
                <a16:creationId xmlns:a16="http://schemas.microsoft.com/office/drawing/2014/main" id="{591B6D51-C700-4BBD-B3D4-0F05101163EB}"/>
              </a:ext>
            </a:extLst>
          </p:cNvPr>
          <p:cNvSpPr>
            <a:spLocks noGrp="1"/>
          </p:cNvSpPr>
          <p:nvPr>
            <p:ph idx="1"/>
          </p:nvPr>
        </p:nvSpPr>
        <p:spPr/>
        <p:txBody>
          <a:bodyPr/>
          <a:lstStyle/>
          <a:p>
            <a:pPr>
              <a:buFont typeface="Wingdings" panose="05000000000000000000" pitchFamily="2" charset="2"/>
              <a:buChar char="Ø"/>
            </a:pPr>
            <a:r>
              <a:rPr lang="en-US" dirty="0"/>
              <a:t>In probability theory, the set of all possible worlds is called the sample space. </a:t>
            </a:r>
          </a:p>
          <a:p>
            <a:pPr>
              <a:buFont typeface="Wingdings" panose="05000000000000000000" pitchFamily="2" charset="2"/>
              <a:buChar char="Ø"/>
            </a:pPr>
            <a:endParaRPr lang="en-US" dirty="0"/>
          </a:p>
          <a:p>
            <a:pPr>
              <a:buFont typeface="Wingdings" panose="05000000000000000000" pitchFamily="2" charset="2"/>
              <a:buChar char="Ø"/>
            </a:pPr>
            <a:r>
              <a:rPr lang="en-US" dirty="0"/>
              <a:t>The possible worlds are mutually exclusive and </a:t>
            </a:r>
            <a:r>
              <a:rPr lang="en-US" dirty="0" smtClean="0"/>
              <a:t>exhaustive—two </a:t>
            </a:r>
            <a:r>
              <a:rPr lang="en-US" dirty="0"/>
              <a:t>possible worlds cannot both be the case, and one possible world must be the case.</a:t>
            </a:r>
            <a:endParaRPr lang="en-IN" dirty="0"/>
          </a:p>
        </p:txBody>
      </p:sp>
    </p:spTree>
    <p:extLst>
      <p:ext uri="{BB962C8B-B14F-4D97-AF65-F5344CB8AC3E}">
        <p14:creationId xmlns:p14="http://schemas.microsoft.com/office/powerpoint/2010/main" val="2884386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6B7F2-91DC-45D9-AEF5-28DFD54505D5}"/>
              </a:ext>
            </a:extLst>
          </p:cNvPr>
          <p:cNvSpPr>
            <a:spLocks noGrp="1"/>
          </p:cNvSpPr>
          <p:nvPr>
            <p:ph type="title"/>
          </p:nvPr>
        </p:nvSpPr>
        <p:spPr/>
        <p:txBody>
          <a:bodyPr/>
          <a:lstStyle/>
          <a:p>
            <a:r>
              <a:rPr lang="en-IN" b="1" dirty="0"/>
              <a:t>What probabilities are about</a:t>
            </a:r>
            <a:endParaRPr lang="en-IN" dirty="0"/>
          </a:p>
        </p:txBody>
      </p:sp>
      <p:sp>
        <p:nvSpPr>
          <p:cNvPr id="3" name="Content Placeholder 2">
            <a:extLst>
              <a:ext uri="{FF2B5EF4-FFF2-40B4-BE49-F238E27FC236}">
                <a16:creationId xmlns:a16="http://schemas.microsoft.com/office/drawing/2014/main" id="{5C38E54C-4318-4E30-AE4F-C9320511F666}"/>
              </a:ext>
            </a:extLst>
          </p:cNvPr>
          <p:cNvSpPr>
            <a:spLocks noGrp="1"/>
          </p:cNvSpPr>
          <p:nvPr>
            <p:ph idx="1"/>
          </p:nvPr>
        </p:nvSpPr>
        <p:spPr>
          <a:xfrm>
            <a:off x="914400" y="1447800"/>
            <a:ext cx="7772400" cy="3276600"/>
          </a:xfrm>
        </p:spPr>
        <p:txBody>
          <a:bodyPr/>
          <a:lstStyle/>
          <a:p>
            <a:endParaRPr lang="en-IN" dirty="0"/>
          </a:p>
          <a:p>
            <a:pPr>
              <a:buFont typeface="Wingdings" panose="05000000000000000000" pitchFamily="2" charset="2"/>
              <a:buChar char="Ø"/>
            </a:pPr>
            <a:r>
              <a:rPr lang="en-US" dirty="0"/>
              <a:t>A fully specified probability model associates a numerical probability P(ω) with each possible world.</a:t>
            </a:r>
          </a:p>
          <a:p>
            <a:pPr>
              <a:buFont typeface="Wingdings" panose="05000000000000000000" pitchFamily="2" charset="2"/>
              <a:buChar char="Ø"/>
            </a:pPr>
            <a:endParaRPr lang="en-US" dirty="0"/>
          </a:p>
          <a:p>
            <a:pPr>
              <a:buFont typeface="Wingdings" panose="05000000000000000000" pitchFamily="2" charset="2"/>
              <a:buChar char="Ø"/>
            </a:pPr>
            <a:r>
              <a:rPr lang="en-US" dirty="0"/>
              <a:t>The basic axioms of probability theory say that every possible world has a probability between 0 and 1 and that the total probability of the set of possible worlds is 1:</a:t>
            </a:r>
          </a:p>
          <a:p>
            <a:endParaRPr lang="en-US"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a:p>
            <a:endParaRPr lang="en-IN" dirty="0"/>
          </a:p>
        </p:txBody>
      </p:sp>
      <p:pic>
        <p:nvPicPr>
          <p:cNvPr id="5" name="Picture 4">
            <a:extLst>
              <a:ext uri="{FF2B5EF4-FFF2-40B4-BE49-F238E27FC236}">
                <a16:creationId xmlns:a16="http://schemas.microsoft.com/office/drawing/2014/main" id="{7CE98E85-5526-49AF-876A-59D2AB328D63}"/>
              </a:ext>
            </a:extLst>
          </p:cNvPr>
          <p:cNvPicPr>
            <a:picLocks noChangeAspect="1"/>
          </p:cNvPicPr>
          <p:nvPr/>
        </p:nvPicPr>
        <p:blipFill>
          <a:blip r:embed="rId2"/>
          <a:stretch>
            <a:fillRect/>
          </a:stretch>
        </p:blipFill>
        <p:spPr>
          <a:xfrm>
            <a:off x="2000250" y="4991100"/>
            <a:ext cx="5143500" cy="838200"/>
          </a:xfrm>
          <a:prstGeom prst="rect">
            <a:avLst/>
          </a:prstGeom>
        </p:spPr>
      </p:pic>
    </p:spTree>
    <p:extLst>
      <p:ext uri="{BB962C8B-B14F-4D97-AF65-F5344CB8AC3E}">
        <p14:creationId xmlns:p14="http://schemas.microsoft.com/office/powerpoint/2010/main" val="508141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0A3656-6D78-48B1-8617-DB2835F13267}"/>
              </a:ext>
            </a:extLst>
          </p:cNvPr>
          <p:cNvSpPr>
            <a:spLocks noGrp="1"/>
          </p:cNvSpPr>
          <p:nvPr>
            <p:ph type="title"/>
          </p:nvPr>
        </p:nvSpPr>
        <p:spPr/>
        <p:txBody>
          <a:bodyPr/>
          <a:lstStyle/>
          <a:p>
            <a:pPr algn="ctr"/>
            <a:r>
              <a:rPr lang="en-IN" b="1" dirty="0"/>
              <a:t>What probabilities are about</a:t>
            </a:r>
            <a:endParaRPr lang="en-IN" dirty="0"/>
          </a:p>
        </p:txBody>
      </p:sp>
      <p:sp>
        <p:nvSpPr>
          <p:cNvPr id="3" name="Content Placeholder 2">
            <a:extLst>
              <a:ext uri="{FF2B5EF4-FFF2-40B4-BE49-F238E27FC236}">
                <a16:creationId xmlns:a16="http://schemas.microsoft.com/office/drawing/2014/main" id="{8CCDE667-B536-4CFE-B3E9-1EEF266C2245}"/>
              </a:ext>
            </a:extLst>
          </p:cNvPr>
          <p:cNvSpPr>
            <a:spLocks noGrp="1"/>
          </p:cNvSpPr>
          <p:nvPr>
            <p:ph idx="1"/>
          </p:nvPr>
        </p:nvSpPr>
        <p:spPr/>
        <p:txBody>
          <a:bodyPr/>
          <a:lstStyle/>
          <a:p>
            <a:pPr>
              <a:buFont typeface="Wingdings" panose="05000000000000000000" pitchFamily="2" charset="2"/>
              <a:buChar char="Ø"/>
            </a:pPr>
            <a:r>
              <a:rPr lang="en-US" dirty="0"/>
              <a:t>Probabilities such as P(Total = 11) and P(doubles) are called </a:t>
            </a:r>
            <a:r>
              <a:rPr lang="en-US" b="1" dirty="0">
                <a:solidFill>
                  <a:srgbClr val="FF0000"/>
                </a:solidFill>
              </a:rPr>
              <a:t>unconditional or prior probabilities </a:t>
            </a:r>
            <a:r>
              <a:rPr lang="en-US" dirty="0"/>
              <a:t>;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a:t>they refer to degrees of belief in propositions in the absence of any other information.</a:t>
            </a:r>
          </a:p>
          <a:p>
            <a:pPr>
              <a:buFont typeface="Wingdings" panose="05000000000000000000" pitchFamily="2" charset="2"/>
              <a:buChar char="Ø"/>
            </a:pPr>
            <a:endParaRPr lang="en-US" dirty="0"/>
          </a:p>
          <a:p>
            <a:pPr>
              <a:buFont typeface="Wingdings" panose="05000000000000000000" pitchFamily="2" charset="2"/>
              <a:buChar char="Ø"/>
            </a:pPr>
            <a:r>
              <a:rPr lang="en-US" b="1" dirty="0">
                <a:solidFill>
                  <a:srgbClr val="FF0000"/>
                </a:solidFill>
              </a:rPr>
              <a:t>conditional or posterior probability</a:t>
            </a:r>
            <a:r>
              <a:rPr lang="en-US" dirty="0"/>
              <a:t> of rolling  doubles given that the first die is a 5. This probability is written P(doubles | Die1 = 5),</a:t>
            </a:r>
            <a:endParaRPr lang="en-IN" dirty="0"/>
          </a:p>
        </p:txBody>
      </p:sp>
    </p:spTree>
    <p:extLst>
      <p:ext uri="{BB962C8B-B14F-4D97-AF65-F5344CB8AC3E}">
        <p14:creationId xmlns:p14="http://schemas.microsoft.com/office/powerpoint/2010/main" val="273750110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6D8FC6-2337-40AC-9A1A-8E6D200E687E}"/>
              </a:ext>
            </a:extLst>
          </p:cNvPr>
          <p:cNvSpPr>
            <a:spLocks noGrp="1"/>
          </p:cNvSpPr>
          <p:nvPr>
            <p:ph type="title"/>
          </p:nvPr>
        </p:nvSpPr>
        <p:spPr/>
        <p:txBody>
          <a:bodyPr/>
          <a:lstStyle/>
          <a:p>
            <a:pPr algn="ctr"/>
            <a:r>
              <a:rPr lang="en-IN" b="1" dirty="0"/>
              <a:t>What probabilities are about</a:t>
            </a:r>
            <a:endParaRPr lang="en-IN" dirty="0"/>
          </a:p>
        </p:txBody>
      </p:sp>
      <p:pic>
        <p:nvPicPr>
          <p:cNvPr id="5" name="Content Placeholder 4">
            <a:extLst>
              <a:ext uri="{FF2B5EF4-FFF2-40B4-BE49-F238E27FC236}">
                <a16:creationId xmlns:a16="http://schemas.microsoft.com/office/drawing/2014/main" id="{57D53953-B032-4ED9-B4A2-52B0A4EFB6A3}"/>
              </a:ext>
            </a:extLst>
          </p:cNvPr>
          <p:cNvPicPr>
            <a:picLocks noGrp="1" noChangeAspect="1"/>
          </p:cNvPicPr>
          <p:nvPr>
            <p:ph idx="1"/>
          </p:nvPr>
        </p:nvPicPr>
        <p:blipFill>
          <a:blip r:embed="rId2"/>
          <a:stretch>
            <a:fillRect/>
          </a:stretch>
        </p:blipFill>
        <p:spPr>
          <a:xfrm>
            <a:off x="1295400" y="1981200"/>
            <a:ext cx="4857750" cy="723900"/>
          </a:xfrm>
        </p:spPr>
      </p:pic>
      <p:sp>
        <p:nvSpPr>
          <p:cNvPr id="7" name="TextBox 6">
            <a:extLst>
              <a:ext uri="{FF2B5EF4-FFF2-40B4-BE49-F238E27FC236}">
                <a16:creationId xmlns:a16="http://schemas.microsoft.com/office/drawing/2014/main" id="{F3F35B48-DE77-423C-A4B7-06E3DC7DE644}"/>
              </a:ext>
            </a:extLst>
          </p:cNvPr>
          <p:cNvSpPr txBox="1"/>
          <p:nvPr/>
        </p:nvSpPr>
        <p:spPr>
          <a:xfrm>
            <a:off x="1314156" y="2680482"/>
            <a:ext cx="7448843" cy="646331"/>
          </a:xfrm>
          <a:prstGeom prst="rect">
            <a:avLst/>
          </a:prstGeom>
          <a:noFill/>
        </p:spPr>
        <p:txBody>
          <a:bodyPr wrap="square">
            <a:spAutoFit/>
          </a:bodyPr>
          <a:lstStyle/>
          <a:p>
            <a:r>
              <a:rPr lang="en-US" dirty="0"/>
              <a:t>For example, when rolling fair dice, we have P(Total = 11) = P((5, 6)) + P((6, 5)) = 1/36 + 1/36 = 1/18. </a:t>
            </a:r>
            <a:endParaRPr lang="en-IN" dirty="0"/>
          </a:p>
        </p:txBody>
      </p:sp>
    </p:spTree>
    <p:extLst>
      <p:ext uri="{BB962C8B-B14F-4D97-AF65-F5344CB8AC3E}">
        <p14:creationId xmlns:p14="http://schemas.microsoft.com/office/powerpoint/2010/main" val="3295124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86C60B-B7E9-4B2E-8192-8BF7FEB2CD5A}"/>
              </a:ext>
            </a:extLst>
          </p:cNvPr>
          <p:cNvSpPr>
            <a:spLocks noGrp="1"/>
          </p:cNvSpPr>
          <p:nvPr>
            <p:ph type="title"/>
          </p:nvPr>
        </p:nvSpPr>
        <p:spPr/>
        <p:txBody>
          <a:bodyPr/>
          <a:lstStyle/>
          <a:p>
            <a:pPr algn="ctr"/>
            <a:r>
              <a:rPr lang="en-IN" b="1" dirty="0"/>
              <a:t>What probabilities are about</a:t>
            </a:r>
            <a:endParaRPr lang="en-IN" dirty="0"/>
          </a:p>
        </p:txBody>
      </p:sp>
      <p:sp>
        <p:nvSpPr>
          <p:cNvPr id="3" name="Content Placeholder 2">
            <a:extLst>
              <a:ext uri="{FF2B5EF4-FFF2-40B4-BE49-F238E27FC236}">
                <a16:creationId xmlns:a16="http://schemas.microsoft.com/office/drawing/2014/main" id="{7BCDC3E9-EBC5-4FB1-BDEC-1B32313B17D0}"/>
              </a:ext>
            </a:extLst>
          </p:cNvPr>
          <p:cNvSpPr>
            <a:spLocks noGrp="1"/>
          </p:cNvSpPr>
          <p:nvPr>
            <p:ph idx="1"/>
          </p:nvPr>
        </p:nvSpPr>
        <p:spPr/>
        <p:txBody>
          <a:bodyPr/>
          <a:lstStyle/>
          <a:p>
            <a:pPr>
              <a:buFont typeface="Wingdings" panose="05000000000000000000" pitchFamily="2" charset="2"/>
              <a:buChar char="§"/>
            </a:pPr>
            <a:r>
              <a:rPr lang="en-US" dirty="0"/>
              <a:t>Mathematically speaking, </a:t>
            </a:r>
            <a:r>
              <a:rPr lang="en-US" b="1" dirty="0">
                <a:solidFill>
                  <a:srgbClr val="FF0000"/>
                </a:solidFill>
              </a:rPr>
              <a:t>conditional probabilities are defined in terms of unconditional probabilities</a:t>
            </a:r>
            <a:r>
              <a:rPr lang="en-US" dirty="0"/>
              <a:t> as follows: for any propositions a and b, we have</a:t>
            </a:r>
          </a:p>
          <a:p>
            <a:endParaRPr lang="en-US" dirty="0"/>
          </a:p>
          <a:p>
            <a:endParaRPr lang="en-IN" dirty="0"/>
          </a:p>
        </p:txBody>
      </p:sp>
      <p:pic>
        <p:nvPicPr>
          <p:cNvPr id="5" name="Picture 4">
            <a:extLst>
              <a:ext uri="{FF2B5EF4-FFF2-40B4-BE49-F238E27FC236}">
                <a16:creationId xmlns:a16="http://schemas.microsoft.com/office/drawing/2014/main" id="{ECD14B84-6407-4C7A-8FCD-F179A85139AA}"/>
              </a:ext>
            </a:extLst>
          </p:cNvPr>
          <p:cNvPicPr>
            <a:picLocks noChangeAspect="1"/>
          </p:cNvPicPr>
          <p:nvPr/>
        </p:nvPicPr>
        <p:blipFill>
          <a:blip r:embed="rId2"/>
          <a:stretch>
            <a:fillRect/>
          </a:stretch>
        </p:blipFill>
        <p:spPr>
          <a:xfrm>
            <a:off x="1676400" y="3810000"/>
            <a:ext cx="6238875" cy="1752600"/>
          </a:xfrm>
          <a:prstGeom prst="rect">
            <a:avLst/>
          </a:prstGeom>
        </p:spPr>
      </p:pic>
    </p:spTree>
    <p:extLst>
      <p:ext uri="{BB962C8B-B14F-4D97-AF65-F5344CB8AC3E}">
        <p14:creationId xmlns:p14="http://schemas.microsoft.com/office/powerpoint/2010/main" val="3551997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FE7F7A-4F81-4986-A232-CA507E7D4829}"/>
              </a:ext>
            </a:extLst>
          </p:cNvPr>
          <p:cNvSpPr>
            <a:spLocks noGrp="1"/>
          </p:cNvSpPr>
          <p:nvPr>
            <p:ph type="title"/>
          </p:nvPr>
        </p:nvSpPr>
        <p:spPr/>
        <p:txBody>
          <a:bodyPr/>
          <a:lstStyle/>
          <a:p>
            <a:pPr algn="ctr"/>
            <a:r>
              <a:rPr lang="en-IN" b="1" dirty="0"/>
              <a:t>What probabilities are about</a:t>
            </a:r>
            <a:endParaRPr lang="en-IN" dirty="0"/>
          </a:p>
        </p:txBody>
      </p:sp>
      <p:sp>
        <p:nvSpPr>
          <p:cNvPr id="3" name="Content Placeholder 2">
            <a:extLst>
              <a:ext uri="{FF2B5EF4-FFF2-40B4-BE49-F238E27FC236}">
                <a16:creationId xmlns:a16="http://schemas.microsoft.com/office/drawing/2014/main" id="{6C43DB8E-6C31-4F92-9499-5CA6DBDD789A}"/>
              </a:ext>
            </a:extLst>
          </p:cNvPr>
          <p:cNvSpPr>
            <a:spLocks noGrp="1"/>
          </p:cNvSpPr>
          <p:nvPr>
            <p:ph idx="1"/>
          </p:nvPr>
        </p:nvSpPr>
        <p:spPr/>
        <p:txBody>
          <a:bodyPr/>
          <a:lstStyle/>
          <a:p>
            <a:pPr>
              <a:buFont typeface="Wingdings" panose="05000000000000000000" pitchFamily="2" charset="2"/>
              <a:buChar char="Ø"/>
            </a:pPr>
            <a:r>
              <a:rPr lang="en-US" dirty="0"/>
              <a:t>The definition of conditional probability, can be written in a different form called the product rule:</a:t>
            </a:r>
          </a:p>
          <a:p>
            <a:endParaRPr lang="en-US" dirty="0"/>
          </a:p>
          <a:p>
            <a:endParaRPr lang="en-IN" dirty="0"/>
          </a:p>
        </p:txBody>
      </p:sp>
      <p:pic>
        <p:nvPicPr>
          <p:cNvPr id="5" name="Picture 4">
            <a:extLst>
              <a:ext uri="{FF2B5EF4-FFF2-40B4-BE49-F238E27FC236}">
                <a16:creationId xmlns:a16="http://schemas.microsoft.com/office/drawing/2014/main" id="{FEED81C1-46D6-4F52-A5B0-82EC37F4F335}"/>
              </a:ext>
            </a:extLst>
          </p:cNvPr>
          <p:cNvPicPr>
            <a:picLocks noChangeAspect="1"/>
          </p:cNvPicPr>
          <p:nvPr/>
        </p:nvPicPr>
        <p:blipFill>
          <a:blip r:embed="rId2"/>
          <a:stretch>
            <a:fillRect/>
          </a:stretch>
        </p:blipFill>
        <p:spPr>
          <a:xfrm>
            <a:off x="2286000" y="3352800"/>
            <a:ext cx="4389120" cy="685800"/>
          </a:xfrm>
          <a:prstGeom prst="rect">
            <a:avLst/>
          </a:prstGeom>
        </p:spPr>
      </p:pic>
    </p:spTree>
    <p:extLst>
      <p:ext uri="{BB962C8B-B14F-4D97-AF65-F5344CB8AC3E}">
        <p14:creationId xmlns:p14="http://schemas.microsoft.com/office/powerpoint/2010/main" val="39945209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normAutofit fontScale="92500" lnSpcReduction="20000"/>
          </a:bodyPr>
          <a:lstStyle/>
          <a:p>
            <a:pPr>
              <a:buFont typeface="Wingdings" panose="05000000000000000000" pitchFamily="2" charset="2"/>
              <a:buChar char="Ø"/>
            </a:pPr>
            <a:r>
              <a:rPr lang="en-US" dirty="0"/>
              <a:t>Variables in probability theory are called random </a:t>
            </a:r>
            <a:r>
              <a:rPr lang="en-US" dirty="0" smtClean="0"/>
              <a:t>variables.</a:t>
            </a:r>
          </a:p>
          <a:p>
            <a:pPr>
              <a:buFont typeface="Wingdings" panose="05000000000000000000" pitchFamily="2" charset="2"/>
              <a:buChar char="Ø"/>
            </a:pPr>
            <a:endParaRPr lang="en-US" dirty="0"/>
          </a:p>
          <a:p>
            <a:pPr>
              <a:buFont typeface="Wingdings" panose="05000000000000000000" pitchFamily="2" charset="2"/>
              <a:buChar char="Ø"/>
            </a:pPr>
            <a:r>
              <a:rPr lang="en-US" dirty="0" err="1" smtClean="0"/>
              <a:t>Eg</a:t>
            </a:r>
            <a:r>
              <a:rPr lang="en-US" dirty="0"/>
              <a:t>: </a:t>
            </a:r>
            <a:r>
              <a:rPr lang="en-US" dirty="0" smtClean="0"/>
              <a:t>Total </a:t>
            </a:r>
            <a:r>
              <a:rPr lang="en-US" dirty="0"/>
              <a:t>and Die1 are random variables</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Every </a:t>
            </a:r>
            <a:r>
              <a:rPr lang="en-US" dirty="0" smtClean="0"/>
              <a:t>random </a:t>
            </a:r>
            <a:r>
              <a:rPr lang="en-US" dirty="0"/>
              <a:t>variable has a domain—the set of possible values it can take on</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The domain of Total for two dice is the set {2, . . . , 12} and the domain of Die1 is {1, . . . , 6}.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A </a:t>
            </a:r>
            <a:r>
              <a:rPr lang="en-US" dirty="0"/>
              <a:t>Boolean random variable has the domain {true, false}</a:t>
            </a:r>
            <a:endParaRPr lang="en-IN" dirty="0"/>
          </a:p>
        </p:txBody>
      </p:sp>
    </p:spTree>
    <p:extLst>
      <p:ext uri="{BB962C8B-B14F-4D97-AF65-F5344CB8AC3E}">
        <p14:creationId xmlns:p14="http://schemas.microsoft.com/office/powerpoint/2010/main" val="31832978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normAutofit fontScale="92500" lnSpcReduction="10000"/>
          </a:bodyPr>
          <a:lstStyle/>
          <a:p>
            <a:pPr>
              <a:buFont typeface="Wingdings" panose="05000000000000000000" pitchFamily="2" charset="2"/>
              <a:buChar char="Ø"/>
            </a:pPr>
            <a:r>
              <a:rPr lang="en-US" dirty="0" smtClean="0"/>
              <a:t>proposition </a:t>
            </a:r>
            <a:r>
              <a:rPr lang="en-US" dirty="0"/>
              <a:t>that doubles are </a:t>
            </a:r>
            <a:r>
              <a:rPr lang="en-US" dirty="0" smtClean="0"/>
              <a:t>rolled is Doubles </a:t>
            </a:r>
            <a:r>
              <a:rPr lang="en-US" dirty="0"/>
              <a:t>= true. </a:t>
            </a:r>
            <a:endParaRPr lang="en-US" dirty="0" smtClean="0"/>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By convention</a:t>
            </a:r>
            <a:r>
              <a:rPr lang="en-US" dirty="0"/>
              <a:t>, propositions of the form A = true are abbreviated simply as a, while A = false is abbreviated as ¬</a:t>
            </a:r>
            <a:r>
              <a:rPr lang="en-US" dirty="0" smtClean="0"/>
              <a:t>a.</a:t>
            </a:r>
          </a:p>
          <a:p>
            <a:pPr>
              <a:buFont typeface="Wingdings" panose="05000000000000000000" pitchFamily="2" charset="2"/>
              <a:buChar char="Ø"/>
            </a:pPr>
            <a:endParaRPr lang="en-US" dirty="0"/>
          </a:p>
          <a:p>
            <a:pPr>
              <a:buFont typeface="Wingdings" panose="05000000000000000000" pitchFamily="2" charset="2"/>
              <a:buChar char="Ø"/>
            </a:pPr>
            <a:r>
              <a:rPr lang="en-US" dirty="0"/>
              <a:t>domains can be sets of arbitrary tokens;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err="1" smtClean="0"/>
              <a:t>Eg</a:t>
            </a:r>
            <a:r>
              <a:rPr lang="en-US" dirty="0" smtClean="0"/>
              <a:t>: domain </a:t>
            </a:r>
            <a:r>
              <a:rPr lang="en-US" dirty="0"/>
              <a:t>of Age </a:t>
            </a:r>
            <a:r>
              <a:rPr lang="en-US" dirty="0" smtClean="0"/>
              <a:t>{</a:t>
            </a:r>
            <a:r>
              <a:rPr lang="en-US" dirty="0" err="1"/>
              <a:t>juvenile,teen</a:t>
            </a:r>
            <a:r>
              <a:rPr lang="en-US" dirty="0"/>
              <a:t>, adult} and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the </a:t>
            </a:r>
            <a:r>
              <a:rPr lang="en-US" dirty="0"/>
              <a:t>domain of Weather might be {sunny, rain, cloudy, snow}.</a:t>
            </a:r>
            <a:endParaRPr lang="en-IN" dirty="0"/>
          </a:p>
        </p:txBody>
      </p:sp>
    </p:spTree>
    <p:extLst>
      <p:ext uri="{BB962C8B-B14F-4D97-AF65-F5344CB8AC3E}">
        <p14:creationId xmlns:p14="http://schemas.microsoft.com/office/powerpoint/2010/main" val="21639092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Variables can have infinite domains, too—either discrete (like the integers) or continuous (like the reals</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The probability that the patient has a cavity, given that she is a teenager with no toothache, is 0.1” as follows: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IN" dirty="0"/>
              <a:t>P(cavity | ¬toothache ∧ teen) = 0.1 </a:t>
            </a:r>
            <a:endParaRPr lang="en-IN"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a:t>Sometimes we will want to talk about the probabilities of all the possible values of a random variable. We could write: </a:t>
            </a:r>
            <a:endParaRPr lang="en-IN" dirty="0"/>
          </a:p>
        </p:txBody>
      </p:sp>
    </p:spTree>
    <p:extLst>
      <p:ext uri="{BB962C8B-B14F-4D97-AF65-F5344CB8AC3E}">
        <p14:creationId xmlns:p14="http://schemas.microsoft.com/office/powerpoint/2010/main" val="197994148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r>
              <a:rPr lang="en-US" dirty="0"/>
              <a:t>P(Weather = sunny) = 0.6 </a:t>
            </a:r>
            <a:endParaRPr lang="en-US" dirty="0" smtClean="0"/>
          </a:p>
          <a:p>
            <a:r>
              <a:rPr lang="en-US" dirty="0" smtClean="0"/>
              <a:t>P(Weather </a:t>
            </a:r>
            <a:r>
              <a:rPr lang="en-US" dirty="0"/>
              <a:t>= rain) = 0.1 </a:t>
            </a:r>
            <a:endParaRPr lang="en-US" dirty="0" smtClean="0"/>
          </a:p>
          <a:p>
            <a:r>
              <a:rPr lang="en-US" dirty="0" smtClean="0"/>
              <a:t>P(Weather </a:t>
            </a:r>
            <a:r>
              <a:rPr lang="en-US" dirty="0"/>
              <a:t>= cloudy) = 0.29 </a:t>
            </a:r>
            <a:endParaRPr lang="en-US" dirty="0" smtClean="0"/>
          </a:p>
          <a:p>
            <a:r>
              <a:rPr lang="en-US" dirty="0" smtClean="0"/>
              <a:t>P(Weather </a:t>
            </a:r>
            <a:r>
              <a:rPr lang="en-US" dirty="0"/>
              <a:t>= snow) = </a:t>
            </a:r>
            <a:r>
              <a:rPr lang="en-US" dirty="0" smtClean="0"/>
              <a:t>0.01, </a:t>
            </a:r>
          </a:p>
          <a:p>
            <a:endParaRPr lang="en-US" dirty="0" smtClean="0"/>
          </a:p>
          <a:p>
            <a:r>
              <a:rPr lang="en-US" dirty="0" smtClean="0"/>
              <a:t>but </a:t>
            </a:r>
            <a:r>
              <a:rPr lang="en-US" dirty="0"/>
              <a:t>as an abbreviation we will allow </a:t>
            </a:r>
            <a:endParaRPr lang="en-US" dirty="0" smtClean="0"/>
          </a:p>
          <a:p>
            <a:r>
              <a:rPr lang="en-US" b="1" dirty="0" smtClean="0"/>
              <a:t>P</a:t>
            </a:r>
            <a:r>
              <a:rPr lang="en-US" dirty="0" smtClean="0"/>
              <a:t>(Weather </a:t>
            </a:r>
            <a:r>
              <a:rPr lang="en-US" dirty="0"/>
              <a:t>) = </a:t>
            </a:r>
            <a:r>
              <a:rPr lang="en-US" dirty="0" smtClean="0"/>
              <a:t>&lt;0.6</a:t>
            </a:r>
            <a:r>
              <a:rPr lang="en-US" dirty="0"/>
              <a:t>, 0.1, 0.29, </a:t>
            </a:r>
            <a:r>
              <a:rPr lang="en-US" dirty="0" smtClean="0"/>
              <a:t>0.01&gt; </a:t>
            </a:r>
            <a:r>
              <a:rPr lang="en-US" dirty="0"/>
              <a:t>, </a:t>
            </a:r>
            <a:endParaRPr lang="en-IN" dirty="0"/>
          </a:p>
        </p:txBody>
      </p:sp>
    </p:spTree>
    <p:extLst>
      <p:ext uri="{BB962C8B-B14F-4D97-AF65-F5344CB8AC3E}">
        <p14:creationId xmlns:p14="http://schemas.microsoft.com/office/powerpoint/2010/main" val="33082897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where the bold </a:t>
            </a:r>
            <a:r>
              <a:rPr lang="en-US" b="1" dirty="0"/>
              <a:t>P i</a:t>
            </a:r>
            <a:r>
              <a:rPr lang="en-US" dirty="0"/>
              <a:t>ndicates that the result is a vector of </a:t>
            </a:r>
            <a:r>
              <a:rPr lang="en-US" dirty="0" smtClean="0"/>
              <a:t>numbers.</a:t>
            </a:r>
          </a:p>
          <a:p>
            <a:pPr>
              <a:buFont typeface="Wingdings" panose="05000000000000000000" pitchFamily="2" charset="2"/>
              <a:buChar char="Ø"/>
            </a:pPr>
            <a:endParaRPr lang="en-US" dirty="0"/>
          </a:p>
          <a:p>
            <a:pPr>
              <a:buFont typeface="Wingdings" panose="05000000000000000000" pitchFamily="2" charset="2"/>
              <a:buChar char="Ø"/>
            </a:pPr>
            <a:r>
              <a:rPr lang="en-US" dirty="0"/>
              <a:t>The </a:t>
            </a:r>
            <a:r>
              <a:rPr lang="en-US" b="1" dirty="0"/>
              <a:t>P</a:t>
            </a:r>
            <a:r>
              <a:rPr lang="en-US" dirty="0"/>
              <a:t> </a:t>
            </a:r>
            <a:r>
              <a:rPr lang="en-US" dirty="0" smtClean="0"/>
              <a:t>notation </a:t>
            </a:r>
            <a:r>
              <a:rPr lang="en-US" dirty="0"/>
              <a:t>is also used for conditional distributions: </a:t>
            </a:r>
            <a:endParaRPr lang="en-US" dirty="0" smtClean="0"/>
          </a:p>
          <a:p>
            <a:pPr>
              <a:buFont typeface="Wingdings" panose="05000000000000000000" pitchFamily="2" charset="2"/>
              <a:buChar char="Ø"/>
            </a:pPr>
            <a:endParaRPr lang="en-US" dirty="0" smtClean="0"/>
          </a:p>
          <a:p>
            <a:pPr>
              <a:buFont typeface="Wingdings" panose="05000000000000000000" pitchFamily="2" charset="2"/>
              <a:buChar char="Ø"/>
            </a:pPr>
            <a:r>
              <a:rPr lang="en-US" b="1" dirty="0" smtClean="0"/>
              <a:t>P</a:t>
            </a:r>
            <a:r>
              <a:rPr lang="en-US" dirty="0" smtClean="0"/>
              <a:t>(X </a:t>
            </a:r>
            <a:r>
              <a:rPr lang="en-US" dirty="0"/>
              <a:t>| Y ) gives the values of </a:t>
            </a:r>
            <a:r>
              <a:rPr lang="en-US" b="1" dirty="0"/>
              <a:t>P</a:t>
            </a:r>
            <a:r>
              <a:rPr lang="en-US" dirty="0"/>
              <a:t>(X = xi | Y = </a:t>
            </a:r>
            <a:r>
              <a:rPr lang="en-US" dirty="0" err="1"/>
              <a:t>yj</a:t>
            </a:r>
            <a:r>
              <a:rPr lang="en-US" dirty="0"/>
              <a:t> ) for each possible </a:t>
            </a:r>
            <a:r>
              <a:rPr lang="en-US" dirty="0" err="1"/>
              <a:t>i</a:t>
            </a:r>
            <a:r>
              <a:rPr lang="en-US" dirty="0"/>
              <a:t>, j </a:t>
            </a:r>
            <a:r>
              <a:rPr lang="en-US" dirty="0" smtClean="0"/>
              <a:t>pair.</a:t>
            </a:r>
          </a:p>
          <a:p>
            <a:endParaRPr lang="en-US" dirty="0"/>
          </a:p>
          <a:p>
            <a:endParaRPr lang="en-IN" dirty="0"/>
          </a:p>
        </p:txBody>
      </p:sp>
    </p:spTree>
    <p:extLst>
      <p:ext uri="{BB962C8B-B14F-4D97-AF65-F5344CB8AC3E}">
        <p14:creationId xmlns:p14="http://schemas.microsoft.com/office/powerpoint/2010/main" val="1018872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For continuous variables, </a:t>
            </a:r>
            <a:r>
              <a:rPr lang="en-US" dirty="0" smtClean="0"/>
              <a:t>not </a:t>
            </a:r>
            <a:r>
              <a:rPr lang="en-US" dirty="0"/>
              <a:t>possible to write out the entire distribution as a </a:t>
            </a:r>
            <a:r>
              <a:rPr lang="en-US" dirty="0" smtClean="0"/>
              <a:t>vector - </a:t>
            </a:r>
            <a:r>
              <a:rPr lang="en-US" dirty="0"/>
              <a:t>there are infinitely many values. Instead,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we </a:t>
            </a:r>
            <a:r>
              <a:rPr lang="en-US" dirty="0"/>
              <a:t>can define the probability that a random variable takes on some value x as a parameterized function of x. </a:t>
            </a:r>
            <a:endParaRPr lang="en-US" dirty="0" smtClean="0"/>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For </a:t>
            </a:r>
            <a:r>
              <a:rPr lang="en-US" dirty="0"/>
              <a:t>example, the sentence </a:t>
            </a:r>
            <a:endParaRPr lang="en-US" dirty="0" smtClean="0"/>
          </a:p>
          <a:p>
            <a:pPr>
              <a:buFont typeface="Wingdings" panose="05000000000000000000" pitchFamily="2" charset="2"/>
              <a:buChar char="Ø"/>
            </a:pPr>
            <a:r>
              <a:rPr lang="en-US" dirty="0" smtClean="0"/>
              <a:t>P(</a:t>
            </a:r>
            <a:r>
              <a:rPr lang="en-US" dirty="0" err="1" smtClean="0"/>
              <a:t>NoonTemp</a:t>
            </a:r>
            <a:r>
              <a:rPr lang="en-US" dirty="0" smtClean="0"/>
              <a:t> </a:t>
            </a:r>
            <a:r>
              <a:rPr lang="en-US" dirty="0"/>
              <a:t>= x) = Uniform[18C,26C] (x)</a:t>
            </a:r>
            <a:endParaRPr lang="en-IN" dirty="0"/>
          </a:p>
        </p:txBody>
      </p:sp>
    </p:spTree>
    <p:extLst>
      <p:ext uri="{BB962C8B-B14F-4D97-AF65-F5344CB8AC3E}">
        <p14:creationId xmlns:p14="http://schemas.microsoft.com/office/powerpoint/2010/main" val="21421676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smtClean="0"/>
              <a:t>probability </a:t>
            </a:r>
            <a:r>
              <a:rPr lang="en-US" dirty="0"/>
              <a:t>density is uniform from 18C to </a:t>
            </a:r>
            <a:r>
              <a:rPr lang="en-US" dirty="0" smtClean="0"/>
              <a:t>26C.</a:t>
            </a:r>
          </a:p>
          <a:p>
            <a:pPr>
              <a:buFont typeface="Wingdings" panose="05000000000000000000" pitchFamily="2" charset="2"/>
              <a:buChar char="Ø"/>
            </a:pPr>
            <a:endParaRPr lang="en-US" dirty="0"/>
          </a:p>
          <a:p>
            <a:pPr>
              <a:buFont typeface="Wingdings" panose="05000000000000000000" pitchFamily="2" charset="2"/>
              <a:buChar char="Ø"/>
            </a:pPr>
            <a:r>
              <a:rPr lang="en-US" dirty="0" smtClean="0"/>
              <a:t>100</a:t>
            </a:r>
            <a:r>
              <a:rPr lang="en-US" dirty="0"/>
              <a:t>% chance that the </a:t>
            </a:r>
            <a:r>
              <a:rPr lang="en-US" dirty="0" smtClean="0"/>
              <a:t>temperature- </a:t>
            </a:r>
            <a:r>
              <a:rPr lang="en-US" dirty="0"/>
              <a:t>fall </a:t>
            </a:r>
            <a:r>
              <a:rPr lang="en-US" dirty="0" smtClean="0"/>
              <a:t>in </a:t>
            </a:r>
            <a:r>
              <a:rPr lang="en-US" dirty="0"/>
              <a:t>that 8C-wide region and a 50% </a:t>
            </a:r>
            <a:r>
              <a:rPr lang="en-US" dirty="0" smtClean="0"/>
              <a:t>chance - </a:t>
            </a:r>
            <a:r>
              <a:rPr lang="en-US" dirty="0"/>
              <a:t>it will fall in any 4C-wide region, and so on</a:t>
            </a:r>
            <a:r>
              <a:rPr lang="en-US" dirty="0" smtClean="0"/>
              <a:t>.</a:t>
            </a:r>
          </a:p>
          <a:p>
            <a:endParaRPr lang="en-US" dirty="0"/>
          </a:p>
          <a:p>
            <a:endParaRPr lang="en-US" dirty="0" smtClean="0"/>
          </a:p>
          <a:p>
            <a:endParaRPr lang="en-US" dirty="0"/>
          </a:p>
          <a:p>
            <a:endParaRPr lang="en-IN" dirty="0"/>
          </a:p>
        </p:txBody>
      </p:sp>
    </p:spTree>
    <p:extLst>
      <p:ext uri="{BB962C8B-B14F-4D97-AF65-F5344CB8AC3E}">
        <p14:creationId xmlns:p14="http://schemas.microsoft.com/office/powerpoint/2010/main" val="22438218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a:xfrm>
            <a:off x="768096" y="2286000"/>
            <a:ext cx="7290055" cy="4419600"/>
          </a:xfrm>
        </p:spPr>
        <p:txBody>
          <a:bodyPr>
            <a:normAutofit/>
          </a:bodyPr>
          <a:lstStyle/>
          <a:p>
            <a:pPr>
              <a:buFont typeface="Wingdings" panose="05000000000000000000" pitchFamily="2" charset="2"/>
              <a:buChar char="Ø"/>
            </a:pPr>
            <a:r>
              <a:rPr lang="en-US" dirty="0"/>
              <a:t>We write the probability density for a continuous random variable X at value x as P(X = x) or just P(x);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the </a:t>
            </a:r>
            <a:r>
              <a:rPr lang="en-US" dirty="0"/>
              <a:t>intuitive definition of P(x) is the probability that X falls within an arbitrarily small region beginning at x, divided by the width of the region: </a:t>
            </a:r>
            <a:endParaRPr lang="en-US" dirty="0" smtClean="0"/>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P(x</a:t>
            </a:r>
            <a:r>
              <a:rPr lang="en-US" dirty="0"/>
              <a:t>) = </a:t>
            </a:r>
            <a:r>
              <a:rPr lang="en-US" dirty="0" err="1"/>
              <a:t>lim</a:t>
            </a:r>
            <a:r>
              <a:rPr lang="en-US" dirty="0"/>
              <a:t> dx→0 P(x ≤ X ≤ x + dx)/dx . </a:t>
            </a:r>
            <a:endParaRPr lang="en-US" dirty="0" smtClean="0"/>
          </a:p>
          <a:p>
            <a:pPr>
              <a:buFont typeface="Wingdings" panose="05000000000000000000" pitchFamily="2" charset="2"/>
              <a:buChar char="Ø"/>
            </a:pPr>
            <a:r>
              <a:rPr lang="en-US" dirty="0" smtClean="0"/>
              <a:t>For </a:t>
            </a:r>
            <a:r>
              <a:rPr lang="en-US" dirty="0" err="1"/>
              <a:t>NoonTemp</a:t>
            </a:r>
            <a:r>
              <a:rPr lang="en-US" dirty="0"/>
              <a:t> we </a:t>
            </a:r>
            <a:r>
              <a:rPr lang="en-US" dirty="0" smtClean="0"/>
              <a:t>have</a:t>
            </a:r>
          </a:p>
        </p:txBody>
      </p:sp>
      <p:pic>
        <p:nvPicPr>
          <p:cNvPr id="4" name="Picture 3"/>
          <p:cNvPicPr>
            <a:picLocks noChangeAspect="1"/>
          </p:cNvPicPr>
          <p:nvPr/>
        </p:nvPicPr>
        <p:blipFill>
          <a:blip r:embed="rId2"/>
          <a:stretch>
            <a:fillRect/>
          </a:stretch>
        </p:blipFill>
        <p:spPr>
          <a:xfrm>
            <a:off x="1066800" y="5791200"/>
            <a:ext cx="7115175" cy="685800"/>
          </a:xfrm>
          <a:prstGeom prst="rect">
            <a:avLst/>
          </a:prstGeom>
        </p:spPr>
      </p:pic>
    </p:spTree>
    <p:extLst>
      <p:ext uri="{BB962C8B-B14F-4D97-AF65-F5344CB8AC3E}">
        <p14:creationId xmlns:p14="http://schemas.microsoft.com/office/powerpoint/2010/main" val="2419519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where C stands for centigrade (not for a constant).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In </a:t>
            </a:r>
            <a:r>
              <a:rPr lang="en-US" dirty="0"/>
              <a:t>P(</a:t>
            </a:r>
            <a:r>
              <a:rPr lang="en-US" dirty="0" err="1"/>
              <a:t>NoonTemp</a:t>
            </a:r>
            <a:r>
              <a:rPr lang="en-US" dirty="0"/>
              <a:t> = 20.18C) = </a:t>
            </a:r>
            <a:r>
              <a:rPr lang="en-US" dirty="0" smtClean="0"/>
              <a:t>1/ </a:t>
            </a:r>
            <a:r>
              <a:rPr lang="en-US" dirty="0"/>
              <a:t>8C , note that 1 </a:t>
            </a:r>
            <a:r>
              <a:rPr lang="en-US" dirty="0" smtClean="0"/>
              <a:t>/8C </a:t>
            </a:r>
            <a:r>
              <a:rPr lang="en-US" dirty="0"/>
              <a:t>is not a probability, it is a probability density</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smtClean="0"/>
              <a:t> </a:t>
            </a:r>
            <a:r>
              <a:rPr lang="en-US" dirty="0"/>
              <a:t>The probability that </a:t>
            </a:r>
            <a:r>
              <a:rPr lang="en-US" dirty="0" err="1"/>
              <a:t>NoonTemp</a:t>
            </a:r>
            <a:r>
              <a:rPr lang="en-US" dirty="0"/>
              <a:t> is exactly 20.18C is zero, because 20.18C is a region of width 0.</a:t>
            </a:r>
            <a:endParaRPr lang="en-IN" dirty="0"/>
          </a:p>
        </p:txBody>
      </p:sp>
    </p:spTree>
    <p:extLst>
      <p:ext uri="{BB962C8B-B14F-4D97-AF65-F5344CB8AC3E}">
        <p14:creationId xmlns:p14="http://schemas.microsoft.com/office/powerpoint/2010/main" val="20113547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we need notation for distributions on multiple variables.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Commas </a:t>
            </a:r>
            <a:r>
              <a:rPr lang="en-US" dirty="0"/>
              <a:t>are used for this. For example, P(Weather , Cavity) denotes the probabilities of all combinations of the values of Weather and Cavity.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This </a:t>
            </a:r>
            <a:r>
              <a:rPr lang="en-US" dirty="0"/>
              <a:t>is a 4 × 2 table of probabilities called the joint probability distribution of Weather and Cavity.</a:t>
            </a:r>
            <a:endParaRPr lang="en-IN" dirty="0"/>
          </a:p>
        </p:txBody>
      </p:sp>
    </p:spTree>
    <p:extLst>
      <p:ext uri="{BB962C8B-B14F-4D97-AF65-F5344CB8AC3E}">
        <p14:creationId xmlns:p14="http://schemas.microsoft.com/office/powerpoint/2010/main" val="20571363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P(sunny, Cavity) would be a two-element vector giving the probabilities of a sunny day with a cavity and a sunny day with no cavity</a:t>
            </a:r>
            <a:r>
              <a:rPr lang="en-US" dirty="0" smtClean="0"/>
              <a:t>.</a:t>
            </a:r>
          </a:p>
          <a:p>
            <a:pPr>
              <a:buFont typeface="Wingdings" panose="05000000000000000000" pitchFamily="2" charset="2"/>
              <a:buChar char="Ø"/>
            </a:pPr>
            <a:endParaRPr lang="en-US" dirty="0"/>
          </a:p>
          <a:p>
            <a:pPr>
              <a:buFont typeface="Wingdings" panose="05000000000000000000" pitchFamily="2" charset="2"/>
              <a:buChar char="Ø"/>
            </a:pPr>
            <a:r>
              <a:rPr lang="en-US" dirty="0"/>
              <a:t>the product rules for all possible values of </a:t>
            </a:r>
            <a:r>
              <a:rPr lang="en-US" dirty="0" smtClean="0"/>
              <a:t> Weather </a:t>
            </a:r>
            <a:r>
              <a:rPr lang="en-US" dirty="0"/>
              <a:t>and Cavity can be written as a single equation: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P(Weather </a:t>
            </a:r>
            <a:r>
              <a:rPr lang="en-US" dirty="0"/>
              <a:t>, Cavity) = P(Weather | Cavity)P(Cavity) , </a:t>
            </a:r>
            <a:endParaRPr lang="en-IN" dirty="0"/>
          </a:p>
        </p:txBody>
      </p:sp>
    </p:spTree>
    <p:extLst>
      <p:ext uri="{BB962C8B-B14F-4D97-AF65-F5344CB8AC3E}">
        <p14:creationId xmlns:p14="http://schemas.microsoft.com/office/powerpoint/2010/main" val="209929912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pic>
        <p:nvPicPr>
          <p:cNvPr id="4" name="Content Placeholder 3"/>
          <p:cNvPicPr>
            <a:picLocks noGrp="1" noChangeAspect="1"/>
          </p:cNvPicPr>
          <p:nvPr>
            <p:ph idx="1"/>
          </p:nvPr>
        </p:nvPicPr>
        <p:blipFill>
          <a:blip r:embed="rId2"/>
          <a:stretch>
            <a:fillRect/>
          </a:stretch>
        </p:blipFill>
        <p:spPr>
          <a:xfrm>
            <a:off x="914400" y="2209800"/>
            <a:ext cx="6772275" cy="3352800"/>
          </a:xfrm>
          <a:prstGeom prst="rect">
            <a:avLst/>
          </a:prstGeom>
        </p:spPr>
      </p:pic>
    </p:spTree>
    <p:extLst>
      <p:ext uri="{BB962C8B-B14F-4D97-AF65-F5344CB8AC3E}">
        <p14:creationId xmlns:p14="http://schemas.microsoft.com/office/powerpoint/2010/main" val="222611179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dirty="0"/>
              <a:t>The language of propositions in probability assertion</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As a degenerate case, P(sunny, cavity) has no variables and thus is a one-element </a:t>
            </a:r>
            <a:r>
              <a:rPr lang="en-US" dirty="0" smtClean="0"/>
              <a:t>vector.</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that </a:t>
            </a:r>
            <a:r>
              <a:rPr lang="en-US" dirty="0"/>
              <a:t>is the probability of a sunny day with a cavity, which could also be written as </a:t>
            </a:r>
            <a:endParaRPr lang="en-US" dirty="0" smtClean="0"/>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P(sunny</a:t>
            </a:r>
            <a:r>
              <a:rPr lang="en-US" dirty="0"/>
              <a:t>, cavity) or P(sunny ∧ cavity).</a:t>
            </a:r>
            <a:endParaRPr lang="en-IN" dirty="0"/>
          </a:p>
        </p:txBody>
      </p:sp>
    </p:spTree>
    <p:extLst>
      <p:ext uri="{BB962C8B-B14F-4D97-AF65-F5344CB8AC3E}">
        <p14:creationId xmlns:p14="http://schemas.microsoft.com/office/powerpoint/2010/main" val="36453663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8147304" cy="786384"/>
          </a:xfrm>
        </p:spPr>
        <p:txBody>
          <a:bodyPr>
            <a:normAutofit/>
          </a:bodyPr>
          <a:lstStyle/>
          <a:p>
            <a:r>
              <a:rPr lang="en-US" dirty="0" smtClean="0"/>
              <a:t>Inference Using Full Joint Distributions</a:t>
            </a:r>
            <a:endParaRPr lang="en-IN" dirty="0"/>
          </a:p>
        </p:txBody>
      </p:sp>
      <p:sp>
        <p:nvSpPr>
          <p:cNvPr id="3" name="Content Placeholder 2"/>
          <p:cNvSpPr>
            <a:spLocks noGrp="1"/>
          </p:cNvSpPr>
          <p:nvPr>
            <p:ph idx="1"/>
          </p:nvPr>
        </p:nvSpPr>
        <p:spPr>
          <a:xfrm>
            <a:off x="914400" y="1524000"/>
            <a:ext cx="7290055" cy="4224528"/>
          </a:xfrm>
        </p:spPr>
        <p:txBody>
          <a:bodyPr/>
          <a:lstStyle/>
          <a:p>
            <a:pPr>
              <a:buFont typeface="Wingdings" panose="05000000000000000000" pitchFamily="2" charset="2"/>
              <a:buChar char="Ø"/>
            </a:pPr>
            <a:r>
              <a:rPr lang="en-US" dirty="0"/>
              <a:t>probabilistic </a:t>
            </a:r>
            <a:r>
              <a:rPr lang="en-US" dirty="0" smtClean="0"/>
              <a:t>inference - the computation </a:t>
            </a:r>
            <a:r>
              <a:rPr lang="en-US" dirty="0"/>
              <a:t>of posterior probabilities for query propositions given observed evidence. </a:t>
            </a:r>
          </a:p>
          <a:p>
            <a:pPr>
              <a:buFont typeface="Wingdings" panose="05000000000000000000" pitchFamily="2" charset="2"/>
              <a:buChar char="Ø"/>
            </a:pPr>
            <a:r>
              <a:rPr lang="en-US" dirty="0" smtClean="0"/>
              <a:t>We </a:t>
            </a:r>
            <a:r>
              <a:rPr lang="en-US" dirty="0"/>
              <a:t>use the full joint distribution as the “knowledge base” from which answers to all questions may be </a:t>
            </a:r>
            <a:r>
              <a:rPr lang="en-US" dirty="0" smtClean="0"/>
              <a:t>derived.</a:t>
            </a:r>
          </a:p>
          <a:p>
            <a:endParaRPr lang="en-US" dirty="0"/>
          </a:p>
          <a:p>
            <a:endParaRPr lang="en-IN" dirty="0"/>
          </a:p>
        </p:txBody>
      </p:sp>
      <p:pic>
        <p:nvPicPr>
          <p:cNvPr id="4" name="Picture 3"/>
          <p:cNvPicPr>
            <a:picLocks noChangeAspect="1"/>
          </p:cNvPicPr>
          <p:nvPr/>
        </p:nvPicPr>
        <p:blipFill>
          <a:blip r:embed="rId2"/>
          <a:stretch>
            <a:fillRect/>
          </a:stretch>
        </p:blipFill>
        <p:spPr>
          <a:xfrm>
            <a:off x="943062" y="3276600"/>
            <a:ext cx="7496175" cy="2038350"/>
          </a:xfrm>
          <a:prstGeom prst="rect">
            <a:avLst/>
          </a:prstGeom>
        </p:spPr>
      </p:pic>
    </p:spTree>
    <p:extLst>
      <p:ext uri="{BB962C8B-B14F-4D97-AF65-F5344CB8AC3E}">
        <p14:creationId xmlns:p14="http://schemas.microsoft.com/office/powerpoint/2010/main" val="37655648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457200"/>
            <a:ext cx="8147304" cy="862584"/>
          </a:xfrm>
        </p:spPr>
        <p:txBody>
          <a:bodyPr>
            <a:normAutofit/>
          </a:bodyPr>
          <a:lstStyle/>
          <a:p>
            <a:r>
              <a:rPr lang="en-US" dirty="0"/>
              <a:t>Inference Using Full Joint Distributions</a:t>
            </a:r>
            <a:endParaRPr lang="en-IN" dirty="0"/>
          </a:p>
        </p:txBody>
      </p:sp>
      <p:sp>
        <p:nvSpPr>
          <p:cNvPr id="3" name="Content Placeholder 2"/>
          <p:cNvSpPr>
            <a:spLocks noGrp="1"/>
          </p:cNvSpPr>
          <p:nvPr>
            <p:ph idx="1"/>
          </p:nvPr>
        </p:nvSpPr>
        <p:spPr>
          <a:xfrm>
            <a:off x="673217" y="1524000"/>
            <a:ext cx="7290055" cy="4023360"/>
          </a:xfrm>
        </p:spPr>
        <p:txBody>
          <a:bodyPr/>
          <a:lstStyle/>
          <a:p>
            <a:pPr>
              <a:buFont typeface="Wingdings" panose="05000000000000000000" pitchFamily="2" charset="2"/>
              <a:buChar char="Ø"/>
            </a:pPr>
            <a:r>
              <a:rPr lang="en-US" dirty="0"/>
              <a:t>a domain consisting </a:t>
            </a:r>
            <a:r>
              <a:rPr lang="en-US" dirty="0" smtClean="0"/>
              <a:t>3 </a:t>
            </a:r>
            <a:r>
              <a:rPr lang="en-US" dirty="0"/>
              <a:t>Boolean variables Toothache, Cavity, and Catch (the dentist’s nasty steel probe catches in my tooth).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The </a:t>
            </a:r>
            <a:r>
              <a:rPr lang="en-US" dirty="0"/>
              <a:t>full joint distribution is a 2 × 2 × 2 </a:t>
            </a:r>
            <a:r>
              <a:rPr lang="en-US" dirty="0" smtClean="0"/>
              <a:t>table.</a:t>
            </a:r>
          </a:p>
          <a:p>
            <a:pPr>
              <a:buFont typeface="Wingdings" panose="05000000000000000000" pitchFamily="2" charset="2"/>
              <a:buChar char="Ø"/>
            </a:pPr>
            <a:endParaRPr lang="en-US" dirty="0"/>
          </a:p>
          <a:p>
            <a:pPr>
              <a:buFont typeface="Wingdings" panose="05000000000000000000" pitchFamily="2" charset="2"/>
              <a:buChar char="Ø"/>
            </a:pPr>
            <a:r>
              <a:rPr lang="en-US" dirty="0"/>
              <a:t>there are six possible worlds in which cavity ∨ toothache holds</a:t>
            </a:r>
            <a:r>
              <a:rPr lang="en-US" dirty="0" smtClean="0"/>
              <a:t>:</a:t>
            </a:r>
          </a:p>
          <a:p>
            <a:pPr marL="0" indent="0">
              <a:buNone/>
            </a:pPr>
            <a:r>
              <a:rPr lang="en-US" dirty="0" smtClean="0"/>
              <a:t> </a:t>
            </a:r>
            <a:r>
              <a:rPr lang="en-US" dirty="0"/>
              <a:t>P(cavity ∨ toothache) = 0.108 + 0.012 + 0.072 + 0.008 + 0.016 + 0.064 = 0.28 . </a:t>
            </a:r>
            <a:endParaRPr lang="en-IN" dirty="0"/>
          </a:p>
        </p:txBody>
      </p:sp>
    </p:spTree>
    <p:extLst>
      <p:ext uri="{BB962C8B-B14F-4D97-AF65-F5344CB8AC3E}">
        <p14:creationId xmlns:p14="http://schemas.microsoft.com/office/powerpoint/2010/main" val="387011795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000" y="381000"/>
            <a:ext cx="7766304" cy="938784"/>
          </a:xfrm>
        </p:spPr>
        <p:txBody>
          <a:bodyPr>
            <a:normAutofit fontScale="90000"/>
          </a:bodyPr>
          <a:lstStyle/>
          <a:p>
            <a:r>
              <a:rPr lang="en-US" dirty="0"/>
              <a:t>Inference Using Full Joint Distributions</a:t>
            </a:r>
            <a:endParaRPr lang="en-IN" dirty="0"/>
          </a:p>
        </p:txBody>
      </p:sp>
      <p:sp>
        <p:nvSpPr>
          <p:cNvPr id="3" name="Content Placeholder 2"/>
          <p:cNvSpPr>
            <a:spLocks noGrp="1"/>
          </p:cNvSpPr>
          <p:nvPr>
            <p:ph idx="1"/>
          </p:nvPr>
        </p:nvSpPr>
        <p:spPr>
          <a:xfrm>
            <a:off x="838200" y="1447800"/>
            <a:ext cx="7772400" cy="4724400"/>
          </a:xfrm>
        </p:spPr>
        <p:txBody>
          <a:bodyPr/>
          <a:lstStyle/>
          <a:p>
            <a:pPr>
              <a:buFont typeface="Wingdings" panose="05000000000000000000" pitchFamily="2" charset="2"/>
              <a:buChar char="Ø"/>
            </a:pPr>
            <a:r>
              <a:rPr lang="en-US" dirty="0"/>
              <a:t>A</a:t>
            </a:r>
            <a:r>
              <a:rPr lang="en-US" dirty="0" smtClean="0"/>
              <a:t>dding </a:t>
            </a:r>
            <a:r>
              <a:rPr lang="en-US" dirty="0"/>
              <a:t>the entries in the first row gives the unconditional or marginal </a:t>
            </a:r>
            <a:r>
              <a:rPr lang="en-US" dirty="0" smtClean="0"/>
              <a:t>probability </a:t>
            </a:r>
            <a:r>
              <a:rPr lang="en-US" dirty="0"/>
              <a:t>of cavity: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P(cavity</a:t>
            </a:r>
            <a:r>
              <a:rPr lang="en-US" dirty="0"/>
              <a:t>) = 0.108 + 0.012 + 0.072 + 0.008 = 0.2 . </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This </a:t>
            </a:r>
            <a:r>
              <a:rPr lang="en-US" dirty="0"/>
              <a:t>process is called marginalization, or summing </a:t>
            </a:r>
            <a:r>
              <a:rPr lang="en-US" dirty="0" smtClean="0"/>
              <a:t>out.</a:t>
            </a:r>
          </a:p>
          <a:p>
            <a:pPr>
              <a:buFont typeface="Wingdings" panose="05000000000000000000" pitchFamily="2" charset="2"/>
              <a:buChar char="Ø"/>
            </a:pPr>
            <a:endParaRPr lang="en-US" dirty="0"/>
          </a:p>
          <a:p>
            <a:pPr>
              <a:buFont typeface="Wingdings" panose="05000000000000000000" pitchFamily="2" charset="2"/>
              <a:buChar char="Ø"/>
            </a:pPr>
            <a:r>
              <a:rPr lang="en-US" dirty="0"/>
              <a:t>following general marginalization rule for any sets of variables Y and Z: </a:t>
            </a:r>
            <a:endParaRPr lang="en-US" dirty="0" smtClean="0"/>
          </a:p>
          <a:p>
            <a:endParaRPr lang="en-IN" dirty="0"/>
          </a:p>
        </p:txBody>
      </p:sp>
      <p:pic>
        <p:nvPicPr>
          <p:cNvPr id="4" name="Picture 3"/>
          <p:cNvPicPr>
            <a:picLocks noChangeAspect="1"/>
          </p:cNvPicPr>
          <p:nvPr/>
        </p:nvPicPr>
        <p:blipFill>
          <a:blip r:embed="rId2"/>
          <a:stretch>
            <a:fillRect/>
          </a:stretch>
        </p:blipFill>
        <p:spPr>
          <a:xfrm>
            <a:off x="3276600" y="5334000"/>
            <a:ext cx="2543175" cy="666750"/>
          </a:xfrm>
          <a:prstGeom prst="rect">
            <a:avLst/>
          </a:prstGeom>
        </p:spPr>
      </p:pic>
    </p:spTree>
    <p:extLst>
      <p:ext uri="{BB962C8B-B14F-4D97-AF65-F5344CB8AC3E}">
        <p14:creationId xmlns:p14="http://schemas.microsoft.com/office/powerpoint/2010/main" val="14823791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Inference Using Full Joint Distributions</a:t>
            </a:r>
            <a:endParaRPr lang="en-IN" dirty="0"/>
          </a:p>
        </p:txBody>
      </p:sp>
      <p:sp>
        <p:nvSpPr>
          <p:cNvPr id="3" name="Content Placeholder 2"/>
          <p:cNvSpPr>
            <a:spLocks noGrp="1"/>
          </p:cNvSpPr>
          <p:nvPr>
            <p:ph idx="1"/>
          </p:nvPr>
        </p:nvSpPr>
        <p:spPr/>
        <p:txBody>
          <a:bodyPr>
            <a:normAutofit/>
          </a:bodyPr>
          <a:lstStyle/>
          <a:p>
            <a:r>
              <a:rPr lang="en-US" dirty="0"/>
              <a:t>We just used the rule as </a:t>
            </a:r>
            <a:endParaRPr lang="en-US" dirty="0" smtClean="0"/>
          </a:p>
          <a:p>
            <a:endParaRPr lang="en-US" dirty="0" smtClean="0"/>
          </a:p>
          <a:p>
            <a:endParaRPr lang="en-US" dirty="0"/>
          </a:p>
          <a:p>
            <a:r>
              <a:rPr lang="en-US" dirty="0" smtClean="0"/>
              <a:t>A </a:t>
            </a:r>
            <a:r>
              <a:rPr lang="en-US" dirty="0"/>
              <a:t>variant of this rule involves conditional probabilities instead of joint probabilities, using the product rule: </a:t>
            </a:r>
            <a:endParaRPr lang="en-US" dirty="0" smtClean="0"/>
          </a:p>
          <a:p>
            <a:endParaRPr lang="en-US" dirty="0"/>
          </a:p>
          <a:p>
            <a:endParaRPr lang="en-US" dirty="0"/>
          </a:p>
          <a:p>
            <a:r>
              <a:rPr lang="en-US" dirty="0" smtClean="0"/>
              <a:t>This </a:t>
            </a:r>
            <a:r>
              <a:rPr lang="en-US" dirty="0"/>
              <a:t>rule is called conditioning</a:t>
            </a:r>
          </a:p>
        </p:txBody>
      </p:sp>
      <p:pic>
        <p:nvPicPr>
          <p:cNvPr id="4" name="Picture 3"/>
          <p:cNvPicPr>
            <a:picLocks noChangeAspect="1"/>
          </p:cNvPicPr>
          <p:nvPr/>
        </p:nvPicPr>
        <p:blipFill>
          <a:blip r:embed="rId2"/>
          <a:stretch>
            <a:fillRect/>
          </a:stretch>
        </p:blipFill>
        <p:spPr>
          <a:xfrm>
            <a:off x="1752600" y="2753677"/>
            <a:ext cx="4543425" cy="733425"/>
          </a:xfrm>
          <a:prstGeom prst="rect">
            <a:avLst/>
          </a:prstGeom>
        </p:spPr>
      </p:pic>
      <p:pic>
        <p:nvPicPr>
          <p:cNvPr id="5" name="Picture 4"/>
          <p:cNvPicPr>
            <a:picLocks noChangeAspect="1"/>
          </p:cNvPicPr>
          <p:nvPr/>
        </p:nvPicPr>
        <p:blipFill>
          <a:blip r:embed="rId3"/>
          <a:stretch>
            <a:fillRect/>
          </a:stretch>
        </p:blipFill>
        <p:spPr>
          <a:xfrm>
            <a:off x="2903410" y="4495800"/>
            <a:ext cx="3019425" cy="590550"/>
          </a:xfrm>
          <a:prstGeom prst="rect">
            <a:avLst/>
          </a:prstGeom>
        </p:spPr>
      </p:pic>
    </p:spTree>
    <p:extLst>
      <p:ext uri="{BB962C8B-B14F-4D97-AF65-F5344CB8AC3E}">
        <p14:creationId xmlns:p14="http://schemas.microsoft.com/office/powerpoint/2010/main" val="491630929"/>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8147304" cy="786384"/>
          </a:xfrm>
        </p:spPr>
        <p:txBody>
          <a:bodyPr>
            <a:normAutofit/>
          </a:bodyPr>
          <a:lstStyle/>
          <a:p>
            <a:r>
              <a:rPr lang="en-US" dirty="0"/>
              <a:t>Inference Using Full Joint Distributions</a:t>
            </a:r>
            <a:endParaRPr lang="en-IN" dirty="0"/>
          </a:p>
        </p:txBody>
      </p:sp>
      <p:sp>
        <p:nvSpPr>
          <p:cNvPr id="3" name="Content Placeholder 2"/>
          <p:cNvSpPr>
            <a:spLocks noGrp="1"/>
          </p:cNvSpPr>
          <p:nvPr>
            <p:ph idx="1"/>
          </p:nvPr>
        </p:nvSpPr>
        <p:spPr>
          <a:xfrm>
            <a:off x="768096" y="1676400"/>
            <a:ext cx="7290055" cy="4023360"/>
          </a:xfrm>
        </p:spPr>
        <p:txBody>
          <a:bodyPr/>
          <a:lstStyle/>
          <a:p>
            <a:pPr>
              <a:buFont typeface="Wingdings" panose="05000000000000000000" pitchFamily="2" charset="2"/>
              <a:buChar char="Ø"/>
            </a:pPr>
            <a:r>
              <a:rPr lang="en-US" dirty="0" smtClean="0"/>
              <a:t>We </a:t>
            </a:r>
            <a:r>
              <a:rPr lang="en-US" dirty="0"/>
              <a:t>can compute the probability of a cavity, given evidence of a toothache, as follows: </a:t>
            </a:r>
            <a:endParaRPr lang="en-US" dirty="0" smtClean="0"/>
          </a:p>
          <a:p>
            <a:endParaRPr lang="en-US" dirty="0"/>
          </a:p>
          <a:p>
            <a:endParaRPr lang="en-US" dirty="0" smtClean="0"/>
          </a:p>
        </p:txBody>
      </p:sp>
      <p:pic>
        <p:nvPicPr>
          <p:cNvPr id="4" name="Picture 3"/>
          <p:cNvPicPr>
            <a:picLocks noChangeAspect="1"/>
          </p:cNvPicPr>
          <p:nvPr/>
        </p:nvPicPr>
        <p:blipFill>
          <a:blip r:embed="rId2"/>
          <a:stretch>
            <a:fillRect/>
          </a:stretch>
        </p:blipFill>
        <p:spPr>
          <a:xfrm>
            <a:off x="914400" y="2667000"/>
            <a:ext cx="7537704" cy="3177659"/>
          </a:xfrm>
          <a:prstGeom prst="rect">
            <a:avLst/>
          </a:prstGeom>
        </p:spPr>
      </p:pic>
    </p:spTree>
    <p:extLst>
      <p:ext uri="{BB962C8B-B14F-4D97-AF65-F5344CB8AC3E}">
        <p14:creationId xmlns:p14="http://schemas.microsoft.com/office/powerpoint/2010/main" val="3453732157"/>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639762"/>
          </a:xfrm>
        </p:spPr>
        <p:txBody>
          <a:bodyPr>
            <a:normAutofit/>
          </a:bodyPr>
          <a:lstStyle/>
          <a:p>
            <a:pPr algn="ctr"/>
            <a:r>
              <a:rPr lang="en-US" dirty="0" smtClean="0"/>
              <a:t>Independence</a:t>
            </a:r>
            <a:endParaRPr lang="en-IN" dirty="0"/>
          </a:p>
        </p:txBody>
      </p:sp>
      <p:sp>
        <p:nvSpPr>
          <p:cNvPr id="3" name="Content Placeholder 2"/>
          <p:cNvSpPr>
            <a:spLocks noGrp="1"/>
          </p:cNvSpPr>
          <p:nvPr>
            <p:ph idx="1"/>
          </p:nvPr>
        </p:nvSpPr>
        <p:spPr>
          <a:xfrm>
            <a:off x="914400" y="1219200"/>
            <a:ext cx="7772400" cy="4800600"/>
          </a:xfrm>
        </p:spPr>
        <p:txBody>
          <a:bodyPr/>
          <a:lstStyle/>
          <a:p>
            <a:pPr>
              <a:buFont typeface="Wingdings" panose="05000000000000000000" pitchFamily="2" charset="2"/>
              <a:buChar char="Ø"/>
            </a:pPr>
            <a:r>
              <a:rPr lang="en-US" dirty="0"/>
              <a:t>Let us expand the full joint distribution </a:t>
            </a:r>
            <a:r>
              <a:rPr lang="en-US" dirty="0" smtClean="0"/>
              <a:t>by </a:t>
            </a:r>
            <a:r>
              <a:rPr lang="en-US" dirty="0"/>
              <a:t>adding a fourth variable, </a:t>
            </a:r>
            <a:r>
              <a:rPr lang="en-US" dirty="0" smtClean="0"/>
              <a:t>Weather. </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The </a:t>
            </a:r>
            <a:r>
              <a:rPr lang="en-US" dirty="0"/>
              <a:t>full joint distribution then becomes P(Toothache, Catch, Cavity</a:t>
            </a:r>
            <a:r>
              <a:rPr lang="en-US" dirty="0" smtClean="0"/>
              <a:t>, Weather </a:t>
            </a:r>
            <a:r>
              <a:rPr lang="en-US" dirty="0"/>
              <a:t>), which has 2 × 2 × 2 × 4 = 32 entries</a:t>
            </a:r>
            <a:r>
              <a:rPr lang="en-US" dirty="0" smtClean="0"/>
              <a:t>.</a:t>
            </a:r>
          </a:p>
        </p:txBody>
      </p:sp>
    </p:spTree>
    <p:extLst>
      <p:ext uri="{BB962C8B-B14F-4D97-AF65-F5344CB8AC3E}">
        <p14:creationId xmlns:p14="http://schemas.microsoft.com/office/powerpoint/2010/main" val="310588402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Independence</a:t>
            </a:r>
            <a:endParaRPr lang="en-IN" dirty="0"/>
          </a:p>
        </p:txBody>
      </p:sp>
      <p:sp>
        <p:nvSpPr>
          <p:cNvPr id="3" name="Content Placeholder 2"/>
          <p:cNvSpPr>
            <a:spLocks noGrp="1"/>
          </p:cNvSpPr>
          <p:nvPr>
            <p:ph idx="1"/>
          </p:nvPr>
        </p:nvSpPr>
        <p:spPr>
          <a:xfrm>
            <a:off x="779980" y="1981200"/>
            <a:ext cx="7830620" cy="4023360"/>
          </a:xfrm>
        </p:spPr>
        <p:txBody>
          <a:bodyPr/>
          <a:lstStyle/>
          <a:p>
            <a:pPr>
              <a:buFont typeface="Wingdings" panose="05000000000000000000" pitchFamily="2" charset="2"/>
              <a:buChar char="Ø"/>
            </a:pPr>
            <a:r>
              <a:rPr lang="en-US" dirty="0"/>
              <a:t>For example, how are P(toothache, catch, cavity, cloudy) and P(toothache, catch, cavity) related?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a:t>We can use the product rule: </a:t>
            </a:r>
          </a:p>
          <a:p>
            <a:pPr>
              <a:buFont typeface="Wingdings" panose="05000000000000000000" pitchFamily="2" charset="2"/>
              <a:buChar char="Ø"/>
            </a:pPr>
            <a:r>
              <a:rPr lang="en-US" b="1" dirty="0"/>
              <a:t>P(toothache, catch, cavity, cloudy) = P(cloudy |toothache, catch, cavity)P(toothache, catch, cavity) .</a:t>
            </a:r>
            <a:endParaRPr lang="en-IN" b="1" dirty="0"/>
          </a:p>
          <a:p>
            <a:endParaRPr lang="en-IN" dirty="0"/>
          </a:p>
        </p:txBody>
      </p:sp>
    </p:spTree>
    <p:extLst>
      <p:ext uri="{BB962C8B-B14F-4D97-AF65-F5344CB8AC3E}">
        <p14:creationId xmlns:p14="http://schemas.microsoft.com/office/powerpoint/2010/main" val="1198407249"/>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Independence</a:t>
            </a:r>
            <a:endParaRPr lang="en-IN" dirty="0"/>
          </a:p>
        </p:txBody>
      </p:sp>
      <p:sp>
        <p:nvSpPr>
          <p:cNvPr id="3" name="Content Placeholder 2"/>
          <p:cNvSpPr>
            <a:spLocks noGrp="1"/>
          </p:cNvSpPr>
          <p:nvPr>
            <p:ph idx="1"/>
          </p:nvPr>
        </p:nvSpPr>
        <p:spPr>
          <a:xfrm>
            <a:off x="914400" y="1828800"/>
            <a:ext cx="7848600" cy="4023360"/>
          </a:xfrm>
        </p:spPr>
        <p:txBody>
          <a:bodyPr/>
          <a:lstStyle/>
          <a:p>
            <a:pPr>
              <a:buFont typeface="Wingdings" panose="05000000000000000000" pitchFamily="2" charset="2"/>
              <a:buChar char="Ø"/>
            </a:pPr>
            <a:r>
              <a:rPr lang="en-US" dirty="0" smtClean="0"/>
              <a:t>The </a:t>
            </a:r>
            <a:r>
              <a:rPr lang="en-US" dirty="0"/>
              <a:t>following assertion seems reasonable: </a:t>
            </a:r>
            <a:endParaRPr lang="en-US" dirty="0" smtClean="0"/>
          </a:p>
          <a:p>
            <a:pPr>
              <a:buFont typeface="Wingdings" panose="05000000000000000000" pitchFamily="2" charset="2"/>
              <a:buChar char="Ø"/>
            </a:pPr>
            <a:r>
              <a:rPr lang="en-US" dirty="0" smtClean="0"/>
              <a:t>P(cloudy </a:t>
            </a:r>
            <a:r>
              <a:rPr lang="en-US" dirty="0"/>
              <a:t>|toothache, catch, cavity) = P(cloudy</a:t>
            </a:r>
            <a:r>
              <a:rPr lang="en-US" dirty="0" smtClean="0"/>
              <a:t>). </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From </a:t>
            </a:r>
            <a:r>
              <a:rPr lang="en-US" dirty="0"/>
              <a:t>this, we can deduce </a:t>
            </a:r>
            <a:endParaRPr lang="en-US" dirty="0" smtClean="0"/>
          </a:p>
          <a:p>
            <a:pPr>
              <a:buFont typeface="Wingdings" panose="05000000000000000000" pitchFamily="2" charset="2"/>
              <a:buChar char="Ø"/>
            </a:pPr>
            <a:r>
              <a:rPr lang="en-US" dirty="0" smtClean="0"/>
              <a:t>P(toothache</a:t>
            </a:r>
            <a:r>
              <a:rPr lang="en-US" dirty="0"/>
              <a:t>, catch, cavity, cloudy) = P(cloudy)P(toothache, catch, cavity</a:t>
            </a:r>
            <a:r>
              <a:rPr lang="en-US" dirty="0" smtClean="0"/>
              <a:t>).</a:t>
            </a:r>
          </a:p>
        </p:txBody>
      </p:sp>
    </p:spTree>
    <p:extLst>
      <p:ext uri="{BB962C8B-B14F-4D97-AF65-F5344CB8AC3E}">
        <p14:creationId xmlns:p14="http://schemas.microsoft.com/office/powerpoint/2010/main" val="728602903"/>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Independence</a:t>
            </a:r>
            <a:endParaRPr lang="en-IN" dirty="0"/>
          </a:p>
        </p:txBody>
      </p:sp>
      <p:sp>
        <p:nvSpPr>
          <p:cNvPr id="3" name="Content Placeholder 2"/>
          <p:cNvSpPr>
            <a:spLocks noGrp="1"/>
          </p:cNvSpPr>
          <p:nvPr>
            <p:ph idx="1"/>
          </p:nvPr>
        </p:nvSpPr>
        <p:spPr>
          <a:xfrm>
            <a:off x="914400" y="1905000"/>
            <a:ext cx="8001000" cy="4023360"/>
          </a:xfrm>
        </p:spPr>
        <p:txBody>
          <a:bodyPr/>
          <a:lstStyle/>
          <a:p>
            <a:pPr>
              <a:buFont typeface="Wingdings" panose="05000000000000000000" pitchFamily="2" charset="2"/>
              <a:buChar char="Ø"/>
            </a:pPr>
            <a:r>
              <a:rPr lang="en-US" dirty="0"/>
              <a:t>A similar equation exists for every entry in </a:t>
            </a:r>
            <a:r>
              <a:rPr lang="en-US" b="1" dirty="0"/>
              <a:t>P</a:t>
            </a:r>
            <a:r>
              <a:rPr lang="en-US" dirty="0"/>
              <a:t>(Toothache, Catch, </a:t>
            </a:r>
            <a:r>
              <a:rPr lang="en-US" dirty="0" err="1"/>
              <a:t>Cavity,Weather</a:t>
            </a:r>
            <a:r>
              <a:rPr lang="en-US" dirty="0"/>
              <a:t> ). </a:t>
            </a:r>
            <a:endParaRPr lang="en-US" dirty="0" smtClean="0"/>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In </a:t>
            </a:r>
            <a:r>
              <a:rPr lang="en-US" dirty="0"/>
              <a:t>fact, we can write the general </a:t>
            </a:r>
            <a:r>
              <a:rPr lang="en-US" dirty="0" smtClean="0"/>
              <a:t>equation</a:t>
            </a:r>
          </a:p>
          <a:p>
            <a:pPr>
              <a:buFont typeface="Wingdings" panose="05000000000000000000" pitchFamily="2" charset="2"/>
              <a:buChar char="Ø"/>
            </a:pPr>
            <a:endParaRPr lang="en-US" b="1" dirty="0" smtClean="0"/>
          </a:p>
          <a:p>
            <a:pPr>
              <a:buFont typeface="Wingdings" panose="05000000000000000000" pitchFamily="2" charset="2"/>
              <a:buChar char="Ø"/>
            </a:pPr>
            <a:r>
              <a:rPr lang="en-US" b="1" dirty="0" smtClean="0"/>
              <a:t>P</a:t>
            </a:r>
            <a:r>
              <a:rPr lang="en-US" dirty="0" smtClean="0"/>
              <a:t>(Toothache</a:t>
            </a:r>
            <a:r>
              <a:rPr lang="en-US" dirty="0"/>
              <a:t>, Catch, Cavity, Weather ) = </a:t>
            </a:r>
            <a:r>
              <a:rPr lang="en-US" b="1" dirty="0"/>
              <a:t>P</a:t>
            </a:r>
            <a:r>
              <a:rPr lang="en-US" dirty="0"/>
              <a:t>(Toothache, Catch, Cavity)</a:t>
            </a:r>
            <a:r>
              <a:rPr lang="en-US" b="1" dirty="0"/>
              <a:t>P</a:t>
            </a:r>
            <a:r>
              <a:rPr lang="en-US" dirty="0"/>
              <a:t>(Weather ) . </a:t>
            </a:r>
            <a:endParaRPr lang="en-IN" dirty="0"/>
          </a:p>
          <a:p>
            <a:endParaRPr lang="en-IN" dirty="0"/>
          </a:p>
        </p:txBody>
      </p:sp>
    </p:spTree>
    <p:extLst>
      <p:ext uri="{BB962C8B-B14F-4D97-AF65-F5344CB8AC3E}">
        <p14:creationId xmlns:p14="http://schemas.microsoft.com/office/powerpoint/2010/main" val="395731778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Independence</a:t>
            </a:r>
            <a:endParaRPr lang="en-IN" dirty="0"/>
          </a:p>
        </p:txBody>
      </p:sp>
      <p:sp>
        <p:nvSpPr>
          <p:cNvPr id="3" name="Content Placeholder 2"/>
          <p:cNvSpPr>
            <a:spLocks noGrp="1"/>
          </p:cNvSpPr>
          <p:nvPr>
            <p:ph idx="1"/>
          </p:nvPr>
        </p:nvSpPr>
        <p:spPr>
          <a:xfrm>
            <a:off x="838200" y="1981200"/>
            <a:ext cx="7848600" cy="4023360"/>
          </a:xfrm>
        </p:spPr>
        <p:txBody>
          <a:bodyPr/>
          <a:lstStyle/>
          <a:p>
            <a:pPr>
              <a:buFont typeface="Wingdings" panose="05000000000000000000" pitchFamily="2" charset="2"/>
              <a:buChar char="Ø"/>
            </a:pPr>
            <a:r>
              <a:rPr lang="en-US" dirty="0"/>
              <a:t>The property we used </a:t>
            </a:r>
            <a:r>
              <a:rPr lang="en-US" dirty="0" smtClean="0"/>
              <a:t>is </a:t>
            </a:r>
            <a:r>
              <a:rPr lang="en-US" dirty="0"/>
              <a:t>called independence (also marginal </a:t>
            </a:r>
            <a:r>
              <a:rPr lang="en-US" dirty="0" smtClean="0"/>
              <a:t>independence </a:t>
            </a:r>
            <a:r>
              <a:rPr lang="en-US" dirty="0"/>
              <a:t>and absolute independence).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In </a:t>
            </a:r>
            <a:r>
              <a:rPr lang="en-US" dirty="0"/>
              <a:t>particular, the weather is independent of one’s dental problems.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Independence </a:t>
            </a:r>
            <a:r>
              <a:rPr lang="en-US" dirty="0"/>
              <a:t>between propositions a and b can be written as P(a | b) = P(a) or P(b | a) = P(b) or P(a ∧ b) = P(a)P(b) . </a:t>
            </a:r>
            <a:endParaRPr lang="en-IN" dirty="0"/>
          </a:p>
        </p:txBody>
      </p:sp>
    </p:spTree>
    <p:extLst>
      <p:ext uri="{BB962C8B-B14F-4D97-AF65-F5344CB8AC3E}">
        <p14:creationId xmlns:p14="http://schemas.microsoft.com/office/powerpoint/2010/main" val="97903463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Independence</a:t>
            </a:r>
            <a:endParaRPr lang="en-IN" dirty="0"/>
          </a:p>
        </p:txBody>
      </p:sp>
      <p:sp>
        <p:nvSpPr>
          <p:cNvPr id="3" name="Content Placeholder 2"/>
          <p:cNvSpPr>
            <a:spLocks noGrp="1"/>
          </p:cNvSpPr>
          <p:nvPr>
            <p:ph idx="1"/>
          </p:nvPr>
        </p:nvSpPr>
        <p:spPr/>
        <p:txBody>
          <a:bodyPr/>
          <a:lstStyle/>
          <a:p>
            <a:pPr>
              <a:buFont typeface="Wingdings" panose="05000000000000000000" pitchFamily="2" charset="2"/>
              <a:buChar char="Ø"/>
            </a:pPr>
            <a:r>
              <a:rPr lang="en-US" dirty="0"/>
              <a:t>Independence between variables X and Y can be written as follows (again, these are all equivalent</a:t>
            </a:r>
            <a:r>
              <a:rPr lang="en-US" dirty="0" smtClean="0"/>
              <a:t>):</a:t>
            </a:r>
          </a:p>
          <a:p>
            <a:endParaRPr lang="en-US" dirty="0"/>
          </a:p>
          <a:p>
            <a:r>
              <a:rPr lang="en-US" dirty="0" smtClean="0"/>
              <a:t> </a:t>
            </a:r>
            <a:r>
              <a:rPr lang="en-US" dirty="0"/>
              <a:t>P(X | Y ) = P(X) or P(Y | X) = P(Y ) or P(X, Y ) = P(X)P(Y ) . </a:t>
            </a:r>
            <a:endParaRPr lang="en-US" dirty="0" smtClean="0"/>
          </a:p>
          <a:p>
            <a:endParaRPr lang="en-US" dirty="0"/>
          </a:p>
          <a:p>
            <a:endParaRPr lang="en-IN" dirty="0"/>
          </a:p>
        </p:txBody>
      </p:sp>
    </p:spTree>
    <p:extLst>
      <p:ext uri="{BB962C8B-B14F-4D97-AF65-F5344CB8AC3E}">
        <p14:creationId xmlns:p14="http://schemas.microsoft.com/office/powerpoint/2010/main" val="7372885"/>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Independence</a:t>
            </a:r>
            <a:endParaRPr lang="en-IN" dirty="0"/>
          </a:p>
        </p:txBody>
      </p:sp>
      <p:pic>
        <p:nvPicPr>
          <p:cNvPr id="4" name="Content Placeholder 3"/>
          <p:cNvPicPr>
            <a:picLocks noGrp="1" noChangeAspect="1"/>
          </p:cNvPicPr>
          <p:nvPr>
            <p:ph idx="1"/>
          </p:nvPr>
        </p:nvPicPr>
        <p:blipFill>
          <a:blip r:embed="rId2"/>
          <a:stretch>
            <a:fillRect/>
          </a:stretch>
        </p:blipFill>
        <p:spPr>
          <a:xfrm>
            <a:off x="919355" y="2286000"/>
            <a:ext cx="6987789" cy="4022725"/>
          </a:xfrm>
          <a:prstGeom prst="rect">
            <a:avLst/>
          </a:prstGeom>
        </p:spPr>
      </p:pic>
    </p:spTree>
    <p:extLst>
      <p:ext uri="{BB962C8B-B14F-4D97-AF65-F5344CB8AC3E}">
        <p14:creationId xmlns:p14="http://schemas.microsoft.com/office/powerpoint/2010/main" val="267771513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274638"/>
            <a:ext cx="7772400" cy="715962"/>
          </a:xfrm>
        </p:spPr>
        <p:txBody>
          <a:bodyPr>
            <a:normAutofit/>
          </a:bodyPr>
          <a:lstStyle/>
          <a:p>
            <a:pPr algn="ctr"/>
            <a:r>
              <a:rPr lang="en-US" dirty="0" smtClean="0">
                <a:solidFill>
                  <a:srgbClr val="0070C0"/>
                </a:solidFill>
              </a:rPr>
              <a:t>Baye’s Rule and its Use</a:t>
            </a:r>
            <a:endParaRPr lang="en-IN" dirty="0">
              <a:solidFill>
                <a:srgbClr val="0070C0"/>
              </a:solidFill>
            </a:endParaRPr>
          </a:p>
        </p:txBody>
      </p:sp>
      <p:pic>
        <p:nvPicPr>
          <p:cNvPr id="4" name="Content Placeholder 3"/>
          <p:cNvPicPr>
            <a:picLocks noGrp="1" noChangeAspect="1"/>
          </p:cNvPicPr>
          <p:nvPr>
            <p:ph idx="1"/>
          </p:nvPr>
        </p:nvPicPr>
        <p:blipFill>
          <a:blip r:embed="rId2"/>
          <a:stretch>
            <a:fillRect/>
          </a:stretch>
        </p:blipFill>
        <p:spPr>
          <a:xfrm>
            <a:off x="1600200" y="1981200"/>
            <a:ext cx="6038850" cy="1676400"/>
          </a:xfrm>
          <a:prstGeom prst="rect">
            <a:avLst/>
          </a:prstGeom>
        </p:spPr>
      </p:pic>
      <p:sp>
        <p:nvSpPr>
          <p:cNvPr id="5" name="Rectangle 4"/>
          <p:cNvSpPr/>
          <p:nvPr/>
        </p:nvSpPr>
        <p:spPr>
          <a:xfrm>
            <a:off x="1447800" y="4191000"/>
            <a:ext cx="7086600" cy="646331"/>
          </a:xfrm>
          <a:prstGeom prst="rect">
            <a:avLst/>
          </a:prstGeom>
        </p:spPr>
        <p:txBody>
          <a:bodyPr wrap="square">
            <a:spAutoFit/>
          </a:bodyPr>
          <a:lstStyle/>
          <a:p>
            <a:pPr marL="285750" indent="-285750">
              <a:buFont typeface="Wingdings" panose="05000000000000000000" pitchFamily="2" charset="2"/>
              <a:buChar char="Ø"/>
            </a:pPr>
            <a:r>
              <a:rPr lang="en-US" b="1" dirty="0">
                <a:solidFill>
                  <a:srgbClr val="0070C0"/>
                </a:solidFill>
              </a:rPr>
              <a:t>This equation is known as Bayes’ rule (also Bayes’ law or Bayes’ theorem)</a:t>
            </a:r>
            <a:endParaRPr lang="en-IN" b="1" dirty="0">
              <a:solidFill>
                <a:srgbClr val="0070C0"/>
              </a:solidFill>
            </a:endParaRPr>
          </a:p>
        </p:txBody>
      </p:sp>
    </p:spTree>
    <p:extLst>
      <p:ext uri="{BB962C8B-B14F-4D97-AF65-F5344CB8AC3E}">
        <p14:creationId xmlns:p14="http://schemas.microsoft.com/office/powerpoint/2010/main" val="2371290770"/>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a:t>Baye’s Rule and its Use</a:t>
            </a:r>
            <a:endParaRPr lang="en-IN" dirty="0"/>
          </a:p>
        </p:txBody>
      </p:sp>
      <p:sp>
        <p:nvSpPr>
          <p:cNvPr id="3" name="Content Placeholder 2"/>
          <p:cNvSpPr>
            <a:spLocks noGrp="1"/>
          </p:cNvSpPr>
          <p:nvPr>
            <p:ph idx="1"/>
          </p:nvPr>
        </p:nvSpPr>
        <p:spPr/>
        <p:txBody>
          <a:bodyPr/>
          <a:lstStyle/>
          <a:p>
            <a:r>
              <a:rPr lang="en-US" b="1" dirty="0">
                <a:solidFill>
                  <a:srgbClr val="0070C0"/>
                </a:solidFill>
              </a:rPr>
              <a:t>The more general case of Bayes’ rule for multivalued variables can be written in the P notation as follows: </a:t>
            </a:r>
            <a:endParaRPr lang="en-US" b="1" dirty="0" smtClean="0">
              <a:solidFill>
                <a:srgbClr val="0070C0"/>
              </a:solidFill>
            </a:endParaRPr>
          </a:p>
          <a:p>
            <a:endParaRPr lang="en-US" b="1" dirty="0" smtClean="0">
              <a:solidFill>
                <a:srgbClr val="0070C0"/>
              </a:solidFill>
            </a:endParaRPr>
          </a:p>
          <a:p>
            <a:r>
              <a:rPr lang="en-US" b="1" dirty="0" smtClean="0">
                <a:solidFill>
                  <a:srgbClr val="FF3399"/>
                </a:solidFill>
              </a:rPr>
              <a:t>                             P(Y </a:t>
            </a:r>
            <a:r>
              <a:rPr lang="en-US" b="1" dirty="0">
                <a:solidFill>
                  <a:srgbClr val="FF3399"/>
                </a:solidFill>
              </a:rPr>
              <a:t>| X) = P(X | Y )P(Y </a:t>
            </a:r>
            <a:r>
              <a:rPr lang="en-US" b="1" dirty="0" smtClean="0">
                <a:solidFill>
                  <a:srgbClr val="FF3399"/>
                </a:solidFill>
              </a:rPr>
              <a:t>) / </a:t>
            </a:r>
            <a:r>
              <a:rPr lang="en-US" b="1" dirty="0">
                <a:solidFill>
                  <a:srgbClr val="FF3399"/>
                </a:solidFill>
              </a:rPr>
              <a:t>P(X) </a:t>
            </a:r>
            <a:endParaRPr lang="en-IN" b="1" dirty="0">
              <a:solidFill>
                <a:srgbClr val="FF3399"/>
              </a:solidFill>
            </a:endParaRPr>
          </a:p>
        </p:txBody>
      </p:sp>
    </p:spTree>
    <p:extLst>
      <p:ext uri="{BB962C8B-B14F-4D97-AF65-F5344CB8AC3E}">
        <p14:creationId xmlns:p14="http://schemas.microsoft.com/office/powerpoint/2010/main" val="194037487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938784"/>
          </a:xfrm>
        </p:spPr>
        <p:txBody>
          <a:bodyPr>
            <a:normAutofit/>
          </a:bodyPr>
          <a:lstStyle/>
          <a:p>
            <a:r>
              <a:rPr lang="en-US" dirty="0"/>
              <a:t>Applying Bayes’ rule: The simple case</a:t>
            </a:r>
            <a:endParaRPr lang="en-IN" dirty="0"/>
          </a:p>
        </p:txBody>
      </p:sp>
      <p:pic>
        <p:nvPicPr>
          <p:cNvPr id="4" name="Content Placeholder 3"/>
          <p:cNvPicPr>
            <a:picLocks noGrp="1" noChangeAspect="1"/>
          </p:cNvPicPr>
          <p:nvPr>
            <p:ph idx="1"/>
          </p:nvPr>
        </p:nvPicPr>
        <p:blipFill>
          <a:blip r:embed="rId2"/>
          <a:stretch>
            <a:fillRect/>
          </a:stretch>
        </p:blipFill>
        <p:spPr>
          <a:xfrm>
            <a:off x="2057400" y="2743200"/>
            <a:ext cx="4352925" cy="1066800"/>
          </a:xfrm>
          <a:prstGeom prst="rect">
            <a:avLst/>
          </a:prstGeom>
        </p:spPr>
      </p:pic>
    </p:spTree>
    <p:extLst>
      <p:ext uri="{BB962C8B-B14F-4D97-AF65-F5344CB8AC3E}">
        <p14:creationId xmlns:p14="http://schemas.microsoft.com/office/powerpoint/2010/main" val="664239015"/>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6650" y="304800"/>
            <a:ext cx="7290054" cy="1143000"/>
          </a:xfrm>
        </p:spPr>
        <p:txBody>
          <a:bodyPr>
            <a:normAutofit/>
          </a:bodyPr>
          <a:lstStyle/>
          <a:p>
            <a:r>
              <a:rPr lang="en-US" dirty="0"/>
              <a:t>Applying Bayes’ rule: The simple case</a:t>
            </a:r>
            <a:endParaRPr lang="en-IN" dirty="0"/>
          </a:p>
        </p:txBody>
      </p:sp>
      <p:sp>
        <p:nvSpPr>
          <p:cNvPr id="3" name="Content Placeholder 2"/>
          <p:cNvSpPr>
            <a:spLocks noGrp="1"/>
          </p:cNvSpPr>
          <p:nvPr>
            <p:ph idx="1"/>
          </p:nvPr>
        </p:nvSpPr>
        <p:spPr>
          <a:xfrm>
            <a:off x="914400" y="1447800"/>
            <a:ext cx="7772400" cy="5105400"/>
          </a:xfrm>
        </p:spPr>
        <p:txBody>
          <a:bodyPr>
            <a:normAutofit/>
          </a:bodyPr>
          <a:lstStyle/>
          <a:p>
            <a:endParaRPr lang="en-US" dirty="0" smtClean="0"/>
          </a:p>
          <a:p>
            <a:pPr>
              <a:buFont typeface="Wingdings" panose="05000000000000000000" pitchFamily="2" charset="2"/>
              <a:buChar char="Ø"/>
            </a:pPr>
            <a:r>
              <a:rPr lang="en-US" dirty="0" smtClean="0"/>
              <a:t>The disease </a:t>
            </a:r>
            <a:r>
              <a:rPr lang="en-US" dirty="0"/>
              <a:t>meningitis causes </a:t>
            </a:r>
            <a:r>
              <a:rPr lang="en-US" dirty="0" smtClean="0"/>
              <a:t>stiff neck</a:t>
            </a:r>
            <a:r>
              <a:rPr lang="en-US" dirty="0"/>
              <a:t> </a:t>
            </a:r>
            <a:r>
              <a:rPr lang="en-US" dirty="0" smtClean="0"/>
              <a:t>- </a:t>
            </a:r>
            <a:r>
              <a:rPr lang="en-US" dirty="0"/>
              <a:t>70% of the time</a:t>
            </a:r>
            <a:r>
              <a:rPr lang="en-US" dirty="0" smtClean="0"/>
              <a:t>.</a:t>
            </a:r>
          </a:p>
          <a:p>
            <a:pPr>
              <a:buFont typeface="Wingdings" panose="05000000000000000000" pitchFamily="2" charset="2"/>
              <a:buChar char="Ø"/>
            </a:pPr>
            <a:endParaRPr lang="en-US" dirty="0" smtClean="0"/>
          </a:p>
          <a:p>
            <a:pPr>
              <a:buFont typeface="Wingdings" panose="05000000000000000000" pitchFamily="2" charset="2"/>
              <a:buChar char="Ø"/>
            </a:pPr>
            <a:r>
              <a:rPr lang="en-US" dirty="0" smtClean="0"/>
              <a:t>The </a:t>
            </a:r>
            <a:r>
              <a:rPr lang="en-US" dirty="0"/>
              <a:t>prior </a:t>
            </a:r>
            <a:r>
              <a:rPr lang="en-US" dirty="0" smtClean="0"/>
              <a:t>probability </a:t>
            </a:r>
            <a:r>
              <a:rPr lang="en-US" dirty="0"/>
              <a:t>that a patient has meningitis is 1/50,000, </a:t>
            </a:r>
            <a:endParaRPr lang="en-US" dirty="0" smtClean="0"/>
          </a:p>
          <a:p>
            <a:pPr>
              <a:buFont typeface="Wingdings" panose="05000000000000000000" pitchFamily="2" charset="2"/>
              <a:buChar char="Ø"/>
            </a:pPr>
            <a:endParaRPr lang="en-US" dirty="0"/>
          </a:p>
          <a:p>
            <a:pPr>
              <a:buFont typeface="Wingdings" panose="05000000000000000000" pitchFamily="2" charset="2"/>
              <a:buChar char="Ø"/>
            </a:pPr>
            <a:r>
              <a:rPr lang="en-US" dirty="0" smtClean="0"/>
              <a:t>and </a:t>
            </a:r>
            <a:r>
              <a:rPr lang="en-US" dirty="0"/>
              <a:t>the prior probability that any patient has a stiff neck is 1%. </a:t>
            </a:r>
            <a:endParaRPr lang="en-US" dirty="0" smtClean="0"/>
          </a:p>
          <a:p>
            <a:pPr>
              <a:buFont typeface="Wingdings" panose="05000000000000000000" pitchFamily="2" charset="2"/>
              <a:buChar char="Ø"/>
            </a:pPr>
            <a:endParaRPr lang="en-US" dirty="0" smtClean="0"/>
          </a:p>
          <a:p>
            <a:pPr>
              <a:buFont typeface="Wingdings" panose="05000000000000000000" pitchFamily="2" charset="2"/>
              <a:buChar char="Ø"/>
            </a:pPr>
            <a:r>
              <a:rPr lang="en-US" b="1" dirty="0" smtClean="0">
                <a:solidFill>
                  <a:srgbClr val="FF3399"/>
                </a:solidFill>
              </a:rPr>
              <a:t>s</a:t>
            </a:r>
            <a:r>
              <a:rPr lang="en-US" dirty="0" smtClean="0"/>
              <a:t> - </a:t>
            </a:r>
            <a:r>
              <a:rPr lang="en-US" dirty="0"/>
              <a:t>the proposition that the patient has a stiff neck </a:t>
            </a:r>
            <a:r>
              <a:rPr lang="en-US" dirty="0" smtClean="0"/>
              <a:t>and</a:t>
            </a:r>
          </a:p>
          <a:p>
            <a:pPr>
              <a:buFont typeface="Wingdings" panose="05000000000000000000" pitchFamily="2" charset="2"/>
              <a:buChar char="Ø"/>
            </a:pPr>
            <a:r>
              <a:rPr lang="en-US" dirty="0" smtClean="0"/>
              <a:t> </a:t>
            </a:r>
            <a:r>
              <a:rPr lang="en-US" b="1" dirty="0">
                <a:solidFill>
                  <a:srgbClr val="FF3399"/>
                </a:solidFill>
              </a:rPr>
              <a:t>m</a:t>
            </a:r>
            <a:r>
              <a:rPr lang="en-US" dirty="0"/>
              <a:t> </a:t>
            </a:r>
            <a:r>
              <a:rPr lang="en-US" dirty="0" smtClean="0"/>
              <a:t>- </a:t>
            </a:r>
            <a:r>
              <a:rPr lang="en-US" dirty="0"/>
              <a:t>the proposition that the patient has meningitis</a:t>
            </a:r>
            <a:r>
              <a:rPr lang="en-US" dirty="0" smtClean="0"/>
              <a:t>,</a:t>
            </a:r>
          </a:p>
          <a:p>
            <a:endParaRPr lang="en-IN" dirty="0"/>
          </a:p>
        </p:txBody>
      </p:sp>
    </p:spTree>
    <p:extLst>
      <p:ext uri="{BB962C8B-B14F-4D97-AF65-F5344CB8AC3E}">
        <p14:creationId xmlns:p14="http://schemas.microsoft.com/office/powerpoint/2010/main" val="4113692478"/>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Applying Bayes’ rule: The simple case</a:t>
            </a:r>
            <a:endParaRPr lang="en-IN" dirty="0"/>
          </a:p>
        </p:txBody>
      </p:sp>
      <p:sp>
        <p:nvSpPr>
          <p:cNvPr id="3" name="Content Placeholder 2"/>
          <p:cNvSpPr>
            <a:spLocks noGrp="1"/>
          </p:cNvSpPr>
          <p:nvPr>
            <p:ph idx="1"/>
          </p:nvPr>
        </p:nvSpPr>
        <p:spPr/>
        <p:txBody>
          <a:bodyPr/>
          <a:lstStyle/>
          <a:p>
            <a:r>
              <a:rPr lang="en-US" dirty="0"/>
              <a:t>we have P(s | m) = 0.7 </a:t>
            </a:r>
          </a:p>
          <a:p>
            <a:r>
              <a:rPr lang="en-US" dirty="0"/>
              <a:t>P(m) = 1/50000 </a:t>
            </a:r>
          </a:p>
          <a:p>
            <a:r>
              <a:rPr lang="en-US" dirty="0"/>
              <a:t>P(s) = 0.01</a:t>
            </a:r>
          </a:p>
          <a:p>
            <a:r>
              <a:rPr lang="en-US" dirty="0"/>
              <a:t> P(m | s) = P(s | m)P(m)/ P(s) = </a:t>
            </a:r>
            <a:r>
              <a:rPr lang="en-US" dirty="0" smtClean="0"/>
              <a:t>(0.7 </a:t>
            </a:r>
            <a:r>
              <a:rPr lang="en-US" dirty="0"/>
              <a:t>× </a:t>
            </a:r>
            <a:r>
              <a:rPr lang="en-US" dirty="0" smtClean="0"/>
              <a:t>1/50000)/ </a:t>
            </a:r>
            <a:r>
              <a:rPr lang="en-US" dirty="0"/>
              <a:t>0.01 = 0.0014 </a:t>
            </a:r>
            <a:endParaRPr lang="en-US" dirty="0" smtClean="0"/>
          </a:p>
          <a:p>
            <a:endParaRPr lang="en-US" dirty="0"/>
          </a:p>
          <a:p>
            <a:pPr>
              <a:buFont typeface="Wingdings" panose="05000000000000000000" pitchFamily="2" charset="2"/>
              <a:buChar char="Ø"/>
            </a:pPr>
            <a:r>
              <a:rPr lang="en-US" dirty="0"/>
              <a:t>That is, we expect less than 1 in 700 patients with a stiff neck to have meningitis.</a:t>
            </a:r>
            <a:endParaRPr lang="en-IN" dirty="0"/>
          </a:p>
          <a:p>
            <a:endParaRPr lang="en-IN" dirty="0"/>
          </a:p>
        </p:txBody>
      </p:sp>
    </p:spTree>
    <p:extLst>
      <p:ext uri="{BB962C8B-B14F-4D97-AF65-F5344CB8AC3E}">
        <p14:creationId xmlns:p14="http://schemas.microsoft.com/office/powerpoint/2010/main" val="274557782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From a standard deck of 52 cards, a single card is drawn. The probability of drawing a spade is 13/52. Calculate the posterior probability (</a:t>
            </a:r>
            <a:r>
              <a:rPr lang="en-IN" dirty="0" err="1"/>
              <a:t>Ace∣Spade</a:t>
            </a:r>
            <a:r>
              <a:rPr lang="en-IN" dirty="0"/>
              <a:t>), which is the probability that the drawn spade card is an ace. </a:t>
            </a:r>
            <a:endParaRPr lang="en-IN" dirty="0" smtClean="0"/>
          </a:p>
          <a:p>
            <a:endParaRPr lang="en-IN" dirty="0"/>
          </a:p>
          <a:p>
            <a:r>
              <a:rPr lang="en-US" dirty="0"/>
              <a:t>80% of spam emails contain the word "Free". Only 10% of non-spam emails contain "Free". If 20% of emails are spam, what is the probability that an email containing "Free" is spam?</a:t>
            </a:r>
            <a:endParaRPr lang="en-IN" dirty="0"/>
          </a:p>
        </p:txBody>
      </p:sp>
    </p:spTree>
    <p:extLst>
      <p:ext uri="{BB962C8B-B14F-4D97-AF65-F5344CB8AC3E}">
        <p14:creationId xmlns:p14="http://schemas.microsoft.com/office/powerpoint/2010/main" val="235528699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B9F25"/>
      </a:hlink>
      <a:folHlink>
        <a:srgbClr val="B26B02"/>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Integral" id="{3577F8C9-A904-41D8-97D2-FD898F53F20E}" vid="{682D6EBE-8D36-4FF2-9DB3-F3D8D7B6715D}"/>
    </a:ext>
  </a:extLst>
</a:theme>
</file>

<file path=docProps/app.xml><?xml version="1.0" encoding="utf-8"?>
<Properties xmlns="http://schemas.openxmlformats.org/officeDocument/2006/extended-properties" xmlns:vt="http://schemas.openxmlformats.org/officeDocument/2006/docPropsVTypes">
  <Template>Integral</Template>
  <TotalTime>9485</TotalTime>
  <Words>2762</Words>
  <Application>Microsoft Office PowerPoint</Application>
  <PresentationFormat>On-screen Show (4:3)</PresentationFormat>
  <Paragraphs>305</Paragraphs>
  <Slides>50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50</vt:i4>
      </vt:variant>
    </vt:vector>
  </HeadingPairs>
  <TitlesOfParts>
    <vt:vector size="55" baseType="lpstr">
      <vt:lpstr>Tw Cen MT</vt:lpstr>
      <vt:lpstr>Tw Cen MT Condensed</vt:lpstr>
      <vt:lpstr>Wingdings</vt:lpstr>
      <vt:lpstr>Wingdings 3</vt:lpstr>
      <vt:lpstr>Integral</vt:lpstr>
      <vt:lpstr>Uncertainty</vt:lpstr>
      <vt:lpstr>Acting Under Uncertainty</vt:lpstr>
      <vt:lpstr>Acting Under Uncertainty</vt:lpstr>
      <vt:lpstr>Acting Under Uncertainty</vt:lpstr>
      <vt:lpstr>Acting Under Uncertainty</vt:lpstr>
      <vt:lpstr>Acting Under Uncertainty</vt:lpstr>
      <vt:lpstr>Handling uncertain knowledge - Dental diagnosis using FOL </vt:lpstr>
      <vt:lpstr>Handling uncertain knowledge</vt:lpstr>
      <vt:lpstr>Handling uncertain knowledge</vt:lpstr>
      <vt:lpstr>PowerPoint Presentation</vt:lpstr>
      <vt:lpstr>Handling uncertain knowledge</vt:lpstr>
      <vt:lpstr>Uncertainty and Rational Decisions</vt:lpstr>
      <vt:lpstr>What probabilities are about</vt:lpstr>
      <vt:lpstr>What probabilities are about</vt:lpstr>
      <vt:lpstr>What probabilities are about</vt:lpstr>
      <vt:lpstr>What probabilities are about</vt:lpstr>
      <vt:lpstr>What probabilities are about</vt:lpstr>
      <vt:lpstr>What probabilities are about</vt:lpstr>
      <vt:lpstr>What probabilities are about</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The language of propositions in probability assertion</vt:lpstr>
      <vt:lpstr>Inference Using Full Joint Distributions</vt:lpstr>
      <vt:lpstr>Inference Using Full Joint Distributions</vt:lpstr>
      <vt:lpstr>Inference Using Full Joint Distributions</vt:lpstr>
      <vt:lpstr>Inference Using Full Joint Distributions</vt:lpstr>
      <vt:lpstr>Inference Using Full Joint Distributions</vt:lpstr>
      <vt:lpstr>Independence</vt:lpstr>
      <vt:lpstr>Independence</vt:lpstr>
      <vt:lpstr>Independence</vt:lpstr>
      <vt:lpstr>Independence</vt:lpstr>
      <vt:lpstr>Independence</vt:lpstr>
      <vt:lpstr>Independence</vt:lpstr>
      <vt:lpstr>Independence</vt:lpstr>
      <vt:lpstr>Baye’s Rule and its Use</vt:lpstr>
      <vt:lpstr>Baye’s Rule and its Use</vt:lpstr>
      <vt:lpstr>Applying Bayes’ rule: The simple case</vt:lpstr>
      <vt:lpstr>Applying Bayes’ rule: The simple case</vt:lpstr>
      <vt:lpstr>Applying Bayes’ rule: The simple case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Uncertainty</dc:title>
  <dc:creator>Administrator</dc:creator>
  <cp:lastModifiedBy>Balamurali</cp:lastModifiedBy>
  <cp:revision>51</cp:revision>
  <dcterms:created xsi:type="dcterms:W3CDTF">2015-11-17T13:45:17Z</dcterms:created>
  <dcterms:modified xsi:type="dcterms:W3CDTF">2025-04-08T06:28:27Z</dcterms:modified>
</cp:coreProperties>
</file>