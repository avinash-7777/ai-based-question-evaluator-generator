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114" d="100"/>
          <a:sy n="114" d="100"/>
        </p:scale>
        <p:origin x="474" y="10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IN"/>
          </a:p>
        </p:txBody>
      </p:sp>
      <p:sp>
        <p:nvSpPr>
          <p:cNvPr id="4" name="Date Placeholder 3"/>
          <p:cNvSpPr>
            <a:spLocks noGrp="1"/>
          </p:cNvSpPr>
          <p:nvPr>
            <p:ph type="dt" sz="half" idx="10"/>
          </p:nvPr>
        </p:nvSpPr>
        <p:spPr/>
        <p:txBody>
          <a:bodyPr/>
          <a:lstStyle/>
          <a:p>
            <a:fld id="{5D6BE932-BD6E-4D09-8E04-C83111F3D738}" type="datetimeFigureOut">
              <a:rPr lang="en-IN" smtClean="0"/>
              <a:t>06-03-2024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101B0B3-B909-47A6-A116-DDC5FB6E3DEB}" type="slidenum">
              <a:rPr lang="en-IN" smtClean="0"/>
              <a:t>‹#›</a:t>
            </a:fld>
            <a:endParaRPr lang="en-IN"/>
          </a:p>
        </p:txBody>
      </p:sp>
    </p:spTree>
    <p:extLst>
      <p:ext uri="{BB962C8B-B14F-4D97-AF65-F5344CB8AC3E}">
        <p14:creationId xmlns:p14="http://schemas.microsoft.com/office/powerpoint/2010/main" val="184192736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5D6BE932-BD6E-4D09-8E04-C83111F3D738}" type="datetimeFigureOut">
              <a:rPr lang="en-IN" smtClean="0"/>
              <a:t>06-03-2024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101B0B3-B909-47A6-A116-DDC5FB6E3DEB}" type="slidenum">
              <a:rPr lang="en-IN" smtClean="0"/>
              <a:t>‹#›</a:t>
            </a:fld>
            <a:endParaRPr lang="en-IN"/>
          </a:p>
        </p:txBody>
      </p:sp>
    </p:spTree>
    <p:extLst>
      <p:ext uri="{BB962C8B-B14F-4D97-AF65-F5344CB8AC3E}">
        <p14:creationId xmlns:p14="http://schemas.microsoft.com/office/powerpoint/2010/main" val="60315987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5D6BE932-BD6E-4D09-8E04-C83111F3D738}" type="datetimeFigureOut">
              <a:rPr lang="en-IN" smtClean="0"/>
              <a:t>06-03-2024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101B0B3-B909-47A6-A116-DDC5FB6E3DEB}" type="slidenum">
              <a:rPr lang="en-IN" smtClean="0"/>
              <a:t>‹#›</a:t>
            </a:fld>
            <a:endParaRPr lang="en-IN"/>
          </a:p>
        </p:txBody>
      </p:sp>
    </p:spTree>
    <p:extLst>
      <p:ext uri="{BB962C8B-B14F-4D97-AF65-F5344CB8AC3E}">
        <p14:creationId xmlns:p14="http://schemas.microsoft.com/office/powerpoint/2010/main" val="56604143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Date Placeholder 4"/>
          <p:cNvSpPr>
            <a:spLocks noGrp="1"/>
          </p:cNvSpPr>
          <p:nvPr>
            <p:ph type="dt" sz="half" idx="10"/>
          </p:nvPr>
        </p:nvSpPr>
        <p:spPr/>
        <p:txBody>
          <a:bodyPr/>
          <a:lstStyle/>
          <a:p>
            <a:fld id="{5D6BE932-BD6E-4D09-8E04-C83111F3D738}" type="datetimeFigureOut">
              <a:rPr lang="en-IN" smtClean="0"/>
              <a:t>06-03-2024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1101B0B3-B909-47A6-A116-DDC5FB6E3DEB}" type="slidenum">
              <a:rPr lang="en-IN" smtClean="0"/>
              <a:t>‹#›</a:t>
            </a:fld>
            <a:endParaRPr lang="en-IN"/>
          </a:p>
        </p:txBody>
      </p:sp>
    </p:spTree>
    <p:extLst>
      <p:ext uri="{BB962C8B-B14F-4D97-AF65-F5344CB8AC3E}">
        <p14:creationId xmlns:p14="http://schemas.microsoft.com/office/powerpoint/2010/main" val="4748343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7" name="Date Placeholder 6"/>
          <p:cNvSpPr>
            <a:spLocks noGrp="1"/>
          </p:cNvSpPr>
          <p:nvPr>
            <p:ph type="dt" sz="half" idx="10"/>
          </p:nvPr>
        </p:nvSpPr>
        <p:spPr/>
        <p:txBody>
          <a:bodyPr/>
          <a:lstStyle/>
          <a:p>
            <a:fld id="{5D6BE932-BD6E-4D09-8E04-C83111F3D738}" type="datetimeFigureOut">
              <a:rPr lang="en-IN" smtClean="0"/>
              <a:t>06-03-2024</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1101B0B3-B909-47A6-A116-DDC5FB6E3DEB}" type="slidenum">
              <a:rPr lang="en-IN" smtClean="0"/>
              <a:t>‹#›</a:t>
            </a:fld>
            <a:endParaRPr lang="en-IN"/>
          </a:p>
        </p:txBody>
      </p:sp>
    </p:spTree>
    <p:extLst>
      <p:ext uri="{BB962C8B-B14F-4D97-AF65-F5344CB8AC3E}">
        <p14:creationId xmlns:p14="http://schemas.microsoft.com/office/powerpoint/2010/main" val="363537220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Date Placeholder 2"/>
          <p:cNvSpPr>
            <a:spLocks noGrp="1"/>
          </p:cNvSpPr>
          <p:nvPr>
            <p:ph type="dt" sz="half" idx="10"/>
          </p:nvPr>
        </p:nvSpPr>
        <p:spPr/>
        <p:txBody>
          <a:bodyPr/>
          <a:lstStyle/>
          <a:p>
            <a:fld id="{5D6BE932-BD6E-4D09-8E04-C83111F3D738}" type="datetimeFigureOut">
              <a:rPr lang="en-IN" smtClean="0"/>
              <a:t>06-03-2024</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1101B0B3-B909-47A6-A116-DDC5FB6E3DEB}" type="slidenum">
              <a:rPr lang="en-IN" smtClean="0"/>
              <a:t>‹#›</a:t>
            </a:fld>
            <a:endParaRPr lang="en-IN"/>
          </a:p>
        </p:txBody>
      </p:sp>
    </p:spTree>
    <p:extLst>
      <p:ext uri="{BB962C8B-B14F-4D97-AF65-F5344CB8AC3E}">
        <p14:creationId xmlns:p14="http://schemas.microsoft.com/office/powerpoint/2010/main" val="217017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D6BE932-BD6E-4D09-8E04-C83111F3D738}" type="datetimeFigureOut">
              <a:rPr lang="en-IN" smtClean="0"/>
              <a:t>06-03-2024</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1101B0B3-B909-47A6-A116-DDC5FB6E3DEB}" type="slidenum">
              <a:rPr lang="en-IN" smtClean="0"/>
              <a:t>‹#›</a:t>
            </a:fld>
            <a:endParaRPr lang="en-IN"/>
          </a:p>
        </p:txBody>
      </p:sp>
    </p:spTree>
    <p:extLst>
      <p:ext uri="{BB962C8B-B14F-4D97-AF65-F5344CB8AC3E}">
        <p14:creationId xmlns:p14="http://schemas.microsoft.com/office/powerpoint/2010/main" val="215744116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5D6BE932-BD6E-4D09-8E04-C83111F3D738}" type="datetimeFigureOut">
              <a:rPr lang="en-IN" smtClean="0"/>
              <a:t>06-03-2024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1101B0B3-B909-47A6-A116-DDC5FB6E3DEB}" type="slidenum">
              <a:rPr lang="en-IN" smtClean="0"/>
              <a:t>‹#›</a:t>
            </a:fld>
            <a:endParaRPr lang="en-IN"/>
          </a:p>
        </p:txBody>
      </p:sp>
    </p:spTree>
    <p:extLst>
      <p:ext uri="{BB962C8B-B14F-4D97-AF65-F5344CB8AC3E}">
        <p14:creationId xmlns:p14="http://schemas.microsoft.com/office/powerpoint/2010/main" val="352162442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5D6BE932-BD6E-4D09-8E04-C83111F3D738}" type="datetimeFigureOut">
              <a:rPr lang="en-IN" smtClean="0"/>
              <a:t>06-03-2024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1101B0B3-B909-47A6-A116-DDC5FB6E3DEB}" type="slidenum">
              <a:rPr lang="en-IN" smtClean="0"/>
              <a:t>‹#›</a:t>
            </a:fld>
            <a:endParaRPr lang="en-IN"/>
          </a:p>
        </p:txBody>
      </p:sp>
    </p:spTree>
    <p:extLst>
      <p:ext uri="{BB962C8B-B14F-4D97-AF65-F5344CB8AC3E}">
        <p14:creationId xmlns:p14="http://schemas.microsoft.com/office/powerpoint/2010/main" val="241409140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5D6BE932-BD6E-4D09-8E04-C83111F3D738}" type="datetimeFigureOut">
              <a:rPr lang="en-IN" smtClean="0"/>
              <a:t>06-03-2024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101B0B3-B909-47A6-A116-DDC5FB6E3DEB}" type="slidenum">
              <a:rPr lang="en-IN" smtClean="0"/>
              <a:t>‹#›</a:t>
            </a:fld>
            <a:endParaRPr lang="en-IN"/>
          </a:p>
        </p:txBody>
      </p:sp>
    </p:spTree>
    <p:extLst>
      <p:ext uri="{BB962C8B-B14F-4D97-AF65-F5344CB8AC3E}">
        <p14:creationId xmlns:p14="http://schemas.microsoft.com/office/powerpoint/2010/main" val="173873890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5D6BE932-BD6E-4D09-8E04-C83111F3D738}" type="datetimeFigureOut">
              <a:rPr lang="en-IN" smtClean="0"/>
              <a:t>06-03-2024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101B0B3-B909-47A6-A116-DDC5FB6E3DEB}" type="slidenum">
              <a:rPr lang="en-IN" smtClean="0"/>
              <a:t>‹#›</a:t>
            </a:fld>
            <a:endParaRPr lang="en-IN"/>
          </a:p>
        </p:txBody>
      </p:sp>
    </p:spTree>
    <p:extLst>
      <p:ext uri="{BB962C8B-B14F-4D97-AF65-F5344CB8AC3E}">
        <p14:creationId xmlns:p14="http://schemas.microsoft.com/office/powerpoint/2010/main" val="292948206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D6BE932-BD6E-4D09-8E04-C83111F3D738}" type="datetimeFigureOut">
              <a:rPr lang="en-IN" smtClean="0"/>
              <a:t>06-03-2024</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101B0B3-B909-47A6-A116-DDC5FB6E3DEB}" type="slidenum">
              <a:rPr lang="en-IN" smtClean="0"/>
              <a:t>‹#›</a:t>
            </a:fld>
            <a:endParaRPr lang="en-IN"/>
          </a:p>
        </p:txBody>
      </p:sp>
    </p:spTree>
    <p:extLst>
      <p:ext uri="{BB962C8B-B14F-4D97-AF65-F5344CB8AC3E}">
        <p14:creationId xmlns:p14="http://schemas.microsoft.com/office/powerpoint/2010/main" val="428262085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b="1" dirty="0" smtClean="0">
                <a:solidFill>
                  <a:srgbClr val="C00000"/>
                </a:solidFill>
              </a:rPr>
              <a:t>First Order Logic</a:t>
            </a:r>
            <a:endParaRPr lang="en-IN" b="1" dirty="0">
              <a:solidFill>
                <a:srgbClr val="C00000"/>
              </a:solidFill>
            </a:endParaRPr>
          </a:p>
        </p:txBody>
      </p:sp>
      <p:sp>
        <p:nvSpPr>
          <p:cNvPr id="3" name="Subtitle 2"/>
          <p:cNvSpPr>
            <a:spLocks noGrp="1"/>
          </p:cNvSpPr>
          <p:nvPr>
            <p:ph type="subTitle" idx="1"/>
          </p:nvPr>
        </p:nvSpPr>
        <p:spPr/>
        <p:txBody>
          <a:bodyPr/>
          <a:lstStyle/>
          <a:p>
            <a:r>
              <a:rPr lang="en-US" i="1" dirty="0" smtClean="0">
                <a:solidFill>
                  <a:srgbClr val="00B050"/>
                </a:solidFill>
              </a:rPr>
              <a:t>In which we notice that the world is blessed with many objects, some of which are related to other objects, and in which we endeavor to reason about them.</a:t>
            </a:r>
            <a:endParaRPr lang="en-IN" i="1" dirty="0">
              <a:solidFill>
                <a:srgbClr val="00B050"/>
              </a:solidFill>
            </a:endParaRPr>
          </a:p>
        </p:txBody>
      </p:sp>
    </p:spTree>
    <p:extLst>
      <p:ext uri="{BB962C8B-B14F-4D97-AF65-F5344CB8AC3E}">
        <p14:creationId xmlns:p14="http://schemas.microsoft.com/office/powerpoint/2010/main" val="746598952"/>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777875"/>
          </a:xfrm>
        </p:spPr>
        <p:txBody>
          <a:bodyPr/>
          <a:lstStyle/>
          <a:p>
            <a:pPr algn="ctr"/>
            <a:r>
              <a:rPr lang="en-US" b="1" dirty="0" smtClean="0">
                <a:solidFill>
                  <a:srgbClr val="C00000"/>
                </a:solidFill>
              </a:rPr>
              <a:t>First Order Logic</a:t>
            </a:r>
            <a:endParaRPr lang="en-IN" dirty="0"/>
          </a:p>
        </p:txBody>
      </p:sp>
      <p:sp>
        <p:nvSpPr>
          <p:cNvPr id="3" name="Content Placeholder 2"/>
          <p:cNvSpPr>
            <a:spLocks noGrp="1"/>
          </p:cNvSpPr>
          <p:nvPr>
            <p:ph idx="1"/>
          </p:nvPr>
        </p:nvSpPr>
        <p:spPr>
          <a:xfrm>
            <a:off x="838200" y="1285875"/>
            <a:ext cx="10515600" cy="4891088"/>
          </a:xfrm>
        </p:spPr>
        <p:txBody>
          <a:bodyPr/>
          <a:lstStyle/>
          <a:p>
            <a:r>
              <a:rPr lang="en-US" dirty="0" smtClean="0"/>
              <a:t>Propositional logic as our representation language - sufficed - basic concepts of logic and knowledge-based agents.</a:t>
            </a:r>
          </a:p>
          <a:p>
            <a:endParaRPr lang="en-US" dirty="0"/>
          </a:p>
          <a:p>
            <a:r>
              <a:rPr lang="en-US" dirty="0" smtClean="0"/>
              <a:t>propositional logic is too puny a language to represent knowledge of complex environments in a concise way.</a:t>
            </a:r>
          </a:p>
          <a:p>
            <a:endParaRPr lang="en-US" dirty="0"/>
          </a:p>
          <a:p>
            <a:r>
              <a:rPr lang="en-US" dirty="0" smtClean="0"/>
              <a:t>first-order logic, is sufficiently expressive to represent a good deal of our commonsense knowledge. </a:t>
            </a:r>
          </a:p>
          <a:p>
            <a:endParaRPr lang="en-US" dirty="0"/>
          </a:p>
          <a:p>
            <a:r>
              <a:rPr lang="en-US" dirty="0" smtClean="0"/>
              <a:t>FOL is also called as First Order Predicate Calculus (FOPC).</a:t>
            </a:r>
          </a:p>
          <a:p>
            <a:endParaRPr lang="en-US" dirty="0"/>
          </a:p>
          <a:p>
            <a:endParaRPr lang="en-IN" dirty="0"/>
          </a:p>
        </p:txBody>
      </p:sp>
    </p:spTree>
    <p:extLst>
      <p:ext uri="{BB962C8B-B14F-4D97-AF65-F5344CB8AC3E}">
        <p14:creationId xmlns:p14="http://schemas.microsoft.com/office/powerpoint/2010/main" val="3662590823"/>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792163"/>
          </a:xfrm>
        </p:spPr>
        <p:txBody>
          <a:bodyPr/>
          <a:lstStyle/>
          <a:p>
            <a:pPr algn="ctr"/>
            <a:r>
              <a:rPr lang="en-US" b="1" dirty="0" smtClean="0">
                <a:solidFill>
                  <a:srgbClr val="C00000"/>
                </a:solidFill>
              </a:rPr>
              <a:t>Representation</a:t>
            </a:r>
            <a:endParaRPr lang="en-IN" b="1" dirty="0">
              <a:solidFill>
                <a:srgbClr val="C00000"/>
              </a:solidFill>
            </a:endParaRPr>
          </a:p>
        </p:txBody>
      </p:sp>
      <p:sp>
        <p:nvSpPr>
          <p:cNvPr id="3" name="Content Placeholder 2"/>
          <p:cNvSpPr>
            <a:spLocks noGrp="1"/>
          </p:cNvSpPr>
          <p:nvPr>
            <p:ph idx="1"/>
          </p:nvPr>
        </p:nvSpPr>
        <p:spPr>
          <a:xfrm>
            <a:off x="838200" y="1157288"/>
            <a:ext cx="10515600" cy="5019675"/>
          </a:xfrm>
        </p:spPr>
        <p:txBody>
          <a:bodyPr>
            <a:normAutofit/>
          </a:bodyPr>
          <a:lstStyle/>
          <a:p>
            <a:pPr algn="just"/>
            <a:r>
              <a:rPr lang="en-US" dirty="0" smtClean="0"/>
              <a:t>Data structures within programs can represent facts; for example, a program could use a 4 × 4 array to represent the contents of the </a:t>
            </a:r>
            <a:r>
              <a:rPr lang="en-US" dirty="0" err="1" smtClean="0"/>
              <a:t>wumpus</a:t>
            </a:r>
            <a:r>
              <a:rPr lang="en-US" dirty="0" smtClean="0"/>
              <a:t> world. </a:t>
            </a:r>
          </a:p>
          <a:p>
            <a:pPr algn="just"/>
            <a:r>
              <a:rPr lang="en-US" dirty="0" smtClean="0"/>
              <a:t>The statement World[2,2]← Pit</a:t>
            </a:r>
          </a:p>
          <a:p>
            <a:pPr algn="just"/>
            <a:r>
              <a:rPr lang="en-US" dirty="0" smtClean="0"/>
              <a:t> is a fairly natural way to assert that there is a pit in square [2,2].</a:t>
            </a:r>
          </a:p>
          <a:p>
            <a:pPr algn="just"/>
            <a:r>
              <a:rPr lang="en-US" dirty="0" smtClean="0"/>
              <a:t>database systems were developed precisely to provide a more general, domain-independent way to store and </a:t>
            </a:r>
            <a:r>
              <a:rPr lang="en-IN" dirty="0" smtClean="0"/>
              <a:t>retrieve facts.</a:t>
            </a:r>
          </a:p>
          <a:p>
            <a:pPr algn="just"/>
            <a:r>
              <a:rPr lang="en-US" dirty="0" smtClean="0"/>
              <a:t>Programming languages lack - any general mechanism for deriving facts from other facts; </a:t>
            </a:r>
          </a:p>
          <a:p>
            <a:pPr algn="just"/>
            <a:r>
              <a:rPr lang="en-US" dirty="0" smtClean="0"/>
              <a:t>each update to a data structure is done by a domain-specific procedure</a:t>
            </a:r>
            <a:endParaRPr lang="en-IN" dirty="0"/>
          </a:p>
        </p:txBody>
      </p:sp>
    </p:spTree>
    <p:extLst>
      <p:ext uri="{BB962C8B-B14F-4D97-AF65-F5344CB8AC3E}">
        <p14:creationId xmlns:p14="http://schemas.microsoft.com/office/powerpoint/2010/main" val="338893027"/>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920750"/>
          </a:xfrm>
        </p:spPr>
        <p:txBody>
          <a:bodyPr/>
          <a:lstStyle/>
          <a:p>
            <a:pPr algn="ctr"/>
            <a:r>
              <a:rPr lang="en-US" b="1" dirty="0" smtClean="0">
                <a:solidFill>
                  <a:srgbClr val="C00000"/>
                </a:solidFill>
              </a:rPr>
              <a:t>Representation</a:t>
            </a:r>
            <a:endParaRPr lang="en-IN" dirty="0"/>
          </a:p>
        </p:txBody>
      </p:sp>
      <p:sp>
        <p:nvSpPr>
          <p:cNvPr id="3" name="Content Placeholder 2"/>
          <p:cNvSpPr>
            <a:spLocks noGrp="1"/>
          </p:cNvSpPr>
          <p:nvPr>
            <p:ph idx="1"/>
          </p:nvPr>
        </p:nvSpPr>
        <p:spPr>
          <a:xfrm>
            <a:off x="838200" y="1285876"/>
            <a:ext cx="10515600" cy="4891087"/>
          </a:xfrm>
        </p:spPr>
        <p:txBody>
          <a:bodyPr/>
          <a:lstStyle/>
          <a:p>
            <a:r>
              <a:rPr lang="en-US" dirty="0" smtClean="0"/>
              <a:t>Declarative nature of propositional logic - knowledge and inference are separate - inference is entirely domain independent.</a:t>
            </a:r>
          </a:p>
          <a:p>
            <a:r>
              <a:rPr lang="en-US" dirty="0" smtClean="0"/>
              <a:t>next drawback of data structures </a:t>
            </a:r>
            <a:r>
              <a:rPr lang="en-US" smtClean="0"/>
              <a:t>/ </a:t>
            </a:r>
            <a:r>
              <a:rPr lang="en-US" smtClean="0"/>
              <a:t>database </a:t>
            </a:r>
            <a:r>
              <a:rPr lang="en-US" dirty="0" smtClean="0"/>
              <a:t>in programs </a:t>
            </a:r>
            <a:r>
              <a:rPr lang="en-US" dirty="0"/>
              <a:t>-</a:t>
            </a:r>
            <a:r>
              <a:rPr lang="en-US" dirty="0" smtClean="0"/>
              <a:t> lack of any easy way to say.</a:t>
            </a:r>
          </a:p>
          <a:p>
            <a:r>
              <a:rPr lang="en-US" dirty="0" err="1" smtClean="0"/>
              <a:t>Eg</a:t>
            </a:r>
            <a:r>
              <a:rPr lang="en-US" dirty="0" smtClean="0"/>
              <a:t>: “There is a pit in [2,2] or [3,1]” or “If the </a:t>
            </a:r>
            <a:r>
              <a:rPr lang="en-US" dirty="0" err="1" smtClean="0"/>
              <a:t>wumpus</a:t>
            </a:r>
            <a:r>
              <a:rPr lang="en-US" dirty="0" smtClean="0"/>
              <a:t> is in [1,1] then he is not in [2,2].</a:t>
            </a:r>
          </a:p>
          <a:p>
            <a:r>
              <a:rPr lang="en-US" dirty="0" smtClean="0"/>
              <a:t>Data Structures -  lack the expressiveness required to handle partial information.</a:t>
            </a:r>
          </a:p>
          <a:p>
            <a:r>
              <a:rPr lang="en-US" dirty="0" smtClean="0"/>
              <a:t>Propositional Logic - expressive power to deal with partial information, using disjunction and negation.</a:t>
            </a:r>
            <a:endParaRPr lang="en-IN" dirty="0"/>
          </a:p>
        </p:txBody>
      </p:sp>
    </p:spTree>
    <p:extLst>
      <p:ext uri="{BB962C8B-B14F-4D97-AF65-F5344CB8AC3E}">
        <p14:creationId xmlns:p14="http://schemas.microsoft.com/office/powerpoint/2010/main" val="927620592"/>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006475"/>
          </a:xfrm>
        </p:spPr>
        <p:txBody>
          <a:bodyPr/>
          <a:lstStyle/>
          <a:p>
            <a:pPr algn="ctr"/>
            <a:r>
              <a:rPr lang="en-US" b="1" dirty="0" smtClean="0">
                <a:solidFill>
                  <a:srgbClr val="C00000"/>
                </a:solidFill>
              </a:rPr>
              <a:t>Representation</a:t>
            </a:r>
            <a:endParaRPr lang="en-IN" dirty="0"/>
          </a:p>
        </p:txBody>
      </p:sp>
      <p:sp>
        <p:nvSpPr>
          <p:cNvPr id="3" name="Content Placeholder 2"/>
          <p:cNvSpPr>
            <a:spLocks noGrp="1"/>
          </p:cNvSpPr>
          <p:nvPr>
            <p:ph idx="1"/>
          </p:nvPr>
        </p:nvSpPr>
        <p:spPr>
          <a:xfrm>
            <a:off x="838200" y="1371600"/>
            <a:ext cx="10515600" cy="4805363"/>
          </a:xfrm>
        </p:spPr>
        <p:txBody>
          <a:bodyPr/>
          <a:lstStyle/>
          <a:p>
            <a:r>
              <a:rPr lang="en-US" dirty="0" smtClean="0"/>
              <a:t>Propositional logic has a property – compositionality.</a:t>
            </a:r>
          </a:p>
          <a:p>
            <a:r>
              <a:rPr lang="en-US" dirty="0" smtClean="0"/>
              <a:t>For example, the meaning of “S1,4 ∧ S1,2” is related to the meanings of “S1,4” and “S1,2.”</a:t>
            </a:r>
          </a:p>
          <a:p>
            <a:r>
              <a:rPr lang="en-US" dirty="0" smtClean="0"/>
              <a:t>propositional logic lacks the expressive power to concisely describe an environment with many objects.</a:t>
            </a:r>
          </a:p>
          <a:p>
            <a:r>
              <a:rPr lang="en-US" dirty="0" err="1" smtClean="0"/>
              <a:t>Eg</a:t>
            </a:r>
            <a:r>
              <a:rPr lang="en-US" dirty="0" smtClean="0"/>
              <a:t>: we were forced to write a separate rule about breezes and pits for each square, such as</a:t>
            </a:r>
          </a:p>
          <a:p>
            <a:endParaRPr lang="en-IN" dirty="0"/>
          </a:p>
        </p:txBody>
      </p:sp>
      <p:pic>
        <p:nvPicPr>
          <p:cNvPr id="4" name="Picture 3"/>
          <p:cNvPicPr>
            <a:picLocks noChangeAspect="1"/>
          </p:cNvPicPr>
          <p:nvPr/>
        </p:nvPicPr>
        <p:blipFill>
          <a:blip r:embed="rId2"/>
          <a:stretch>
            <a:fillRect/>
          </a:stretch>
        </p:blipFill>
        <p:spPr>
          <a:xfrm>
            <a:off x="3624262" y="4752975"/>
            <a:ext cx="3999258" cy="704850"/>
          </a:xfrm>
          <a:prstGeom prst="rect">
            <a:avLst/>
          </a:prstGeom>
        </p:spPr>
      </p:pic>
    </p:spTree>
    <p:extLst>
      <p:ext uri="{BB962C8B-B14F-4D97-AF65-F5344CB8AC3E}">
        <p14:creationId xmlns:p14="http://schemas.microsoft.com/office/powerpoint/2010/main" val="1487857235"/>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849313"/>
          </a:xfrm>
        </p:spPr>
        <p:txBody>
          <a:bodyPr/>
          <a:lstStyle/>
          <a:p>
            <a:pPr algn="ctr"/>
            <a:r>
              <a:rPr lang="en-IN" b="1" dirty="0" smtClean="0">
                <a:solidFill>
                  <a:srgbClr val="C00000"/>
                </a:solidFill>
              </a:rPr>
              <a:t>The language of thought</a:t>
            </a:r>
            <a:endParaRPr lang="en-IN" b="1" dirty="0">
              <a:solidFill>
                <a:srgbClr val="C00000"/>
              </a:solidFill>
            </a:endParaRPr>
          </a:p>
        </p:txBody>
      </p:sp>
      <p:sp>
        <p:nvSpPr>
          <p:cNvPr id="3" name="Content Placeholder 2"/>
          <p:cNvSpPr>
            <a:spLocks noGrp="1"/>
          </p:cNvSpPr>
          <p:nvPr>
            <p:ph idx="1"/>
          </p:nvPr>
        </p:nvSpPr>
        <p:spPr>
          <a:xfrm>
            <a:off x="838200" y="1214438"/>
            <a:ext cx="10515600" cy="4962525"/>
          </a:xfrm>
        </p:spPr>
        <p:txBody>
          <a:bodyPr/>
          <a:lstStyle/>
          <a:p>
            <a:r>
              <a:rPr lang="en-US" dirty="0" smtClean="0"/>
              <a:t>Natural languages (such as English or Spanish) are very expressive indeed.</a:t>
            </a:r>
          </a:p>
          <a:p>
            <a:endParaRPr lang="en-US" dirty="0" smtClean="0"/>
          </a:p>
          <a:p>
            <a:r>
              <a:rPr lang="en-US" dirty="0" smtClean="0"/>
              <a:t>Natural languages also suffer from a ambiguity, a problem for a representation language - if one word can correspond to two thoughts, thoughts can’t be words.”</a:t>
            </a:r>
          </a:p>
          <a:p>
            <a:endParaRPr lang="en-US" dirty="0"/>
          </a:p>
          <a:p>
            <a:r>
              <a:rPr lang="en-US" dirty="0" smtClean="0"/>
              <a:t>The famous Sapir–Whorf hypothesis claims that our understanding of the world is strongly influenced by the language we speak.</a:t>
            </a:r>
            <a:endParaRPr lang="en-IN" dirty="0"/>
          </a:p>
        </p:txBody>
      </p:sp>
    </p:spTree>
    <p:extLst>
      <p:ext uri="{BB962C8B-B14F-4D97-AF65-F5344CB8AC3E}">
        <p14:creationId xmlns:p14="http://schemas.microsoft.com/office/powerpoint/2010/main" val="3975519322"/>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IN" b="1" dirty="0" smtClean="0">
                <a:solidFill>
                  <a:srgbClr val="C00000"/>
                </a:solidFill>
              </a:rPr>
              <a:t>The language of thought</a:t>
            </a:r>
            <a:endParaRPr lang="en-IN" dirty="0"/>
          </a:p>
        </p:txBody>
      </p:sp>
      <p:sp>
        <p:nvSpPr>
          <p:cNvPr id="3" name="Content Placeholder 2"/>
          <p:cNvSpPr>
            <a:spLocks noGrp="1"/>
          </p:cNvSpPr>
          <p:nvPr>
            <p:ph idx="1"/>
          </p:nvPr>
        </p:nvSpPr>
        <p:spPr/>
        <p:txBody>
          <a:bodyPr/>
          <a:lstStyle/>
          <a:p>
            <a:pPr algn="just">
              <a:lnSpc>
                <a:spcPct val="150000"/>
              </a:lnSpc>
            </a:pPr>
            <a:r>
              <a:rPr lang="en-US" dirty="0" smtClean="0"/>
              <a:t>Whorf (1956) wrote “We cut nature up, organize it into concepts, and ascribe significances as we do, largely because we are parties to an agreement to organize it this way—an agreement that holds throughout our speech community and is codified in the patterns of our language.”</a:t>
            </a:r>
            <a:endParaRPr lang="en-IN" dirty="0"/>
          </a:p>
        </p:txBody>
      </p:sp>
    </p:spTree>
    <p:extLst>
      <p:ext uri="{BB962C8B-B14F-4D97-AF65-F5344CB8AC3E}">
        <p14:creationId xmlns:p14="http://schemas.microsoft.com/office/powerpoint/2010/main" val="1546986943"/>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IN" b="1" dirty="0" smtClean="0">
                <a:solidFill>
                  <a:srgbClr val="C00000"/>
                </a:solidFill>
              </a:rPr>
              <a:t>The language of thought</a:t>
            </a:r>
            <a:endParaRPr lang="en-IN" dirty="0"/>
          </a:p>
        </p:txBody>
      </p:sp>
      <p:sp>
        <p:nvSpPr>
          <p:cNvPr id="3" name="Content Placeholder 2"/>
          <p:cNvSpPr>
            <a:spLocks noGrp="1"/>
          </p:cNvSpPr>
          <p:nvPr>
            <p:ph idx="1"/>
          </p:nvPr>
        </p:nvSpPr>
        <p:spPr/>
        <p:txBody>
          <a:bodyPr>
            <a:normAutofit/>
          </a:bodyPr>
          <a:lstStyle/>
          <a:p>
            <a:r>
              <a:rPr lang="en-US" dirty="0" smtClean="0"/>
              <a:t>The French have two words “chaise” and “fauteuil,” for a concept that English speakers cover with one: “chair.” </a:t>
            </a:r>
          </a:p>
          <a:p>
            <a:endParaRPr lang="en-US" dirty="0" smtClean="0"/>
          </a:p>
          <a:p>
            <a:r>
              <a:rPr lang="en-US" dirty="0" smtClean="0"/>
              <a:t>But English speakers can easily recognize the category fauteuil and give it a name—roughly “open-arm chair”.</a:t>
            </a:r>
          </a:p>
          <a:p>
            <a:endParaRPr lang="en-US" dirty="0"/>
          </a:p>
          <a:p>
            <a:r>
              <a:rPr lang="en-US" dirty="0" smtClean="0"/>
              <a:t>Speakers of the Australian aboriginal language </a:t>
            </a:r>
            <a:r>
              <a:rPr lang="en-US" dirty="0" err="1" smtClean="0"/>
              <a:t>Guugu</a:t>
            </a:r>
            <a:r>
              <a:rPr lang="en-US" dirty="0" smtClean="0"/>
              <a:t> </a:t>
            </a:r>
            <a:r>
              <a:rPr lang="en-US" dirty="0" err="1" smtClean="0"/>
              <a:t>Yimithirr</a:t>
            </a:r>
            <a:r>
              <a:rPr lang="en-US" dirty="0" smtClean="0"/>
              <a:t> have no words for relative directions, such as front, back, right, or left. </a:t>
            </a:r>
          </a:p>
          <a:p>
            <a:endParaRPr lang="en-US" dirty="0" smtClean="0"/>
          </a:p>
        </p:txBody>
      </p:sp>
    </p:spTree>
    <p:extLst>
      <p:ext uri="{BB962C8B-B14F-4D97-AF65-F5344CB8AC3E}">
        <p14:creationId xmlns:p14="http://schemas.microsoft.com/office/powerpoint/2010/main" val="2371557271"/>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IN" b="1" dirty="0" smtClean="0">
                <a:solidFill>
                  <a:srgbClr val="C00000"/>
                </a:solidFill>
              </a:rPr>
              <a:t>The language of thought</a:t>
            </a:r>
            <a:endParaRPr lang="en-IN" dirty="0"/>
          </a:p>
        </p:txBody>
      </p:sp>
      <p:sp>
        <p:nvSpPr>
          <p:cNvPr id="3" name="Content Placeholder 2"/>
          <p:cNvSpPr>
            <a:spLocks noGrp="1"/>
          </p:cNvSpPr>
          <p:nvPr>
            <p:ph idx="1"/>
          </p:nvPr>
        </p:nvSpPr>
        <p:spPr/>
        <p:txBody>
          <a:bodyPr/>
          <a:lstStyle/>
          <a:p>
            <a:r>
              <a:rPr lang="en-US" dirty="0" smtClean="0"/>
              <a:t>Instead they use absolute directions, saying, for example, the equivalent of “I have a pain in my north arm.”</a:t>
            </a:r>
          </a:p>
          <a:p>
            <a:endParaRPr lang="en-US" dirty="0"/>
          </a:p>
          <a:p>
            <a:r>
              <a:rPr lang="en-US" dirty="0" smtClean="0"/>
              <a:t>For example, “bridge” is masculine in Spanish and feminine in German.</a:t>
            </a:r>
          </a:p>
          <a:p>
            <a:endParaRPr lang="en-US" dirty="0"/>
          </a:p>
          <a:p>
            <a:endParaRPr lang="en-IN" dirty="0"/>
          </a:p>
        </p:txBody>
      </p:sp>
    </p:spTree>
    <p:extLst>
      <p:ext uri="{BB962C8B-B14F-4D97-AF65-F5344CB8AC3E}">
        <p14:creationId xmlns:p14="http://schemas.microsoft.com/office/powerpoint/2010/main" val="220219940"/>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smtClean="0">
                <a:solidFill>
                  <a:srgbClr val="C00000"/>
                </a:solidFill>
              </a:rPr>
              <a:t>Combining the best of formal and natural languages</a:t>
            </a:r>
            <a:endParaRPr lang="en-IN" b="1" dirty="0">
              <a:solidFill>
                <a:srgbClr val="C00000"/>
              </a:solidFill>
            </a:endParaRPr>
          </a:p>
        </p:txBody>
      </p:sp>
      <p:sp>
        <p:nvSpPr>
          <p:cNvPr id="3" name="Content Placeholder 2"/>
          <p:cNvSpPr>
            <a:spLocks noGrp="1"/>
          </p:cNvSpPr>
          <p:nvPr>
            <p:ph idx="1"/>
          </p:nvPr>
        </p:nvSpPr>
        <p:spPr/>
        <p:txBody>
          <a:bodyPr/>
          <a:lstStyle/>
          <a:p>
            <a:r>
              <a:rPr lang="en-US" dirty="0" smtClean="0"/>
              <a:t>propositional logic—a declarative, compositional semantics that is context-independent and unambiguous.</a:t>
            </a:r>
          </a:p>
          <a:p>
            <a:endParaRPr lang="en-US" dirty="0"/>
          </a:p>
          <a:p>
            <a:r>
              <a:rPr lang="en-US" dirty="0" smtClean="0"/>
              <a:t>borrowing representational ideas from natural language while avoiding its drawbacks.</a:t>
            </a:r>
          </a:p>
          <a:p>
            <a:endParaRPr lang="en-US" dirty="0"/>
          </a:p>
          <a:p>
            <a:r>
              <a:rPr lang="en-US" b="1" dirty="0" smtClean="0"/>
              <a:t>Objects: </a:t>
            </a:r>
            <a:r>
              <a:rPr lang="en-US" dirty="0" smtClean="0"/>
              <a:t>people, houses, numbers, theories, Ronald McDonald, colors, baseball games, wars, centuries ...</a:t>
            </a:r>
            <a:endParaRPr lang="en-IN" dirty="0"/>
          </a:p>
        </p:txBody>
      </p:sp>
    </p:spTree>
    <p:extLst>
      <p:ext uri="{BB962C8B-B14F-4D97-AF65-F5344CB8AC3E}">
        <p14:creationId xmlns:p14="http://schemas.microsoft.com/office/powerpoint/2010/main" val="595838862"/>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smtClean="0">
                <a:solidFill>
                  <a:srgbClr val="C00000"/>
                </a:solidFill>
              </a:rPr>
              <a:t>Combining the best of formal and natural languages</a:t>
            </a:r>
            <a:endParaRPr lang="en-IN" dirty="0"/>
          </a:p>
        </p:txBody>
      </p:sp>
      <p:sp>
        <p:nvSpPr>
          <p:cNvPr id="3" name="Content Placeholder 2"/>
          <p:cNvSpPr>
            <a:spLocks noGrp="1"/>
          </p:cNvSpPr>
          <p:nvPr>
            <p:ph idx="1"/>
          </p:nvPr>
        </p:nvSpPr>
        <p:spPr/>
        <p:txBody>
          <a:bodyPr>
            <a:normAutofit lnSpcReduction="10000"/>
          </a:bodyPr>
          <a:lstStyle/>
          <a:p>
            <a:r>
              <a:rPr lang="en-US" b="1" dirty="0" smtClean="0"/>
              <a:t>Relations:</a:t>
            </a:r>
            <a:r>
              <a:rPr lang="en-US" dirty="0" smtClean="0"/>
              <a:t> these can be </a:t>
            </a:r>
            <a:r>
              <a:rPr lang="en-US" dirty="0" smtClean="0">
                <a:solidFill>
                  <a:srgbClr val="C00000"/>
                </a:solidFill>
              </a:rPr>
              <a:t>unary relations or properties </a:t>
            </a:r>
            <a:r>
              <a:rPr lang="en-US" dirty="0" smtClean="0"/>
              <a:t>such as red, round, bogus, prime, multistoried ..., </a:t>
            </a:r>
          </a:p>
          <a:p>
            <a:r>
              <a:rPr lang="en-US" dirty="0" smtClean="0"/>
              <a:t>or more general n-</a:t>
            </a:r>
            <a:r>
              <a:rPr lang="en-US" dirty="0" err="1" smtClean="0"/>
              <a:t>ary</a:t>
            </a:r>
            <a:r>
              <a:rPr lang="en-US" dirty="0" smtClean="0"/>
              <a:t> relations such as brother of, bigger than, inside, part of, has color, occurred after, owns, comes between, ...</a:t>
            </a:r>
          </a:p>
          <a:p>
            <a:endParaRPr lang="en-US" dirty="0"/>
          </a:p>
          <a:p>
            <a:r>
              <a:rPr lang="en-US" b="1" dirty="0" smtClean="0"/>
              <a:t>Functions: </a:t>
            </a:r>
            <a:r>
              <a:rPr lang="en-US" dirty="0" smtClean="0"/>
              <a:t>father of, best friend, third inning of, one more than, beginning of ... </a:t>
            </a:r>
          </a:p>
          <a:p>
            <a:endParaRPr lang="en-US" dirty="0"/>
          </a:p>
          <a:p>
            <a:r>
              <a:rPr lang="en-US" dirty="0" smtClean="0"/>
              <a:t>almost any assertion can be thought of as referring to objects and properties or relations.</a:t>
            </a:r>
          </a:p>
          <a:p>
            <a:endParaRPr lang="en-IN" dirty="0"/>
          </a:p>
        </p:txBody>
      </p:sp>
    </p:spTree>
    <p:extLst>
      <p:ext uri="{BB962C8B-B14F-4D97-AF65-F5344CB8AC3E}">
        <p14:creationId xmlns:p14="http://schemas.microsoft.com/office/powerpoint/2010/main" val="2351086532"/>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smtClean="0">
                <a:solidFill>
                  <a:srgbClr val="C00000"/>
                </a:solidFill>
              </a:rPr>
              <a:t>Combining the best of formal and natural languages</a:t>
            </a:r>
            <a:endParaRPr lang="en-IN" dirty="0"/>
          </a:p>
        </p:txBody>
      </p:sp>
      <p:sp>
        <p:nvSpPr>
          <p:cNvPr id="3" name="Content Placeholder 2"/>
          <p:cNvSpPr>
            <a:spLocks noGrp="1"/>
          </p:cNvSpPr>
          <p:nvPr>
            <p:ph idx="1"/>
          </p:nvPr>
        </p:nvSpPr>
        <p:spPr/>
        <p:txBody>
          <a:bodyPr/>
          <a:lstStyle/>
          <a:p>
            <a:r>
              <a:rPr lang="en-US" dirty="0" smtClean="0">
                <a:solidFill>
                  <a:srgbClr val="00B050"/>
                </a:solidFill>
              </a:rPr>
              <a:t>“One plus two equals three.” </a:t>
            </a:r>
          </a:p>
          <a:p>
            <a:r>
              <a:rPr lang="en-US" b="1" dirty="0" smtClean="0">
                <a:solidFill>
                  <a:srgbClr val="C00000"/>
                </a:solidFill>
              </a:rPr>
              <a:t>Objects: </a:t>
            </a:r>
            <a:r>
              <a:rPr lang="en-US" dirty="0" smtClean="0"/>
              <a:t>one, two, three, one plus two; </a:t>
            </a:r>
          </a:p>
          <a:p>
            <a:r>
              <a:rPr lang="en-US" b="1" dirty="0" smtClean="0">
                <a:solidFill>
                  <a:srgbClr val="C00000"/>
                </a:solidFill>
              </a:rPr>
              <a:t>Relation: </a:t>
            </a:r>
            <a:r>
              <a:rPr lang="en-US" dirty="0" smtClean="0"/>
              <a:t>equals; </a:t>
            </a:r>
          </a:p>
          <a:p>
            <a:r>
              <a:rPr lang="en-US" b="1" dirty="0" smtClean="0">
                <a:solidFill>
                  <a:srgbClr val="C00000"/>
                </a:solidFill>
              </a:rPr>
              <a:t>Function</a:t>
            </a:r>
            <a:r>
              <a:rPr lang="en-US" dirty="0" smtClean="0"/>
              <a:t>: plus. </a:t>
            </a:r>
          </a:p>
          <a:p>
            <a:endParaRPr lang="en-US" dirty="0"/>
          </a:p>
          <a:p>
            <a:r>
              <a:rPr lang="en-US" dirty="0" smtClean="0"/>
              <a:t>“One plus two” is a name for the object that is obtained by applying the function “plus” to the objects “one” and “two.” </a:t>
            </a:r>
          </a:p>
          <a:p>
            <a:r>
              <a:rPr lang="en-US" dirty="0" smtClean="0"/>
              <a:t>“Three” is another name for this object.</a:t>
            </a:r>
            <a:endParaRPr lang="en-IN" dirty="0"/>
          </a:p>
        </p:txBody>
      </p:sp>
    </p:spTree>
    <p:extLst>
      <p:ext uri="{BB962C8B-B14F-4D97-AF65-F5344CB8AC3E}">
        <p14:creationId xmlns:p14="http://schemas.microsoft.com/office/powerpoint/2010/main" val="782279621"/>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smtClean="0">
                <a:solidFill>
                  <a:srgbClr val="C00000"/>
                </a:solidFill>
              </a:rPr>
              <a:t>Combining the best of formal and natural languages</a:t>
            </a:r>
            <a:endParaRPr lang="en-IN" dirty="0"/>
          </a:p>
        </p:txBody>
      </p:sp>
      <p:sp>
        <p:nvSpPr>
          <p:cNvPr id="3" name="Content Placeholder 2"/>
          <p:cNvSpPr>
            <a:spLocks noGrp="1"/>
          </p:cNvSpPr>
          <p:nvPr>
            <p:ph idx="1"/>
          </p:nvPr>
        </p:nvSpPr>
        <p:spPr/>
        <p:txBody>
          <a:bodyPr/>
          <a:lstStyle/>
          <a:p>
            <a:r>
              <a:rPr lang="en-US" b="1" dirty="0" smtClean="0">
                <a:solidFill>
                  <a:srgbClr val="00B050"/>
                </a:solidFill>
              </a:rPr>
              <a:t>“Squares neighboring the </a:t>
            </a:r>
            <a:r>
              <a:rPr lang="en-US" b="1" dirty="0" err="1" smtClean="0">
                <a:solidFill>
                  <a:srgbClr val="00B050"/>
                </a:solidFill>
              </a:rPr>
              <a:t>wumpus</a:t>
            </a:r>
            <a:r>
              <a:rPr lang="en-US" b="1" dirty="0" smtClean="0">
                <a:solidFill>
                  <a:srgbClr val="00B050"/>
                </a:solidFill>
              </a:rPr>
              <a:t> are smelly.” </a:t>
            </a:r>
          </a:p>
          <a:p>
            <a:r>
              <a:rPr lang="en-US" b="1" dirty="0" smtClean="0">
                <a:solidFill>
                  <a:srgbClr val="C00000"/>
                </a:solidFill>
              </a:rPr>
              <a:t>Objects: </a:t>
            </a:r>
            <a:r>
              <a:rPr lang="en-US" dirty="0" err="1" smtClean="0"/>
              <a:t>wumpus</a:t>
            </a:r>
            <a:r>
              <a:rPr lang="en-US" dirty="0" smtClean="0"/>
              <a:t>, squares; </a:t>
            </a:r>
          </a:p>
          <a:p>
            <a:r>
              <a:rPr lang="en-US" b="1" dirty="0" smtClean="0">
                <a:solidFill>
                  <a:srgbClr val="C00000"/>
                </a:solidFill>
              </a:rPr>
              <a:t>Property: </a:t>
            </a:r>
            <a:r>
              <a:rPr lang="en-US" dirty="0" smtClean="0"/>
              <a:t>smelly; </a:t>
            </a:r>
          </a:p>
          <a:p>
            <a:r>
              <a:rPr lang="en-US" b="1" dirty="0" smtClean="0">
                <a:solidFill>
                  <a:srgbClr val="C00000"/>
                </a:solidFill>
              </a:rPr>
              <a:t>Relation: </a:t>
            </a:r>
            <a:r>
              <a:rPr lang="en-US" dirty="0" smtClean="0"/>
              <a:t>neighboring.</a:t>
            </a:r>
            <a:endParaRPr lang="en-IN" dirty="0"/>
          </a:p>
        </p:txBody>
      </p:sp>
    </p:spTree>
    <p:extLst>
      <p:ext uri="{BB962C8B-B14F-4D97-AF65-F5344CB8AC3E}">
        <p14:creationId xmlns:p14="http://schemas.microsoft.com/office/powerpoint/2010/main" val="427990447"/>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smtClean="0">
                <a:solidFill>
                  <a:srgbClr val="C00000"/>
                </a:solidFill>
              </a:rPr>
              <a:t>Combining the best of formal and natural languages</a:t>
            </a:r>
            <a:endParaRPr lang="en-IN" dirty="0"/>
          </a:p>
        </p:txBody>
      </p:sp>
      <p:sp>
        <p:nvSpPr>
          <p:cNvPr id="3" name="Content Placeholder 2"/>
          <p:cNvSpPr>
            <a:spLocks noGrp="1"/>
          </p:cNvSpPr>
          <p:nvPr>
            <p:ph idx="1"/>
          </p:nvPr>
        </p:nvSpPr>
        <p:spPr/>
        <p:txBody>
          <a:bodyPr/>
          <a:lstStyle/>
          <a:p>
            <a:r>
              <a:rPr lang="en-US" dirty="0" smtClean="0">
                <a:solidFill>
                  <a:srgbClr val="00B050"/>
                </a:solidFill>
              </a:rPr>
              <a:t>“Evil King John ruled England in 1200.” </a:t>
            </a:r>
          </a:p>
          <a:p>
            <a:endParaRPr lang="en-US" dirty="0" smtClean="0">
              <a:solidFill>
                <a:srgbClr val="00B050"/>
              </a:solidFill>
            </a:endParaRPr>
          </a:p>
          <a:p>
            <a:r>
              <a:rPr lang="en-US" dirty="0" smtClean="0"/>
              <a:t>Objects: John, England, 1200; </a:t>
            </a:r>
          </a:p>
          <a:p>
            <a:r>
              <a:rPr lang="en-US" dirty="0" smtClean="0"/>
              <a:t>Relation: ruled; </a:t>
            </a:r>
          </a:p>
          <a:p>
            <a:r>
              <a:rPr lang="en-US" dirty="0" smtClean="0"/>
              <a:t>Properties: evil, king. </a:t>
            </a:r>
            <a:endParaRPr lang="en-IN" dirty="0"/>
          </a:p>
        </p:txBody>
      </p:sp>
    </p:spTree>
    <p:extLst>
      <p:ext uri="{BB962C8B-B14F-4D97-AF65-F5344CB8AC3E}">
        <p14:creationId xmlns:p14="http://schemas.microsoft.com/office/powerpoint/2010/main" val="3640287538"/>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smtClean="0">
                <a:solidFill>
                  <a:srgbClr val="C00000"/>
                </a:solidFill>
              </a:rPr>
              <a:t>Combining the best of formal and natural languages</a:t>
            </a:r>
            <a:endParaRPr lang="en-IN" dirty="0"/>
          </a:p>
        </p:txBody>
      </p:sp>
      <p:sp>
        <p:nvSpPr>
          <p:cNvPr id="3" name="Content Placeholder 2"/>
          <p:cNvSpPr>
            <a:spLocks noGrp="1"/>
          </p:cNvSpPr>
          <p:nvPr>
            <p:ph idx="1"/>
          </p:nvPr>
        </p:nvSpPr>
        <p:spPr/>
        <p:txBody>
          <a:bodyPr/>
          <a:lstStyle/>
          <a:p>
            <a:r>
              <a:rPr lang="en-US" dirty="0" smtClean="0"/>
              <a:t>first-order logic, is built around objects and relations.</a:t>
            </a:r>
          </a:p>
          <a:p>
            <a:endParaRPr lang="en-US" dirty="0" smtClean="0"/>
          </a:p>
          <a:p>
            <a:r>
              <a:rPr lang="en-US" dirty="0" smtClean="0"/>
              <a:t>First-order logic can also express facts about some or all of the objects in the universe.</a:t>
            </a:r>
          </a:p>
          <a:p>
            <a:endParaRPr lang="en-US" dirty="0" smtClean="0"/>
          </a:p>
          <a:p>
            <a:r>
              <a:rPr lang="en-US" dirty="0" smtClean="0"/>
              <a:t> This enables one to represent general laws or rules, such as the statement </a:t>
            </a:r>
            <a:r>
              <a:rPr lang="en-US" dirty="0" smtClean="0">
                <a:solidFill>
                  <a:srgbClr val="C00000"/>
                </a:solidFill>
              </a:rPr>
              <a:t>“Squares neighboring the </a:t>
            </a:r>
            <a:r>
              <a:rPr lang="en-US" dirty="0" err="1" smtClean="0">
                <a:solidFill>
                  <a:srgbClr val="C00000"/>
                </a:solidFill>
              </a:rPr>
              <a:t>wumpus</a:t>
            </a:r>
            <a:r>
              <a:rPr lang="en-US" dirty="0" smtClean="0">
                <a:solidFill>
                  <a:srgbClr val="C00000"/>
                </a:solidFill>
              </a:rPr>
              <a:t> are smelly”.</a:t>
            </a:r>
            <a:endParaRPr lang="en-IN" dirty="0">
              <a:solidFill>
                <a:srgbClr val="C00000"/>
              </a:solidFill>
            </a:endParaRPr>
          </a:p>
        </p:txBody>
      </p:sp>
    </p:spTree>
    <p:extLst>
      <p:ext uri="{BB962C8B-B14F-4D97-AF65-F5344CB8AC3E}">
        <p14:creationId xmlns:p14="http://schemas.microsoft.com/office/powerpoint/2010/main" val="3723944385"/>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smtClean="0">
                <a:solidFill>
                  <a:srgbClr val="C00000"/>
                </a:solidFill>
              </a:rPr>
              <a:t>Combining the best of formal and natural languages</a:t>
            </a:r>
            <a:endParaRPr lang="en-IN" dirty="0"/>
          </a:p>
        </p:txBody>
      </p:sp>
      <p:sp>
        <p:nvSpPr>
          <p:cNvPr id="3" name="Content Placeholder 2"/>
          <p:cNvSpPr>
            <a:spLocks noGrp="1"/>
          </p:cNvSpPr>
          <p:nvPr>
            <p:ph idx="1"/>
          </p:nvPr>
        </p:nvSpPr>
        <p:spPr/>
        <p:txBody>
          <a:bodyPr>
            <a:normAutofit fontScale="92500"/>
          </a:bodyPr>
          <a:lstStyle/>
          <a:p>
            <a:pPr algn="just"/>
            <a:r>
              <a:rPr lang="en-US" dirty="0" smtClean="0"/>
              <a:t>The primary difference between propositional and first-order logic lies in the ontological commitment made by each language—</a:t>
            </a:r>
          </a:p>
          <a:p>
            <a:pPr algn="just"/>
            <a:r>
              <a:rPr lang="en-US" dirty="0" smtClean="0"/>
              <a:t>what it assumes about the nature of reality. </a:t>
            </a:r>
          </a:p>
          <a:p>
            <a:pPr algn="just"/>
            <a:endParaRPr lang="en-US" dirty="0"/>
          </a:p>
          <a:p>
            <a:pPr algn="just"/>
            <a:r>
              <a:rPr lang="en-US" dirty="0" smtClean="0"/>
              <a:t>A logic can also be characterized by its epistemological commitments—the possible states of knowledge that it allows with respect to each fact.</a:t>
            </a:r>
          </a:p>
          <a:p>
            <a:pPr algn="just"/>
            <a:endParaRPr lang="en-US" dirty="0"/>
          </a:p>
          <a:p>
            <a:pPr algn="just"/>
            <a:r>
              <a:rPr lang="en-US" dirty="0" smtClean="0"/>
              <a:t>In both propositional and first order logic, a sentence represents a fact and the agent either believes the sentence to be true, believes it to be false, or has no opinion.</a:t>
            </a:r>
            <a:endParaRPr lang="en-IN" dirty="0"/>
          </a:p>
        </p:txBody>
      </p:sp>
    </p:spTree>
    <p:extLst>
      <p:ext uri="{BB962C8B-B14F-4D97-AF65-F5344CB8AC3E}">
        <p14:creationId xmlns:p14="http://schemas.microsoft.com/office/powerpoint/2010/main" val="3714225441"/>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smtClean="0">
                <a:solidFill>
                  <a:srgbClr val="C00000"/>
                </a:solidFill>
              </a:rPr>
              <a:t>Combining the best of formal and natural languages</a:t>
            </a:r>
            <a:endParaRPr lang="en-IN" dirty="0"/>
          </a:p>
        </p:txBody>
      </p:sp>
      <p:pic>
        <p:nvPicPr>
          <p:cNvPr id="4" name="Content Placeholder 3"/>
          <p:cNvPicPr>
            <a:picLocks noGrp="1" noChangeAspect="1"/>
          </p:cNvPicPr>
          <p:nvPr>
            <p:ph idx="1"/>
          </p:nvPr>
        </p:nvPicPr>
        <p:blipFill>
          <a:blip r:embed="rId2"/>
          <a:stretch>
            <a:fillRect/>
          </a:stretch>
        </p:blipFill>
        <p:spPr>
          <a:xfrm>
            <a:off x="1962150" y="1885951"/>
            <a:ext cx="8267700" cy="3415506"/>
          </a:xfrm>
          <a:prstGeom prst="rect">
            <a:avLst/>
          </a:prstGeom>
        </p:spPr>
      </p:pic>
    </p:spTree>
    <p:extLst>
      <p:ext uri="{BB962C8B-B14F-4D97-AF65-F5344CB8AC3E}">
        <p14:creationId xmlns:p14="http://schemas.microsoft.com/office/powerpoint/2010/main" val="3227116073"/>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978</TotalTime>
  <Words>1053</Words>
  <Application>Microsoft Office PowerPoint</Application>
  <PresentationFormat>Widescreen</PresentationFormat>
  <Paragraphs>92</Paragraphs>
  <Slides>17</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17</vt:i4>
      </vt:variant>
    </vt:vector>
  </HeadingPairs>
  <TitlesOfParts>
    <vt:vector size="21" baseType="lpstr">
      <vt:lpstr>Arial</vt:lpstr>
      <vt:lpstr>Calibri</vt:lpstr>
      <vt:lpstr>Calibri Light</vt:lpstr>
      <vt:lpstr>Office Theme</vt:lpstr>
      <vt:lpstr>First Order Logic</vt:lpstr>
      <vt:lpstr>First Order Logic</vt:lpstr>
      <vt:lpstr>Representation</vt:lpstr>
      <vt:lpstr>Representation</vt:lpstr>
      <vt:lpstr>Representation</vt:lpstr>
      <vt:lpstr>The language of thought</vt:lpstr>
      <vt:lpstr>The language of thought</vt:lpstr>
      <vt:lpstr>The language of thought</vt:lpstr>
      <vt:lpstr>The language of thought</vt:lpstr>
      <vt:lpstr>Combining the best of formal and natural languages</vt:lpstr>
      <vt:lpstr>Combining the best of formal and natural languages</vt:lpstr>
      <vt:lpstr>Combining the best of formal and natural languages</vt:lpstr>
      <vt:lpstr>Combining the best of formal and natural languages</vt:lpstr>
      <vt:lpstr>Combining the best of formal and natural languages</vt:lpstr>
      <vt:lpstr>Combining the best of formal and natural languages</vt:lpstr>
      <vt:lpstr>Combining the best of formal and natural languages</vt:lpstr>
      <vt:lpstr>Combining the best of formal and natural languages</vt:lpstr>
    </vt:vector>
  </TitlesOfParts>
  <Company>HP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First Order Logic</dc:title>
  <dc:creator>HP</dc:creator>
  <cp:lastModifiedBy>Balamurali</cp:lastModifiedBy>
  <cp:revision>11</cp:revision>
  <dcterms:created xsi:type="dcterms:W3CDTF">2021-10-11T13:17:59Z</dcterms:created>
  <dcterms:modified xsi:type="dcterms:W3CDTF">2024-03-06T11:33:53Z</dcterms:modified>
</cp:coreProperties>
</file>