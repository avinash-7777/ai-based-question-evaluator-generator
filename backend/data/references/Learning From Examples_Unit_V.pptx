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71" r:id="rId13"/>
    <p:sldId id="268" r:id="rId14"/>
    <p:sldId id="267" r:id="rId15"/>
    <p:sldId id="269" r:id="rId16"/>
    <p:sldId id="26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8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52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18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0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30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3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4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3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10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35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3556F-6FCE-4855-A1B6-18339285E07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3EB3-D50A-4397-90F4-434939DE6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0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Learning From Examples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8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/>
          <a:lstStyle/>
          <a:p>
            <a:pPr algn="ctr"/>
            <a:r>
              <a:rPr lang="en-US" b="1" dirty="0" smtClean="0"/>
              <a:t>Learning from Examples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4218"/>
            <a:ext cx="10515600" cy="5092745"/>
          </a:xfrm>
        </p:spPr>
        <p:txBody>
          <a:bodyPr/>
          <a:lstStyle/>
          <a:p>
            <a:pPr algn="just"/>
            <a:r>
              <a:rPr lang="en-US" dirty="0" smtClean="0"/>
              <a:t>An agent is learning if it improves its performance on future tasks after making observations about the world.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Learning - jotting down a phone number, to the profound as exhibited by albert </a:t>
            </a:r>
            <a:r>
              <a:rPr lang="en-US" dirty="0" err="1" smtClean="0"/>
              <a:t>einstein</a:t>
            </a:r>
            <a:r>
              <a:rPr lang="en-US" dirty="0" smtClean="0"/>
              <a:t> - who inferred a new theory of the universe.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On one class of learning problem - restricted - vast applicability - from a collection of input and output pairs - learn a function that predicts the output for new inputs.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27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Why we want an agent to learn?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the design of the agent can be improved- why wouldn’t the designers just program in that ?</a:t>
            </a:r>
          </a:p>
          <a:p>
            <a:r>
              <a:rPr lang="en-US" dirty="0" smtClean="0"/>
              <a:t>3 main reasons….</a:t>
            </a:r>
          </a:p>
          <a:p>
            <a:r>
              <a:rPr lang="en-US" dirty="0" smtClean="0"/>
              <a:t>Cannot anticipate all possible situations that the agent might find itself in…</a:t>
            </a:r>
          </a:p>
          <a:p>
            <a:r>
              <a:rPr lang="en-US" dirty="0" smtClean="0"/>
              <a:t>Cannot anticipate all changes over time - A program designed to predict tomorrow’s stock market prices - learn to adapt when conditions change from boom to bust?</a:t>
            </a:r>
          </a:p>
          <a:p>
            <a:r>
              <a:rPr lang="en-US" dirty="0" smtClean="0"/>
              <a:t>Sometimes human programmers have no idea how to program a solution themselves…</a:t>
            </a:r>
          </a:p>
          <a:p>
            <a:r>
              <a:rPr lang="en-US" dirty="0" smtClean="0"/>
              <a:t>Ex:  most people are good at recognizing the faces of family members – but programming it?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82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721"/>
          </a:xfrm>
        </p:spPr>
        <p:txBody>
          <a:bodyPr/>
          <a:lstStyle/>
          <a:p>
            <a:pPr algn="ctr"/>
            <a:r>
              <a:rPr lang="en-US" b="1" dirty="0" smtClean="0"/>
              <a:t>Forms of Learning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/>
          <a:lstStyle/>
          <a:p>
            <a:r>
              <a:rPr lang="en-US" dirty="0" smtClean="0"/>
              <a:t>Any component of an agent can be improved by learning from data.</a:t>
            </a:r>
          </a:p>
          <a:p>
            <a:r>
              <a:rPr lang="en-US" dirty="0" smtClean="0"/>
              <a:t>The improvements and the techniques used to make them depend on four major factors.</a:t>
            </a:r>
          </a:p>
          <a:p>
            <a:endParaRPr lang="en-US" dirty="0" smtClean="0"/>
          </a:p>
          <a:p>
            <a:r>
              <a:rPr lang="en-US" dirty="0" smtClean="0"/>
              <a:t>Which component is to be improved?</a:t>
            </a:r>
          </a:p>
          <a:p>
            <a:r>
              <a:rPr lang="en-US" dirty="0" smtClean="0"/>
              <a:t>What prior knowledge the agent already has?</a:t>
            </a:r>
          </a:p>
          <a:p>
            <a:r>
              <a:rPr lang="en-US" dirty="0" smtClean="0"/>
              <a:t>What representation is used for the data and the component?</a:t>
            </a:r>
          </a:p>
          <a:p>
            <a:r>
              <a:rPr lang="en-US" dirty="0" smtClean="0"/>
              <a:t>What feedback is available to learn from?</a:t>
            </a:r>
          </a:p>
        </p:txBody>
      </p:sp>
    </p:spTree>
    <p:extLst>
      <p:ext uri="{BB962C8B-B14F-4D97-AF65-F5344CB8AC3E}">
        <p14:creationId xmlns:p14="http://schemas.microsoft.com/office/powerpoint/2010/main" val="340762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224"/>
          </a:xfrm>
        </p:spPr>
        <p:txBody>
          <a:bodyPr/>
          <a:lstStyle/>
          <a:p>
            <a:pPr algn="ctr"/>
            <a:r>
              <a:rPr lang="en-IN" b="1" dirty="0" smtClean="0"/>
              <a:t>Feedbacks to learn from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9350"/>
            <a:ext cx="10515600" cy="48576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Unsupervised learning – no explicit feedback is supplied – clustering.</a:t>
            </a:r>
          </a:p>
          <a:p>
            <a:endParaRPr lang="en-US" dirty="0" smtClean="0"/>
          </a:p>
          <a:p>
            <a:r>
              <a:rPr lang="en-US" dirty="0" smtClean="0"/>
              <a:t>Supervised learning - observes input and output pairs - learns a function that maps from input to output.</a:t>
            </a:r>
          </a:p>
          <a:p>
            <a:endParaRPr lang="en-US" dirty="0" smtClean="0"/>
          </a:p>
          <a:p>
            <a:r>
              <a:rPr lang="en-US" dirty="0" smtClean="0"/>
              <a:t>Semi-supervised learning  - a few labeled examples - must make what we can of a large collection of un labeled examples.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Reinforcement learning - the agent learns from a series of reinforcements - rewards or punishments.</a:t>
            </a:r>
          </a:p>
          <a:p>
            <a:pPr marL="0" indent="0" algn="just">
              <a:buNone/>
            </a:pPr>
            <a:r>
              <a:rPr lang="en-US" dirty="0" smtClean="0"/>
              <a:t> Ex: the lack of a tip at the end of the journey gives the taxi agent an indication that it did something wrong.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25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9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Supervised Learning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1783"/>
            <a:ext cx="10515600" cy="497518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task of supervised learning is this:</a:t>
            </a:r>
          </a:p>
          <a:p>
            <a:r>
              <a:rPr lang="en-US" dirty="0" smtClean="0"/>
              <a:t>Given a training set of N example input and output pairs,</a:t>
            </a:r>
          </a:p>
          <a:p>
            <a:r>
              <a:rPr lang="en-US" dirty="0" smtClean="0"/>
              <a:t>(X1, y1), (x2, y2), (x3, y3)……..(</a:t>
            </a:r>
            <a:r>
              <a:rPr lang="en-US" dirty="0" err="1" smtClean="0"/>
              <a:t>Xn</a:t>
            </a:r>
            <a:r>
              <a:rPr lang="en-US" dirty="0" smtClean="0"/>
              <a:t>, </a:t>
            </a:r>
            <a:r>
              <a:rPr lang="en-US" dirty="0" err="1" smtClean="0"/>
              <a:t>yn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Yj</a:t>
            </a:r>
            <a:r>
              <a:rPr lang="en-US" dirty="0" smtClean="0"/>
              <a:t> was generated by an unknown function y = f(x)</a:t>
            </a:r>
          </a:p>
          <a:p>
            <a:r>
              <a:rPr lang="en-US" dirty="0" smtClean="0"/>
              <a:t>Discover a function </a:t>
            </a:r>
            <a:r>
              <a:rPr lang="en-US" i="1" dirty="0" smtClean="0"/>
              <a:t>h, </a:t>
            </a:r>
            <a:r>
              <a:rPr lang="en-US" dirty="0" smtClean="0"/>
              <a:t>that approximates the true function </a:t>
            </a:r>
            <a:r>
              <a:rPr lang="en-US" i="1" dirty="0" smtClean="0"/>
              <a:t>f.</a:t>
            </a:r>
          </a:p>
          <a:p>
            <a:r>
              <a:rPr lang="en-US" dirty="0" smtClean="0"/>
              <a:t>The function h is the hypothesis.</a:t>
            </a:r>
          </a:p>
          <a:p>
            <a:r>
              <a:rPr lang="en-US" dirty="0" smtClean="0"/>
              <a:t>Train set vs test set – accuracy</a:t>
            </a:r>
          </a:p>
          <a:p>
            <a:r>
              <a:rPr lang="en-US" dirty="0" smtClean="0"/>
              <a:t>Classification vs regression.</a:t>
            </a:r>
          </a:p>
          <a:p>
            <a:r>
              <a:rPr lang="en-US" dirty="0" smtClean="0"/>
              <a:t>When the output y – finite values – sunny, cloudy or rainy – classification.</a:t>
            </a:r>
          </a:p>
          <a:p>
            <a:r>
              <a:rPr lang="en-US" dirty="0" smtClean="0"/>
              <a:t>When y is a number, the learning problem is </a:t>
            </a:r>
            <a:r>
              <a:rPr lang="en-US" b="1" dirty="0" smtClean="0"/>
              <a:t>regression.</a:t>
            </a:r>
          </a:p>
          <a:p>
            <a:endParaRPr lang="en-IN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99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pPr algn="ctr"/>
            <a:r>
              <a:rPr lang="en-US" b="1" dirty="0" smtClean="0"/>
              <a:t>Learning Decision Trees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0"/>
            <a:ext cx="10515600" cy="5368835"/>
          </a:xfrm>
        </p:spPr>
        <p:txBody>
          <a:bodyPr/>
          <a:lstStyle/>
          <a:p>
            <a:r>
              <a:rPr lang="en-US" dirty="0" smtClean="0"/>
              <a:t>Decision tree represents a function that takes as input a vector of attribute values and returns a decision - a single output value.</a:t>
            </a:r>
          </a:p>
          <a:p>
            <a:endParaRPr lang="en-US" dirty="0" smtClean="0"/>
          </a:p>
          <a:p>
            <a:r>
              <a:rPr lang="en-US" dirty="0" smtClean="0"/>
              <a:t>The input and output values can be discrete or continuous.</a:t>
            </a:r>
          </a:p>
          <a:p>
            <a:endParaRPr lang="en-US" dirty="0" smtClean="0"/>
          </a:p>
          <a:p>
            <a:r>
              <a:rPr lang="en-US" dirty="0" smtClean="0"/>
              <a:t>We will concentrate on problems where the inputs have discrete values and the output has exactly two possible values.  </a:t>
            </a:r>
          </a:p>
          <a:p>
            <a:endParaRPr lang="en-US" dirty="0" smtClean="0"/>
          </a:p>
          <a:p>
            <a:r>
              <a:rPr lang="en-US" dirty="0" smtClean="0"/>
              <a:t>This is “</a:t>
            </a:r>
            <a:r>
              <a:rPr lang="en-US" dirty="0" err="1" smtClean="0"/>
              <a:t>boolean</a:t>
            </a:r>
            <a:r>
              <a:rPr lang="en-US" dirty="0" smtClean="0"/>
              <a:t> classification,  where each positive example input will be classified as true or false.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8801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721"/>
          </a:xfrm>
        </p:spPr>
        <p:txBody>
          <a:bodyPr/>
          <a:lstStyle/>
          <a:p>
            <a:pPr algn="ctr"/>
            <a:r>
              <a:rPr lang="en-US" b="1" dirty="0" smtClean="0"/>
              <a:t>Learning Decision Trees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4663"/>
            <a:ext cx="10515600" cy="4792300"/>
          </a:xfrm>
        </p:spPr>
        <p:txBody>
          <a:bodyPr/>
          <a:lstStyle/>
          <a:p>
            <a:r>
              <a:rPr lang="en-US" dirty="0" smtClean="0"/>
              <a:t>We will build A decision tree to decide whether to wait for A table at A restaurant. Aim - to learn a goal predicate </a:t>
            </a:r>
            <a:r>
              <a:rPr lang="en-US" dirty="0" err="1" smtClean="0"/>
              <a:t>willwait</a:t>
            </a:r>
            <a:r>
              <a:rPr lang="en-US" dirty="0" smtClean="0"/>
              <a:t>?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18" y="2435813"/>
            <a:ext cx="78771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4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96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Expressiveness of Decision Tree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092"/>
            <a:ext cx="10515600" cy="5118871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B</a:t>
            </a:r>
            <a:r>
              <a:rPr lang="en-US" dirty="0" smtClean="0"/>
              <a:t>oolean decision tree is logically equivalent to the assertion that the goal attribute is true if and only if the input attributes satisfy one of the paths leading to a leaf with value true?</a:t>
            </a:r>
          </a:p>
          <a:p>
            <a:endParaRPr lang="en-US" dirty="0" smtClean="0"/>
          </a:p>
          <a:p>
            <a:r>
              <a:rPr lang="en-US" dirty="0" smtClean="0"/>
              <a:t> Writing this out in propositional logic we have </a:t>
            </a:r>
          </a:p>
          <a:p>
            <a:endParaRPr lang="en-US" dirty="0" smtClean="0"/>
          </a:p>
          <a:p>
            <a:r>
              <a:rPr lang="en-US" dirty="0" smtClean="0"/>
              <a:t>Goal ⇔ (Path1 ∨ Path2 ∨···) ,</a:t>
            </a:r>
          </a:p>
          <a:p>
            <a:endParaRPr lang="en-US" dirty="0"/>
          </a:p>
          <a:p>
            <a:r>
              <a:rPr lang="en-US" dirty="0" smtClean="0"/>
              <a:t>where each path is a conjunction of attribute value tests required to follow that path.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0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pPr algn="ctr"/>
            <a:r>
              <a:rPr lang="en-IN" b="1" dirty="0" smtClean="0"/>
              <a:t>Expressiveness of Decision Tree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300" y="1423851"/>
            <a:ext cx="8153400" cy="469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9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truth table over ‘n’ attributes will have 2^n rows.</a:t>
            </a:r>
          </a:p>
          <a:p>
            <a:r>
              <a:rPr lang="en-US" dirty="0" smtClean="0"/>
              <a:t>Which means it will have more than 2^(2^n) trees.</a:t>
            </a:r>
          </a:p>
          <a:p>
            <a:r>
              <a:rPr lang="en-US" dirty="0" smtClean="0"/>
              <a:t>If there are 10 parameters there will be 2^1024 trees and if there are 20 parameters there will be 10^300,000 trees.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05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9271"/>
            <a:ext cx="10515600" cy="595256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</a:t>
            </a:r>
            <a:r>
              <a:rPr lang="en-US" dirty="0" smtClean="0"/>
              <a:t>he decision tree algorithm adopts a greedy divide-and-conquer strategy.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Always test the most important attribute first, this test divides the problem up into smaller sub-problems that can then be solved recursively.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By the most important attribute, we mean the one that makes the most difference to the classification of an example.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</a:t>
            </a:r>
            <a:r>
              <a:rPr lang="en-US" dirty="0" smtClean="0"/>
              <a:t>hat way we hope to get to the correct classification with a small number of tests meaning that all paths in the tree will be short and the tree as a whole will be shallow.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04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IN" b="1" dirty="0" smtClean="0"/>
              <a:t>Expressiveness of Decision Tree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0596" y="1439046"/>
            <a:ext cx="782955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4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pPr algn="ctr"/>
            <a:r>
              <a:rPr lang="en-IN" b="1" dirty="0" smtClean="0"/>
              <a:t>Expressiveness of Decision Tree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229" y="1434986"/>
            <a:ext cx="9117874" cy="429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0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972"/>
          </a:xfrm>
        </p:spPr>
        <p:txBody>
          <a:bodyPr/>
          <a:lstStyle/>
          <a:p>
            <a:pPr algn="ctr"/>
            <a:r>
              <a:rPr lang="en-IN" b="1" dirty="0" smtClean="0"/>
              <a:t>Expressiveness of Decision Tree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32857"/>
            <a:ext cx="10515601" cy="468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8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784"/>
          </a:xfrm>
        </p:spPr>
        <p:txBody>
          <a:bodyPr/>
          <a:lstStyle/>
          <a:p>
            <a:pPr algn="ctr"/>
            <a:r>
              <a:rPr lang="en-IN" b="1" dirty="0" smtClean="0"/>
              <a:t>Expressiveness of Decision Tree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: THE RIGHTMOST PATH </a:t>
            </a:r>
          </a:p>
          <a:p>
            <a:r>
              <a:rPr lang="en-US" dirty="0" smtClean="0"/>
              <a:t> Path = (Patrons = Full ∧ Wait Estimate = 0 - 10)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88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992" y="283903"/>
            <a:ext cx="8848385" cy="61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0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4264</TotalTime>
  <Words>820</Words>
  <Application>Microsoft Office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Learning From Examples</vt:lpstr>
      <vt:lpstr>Learning from Examples</vt:lpstr>
      <vt:lpstr>Why we want an agent to learn?</vt:lpstr>
      <vt:lpstr>Forms of Learning</vt:lpstr>
      <vt:lpstr>Feedbacks to learn from</vt:lpstr>
      <vt:lpstr>Supervised Learning</vt:lpstr>
      <vt:lpstr>Learning Decision Trees</vt:lpstr>
      <vt:lpstr>Learning Decision Trees</vt:lpstr>
      <vt:lpstr>Expressiveness of Decision Tree</vt:lpstr>
      <vt:lpstr>Expressiveness of Decision Tree</vt:lpstr>
      <vt:lpstr>PowerPoint Presentation</vt:lpstr>
      <vt:lpstr>PowerPoint Presentation</vt:lpstr>
      <vt:lpstr>Expressiveness of Decision Tree</vt:lpstr>
      <vt:lpstr>Expressiveness of Decision Tree</vt:lpstr>
      <vt:lpstr>Expressiveness of Decision Tree</vt:lpstr>
      <vt:lpstr>Expressiveness of Decision Tree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From Examples</dc:title>
  <dc:creator>HP</dc:creator>
  <cp:lastModifiedBy>Admin</cp:lastModifiedBy>
  <cp:revision>20</cp:revision>
  <dcterms:created xsi:type="dcterms:W3CDTF">2021-11-26T07:42:09Z</dcterms:created>
  <dcterms:modified xsi:type="dcterms:W3CDTF">2025-11-19T04:35:02Z</dcterms:modified>
</cp:coreProperties>
</file>