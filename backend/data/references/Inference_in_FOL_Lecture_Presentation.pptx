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" Type="http://schemas.openxmlformats.org/officeDocument/2006/relationships/printerSettings" Target="printerSettings/printerSettings1.bin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Inference in First-Order Logic (FOL) – Thinking Logically with Fun!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000">
                <a:solidFill>
                  <a:srgbClr val="282828"/>
                </a:solidFill>
              </a:defRPr>
            </a:pPr>
            <a:r>
              <a:t>🕵️‍♂️ AI as Sherlock Holmes – finding truth through logic.</a:t>
            </a:r>
            <a:br/>
            <a:r>
              <a:t>When you debug code or catch who copied an assignment – that’s inference!</a:t>
            </a:r>
          </a:p>
          <a:p>
            <a:pPr>
              <a:defRPr sz="1600">
                <a:solidFill>
                  <a:srgbClr val="FF6600"/>
                </a:solidFill>
              </a:defRPr>
            </a:pPr>
            <a:r>
              <a:t>🎙️ Voice: 'Imagine AI as a detective connecting clues. Each fact is evidence!'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Universal Instantiation (UI)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000">
                <a:solidFill>
                  <a:srgbClr val="282828"/>
                </a:solidFill>
              </a:defRPr>
            </a:pPr>
            <a:r>
              <a:t>Rule for all ⇒ true for any one.</a:t>
            </a:r>
            <a:br/>
            <a:r>
              <a:t>Example: All students who submit = pass.</a:t>
            </a:r>
          </a:p>
          <a:p>
            <a:pPr>
              <a:defRPr sz="1600">
                <a:solidFill>
                  <a:srgbClr val="FF6600"/>
                </a:solidFill>
              </a:defRPr>
            </a:pPr>
            <a:r>
              <a:t>🎙️ Voice: 'So if you submit, logic says you pass. If not… re-exam logic applies! 😄'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Existential Instantiation (EI)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000">
                <a:solidFill>
                  <a:srgbClr val="282828"/>
                </a:solidFill>
              </a:defRPr>
            </a:pPr>
            <a:r>
              <a:t>If something exists, give it a name.</a:t>
            </a:r>
            <a:br/>
            <a:r>
              <a:t>Example: There exists a student who always asks doubts → Student(S1).</a:t>
            </a:r>
          </a:p>
          <a:p>
            <a:pPr>
              <a:defRPr sz="1600">
                <a:solidFill>
                  <a:srgbClr val="FF6600"/>
                </a:solidFill>
              </a:defRPr>
            </a:pPr>
            <a:r>
              <a:t>🎙️ Voice: 'Every class has one such student. If you can’t find them… you ARE them!'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Reduction to Propositional Logic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000">
                <a:solidFill>
                  <a:srgbClr val="282828"/>
                </a:solidFill>
              </a:defRPr>
            </a:pPr>
            <a:r>
              <a:t>Breaking FOL into simpler yes/no facts.</a:t>
            </a:r>
            <a:br/>
            <a:r>
              <a:t>Example: King(John) ⇒ Evil(John).</a:t>
            </a:r>
          </a:p>
          <a:p>
            <a:pPr>
              <a:defRPr sz="1600">
                <a:solidFill>
                  <a:srgbClr val="FF6600"/>
                </a:solidFill>
              </a:defRPr>
            </a:pPr>
            <a:r>
              <a:t>🎙️ Voice: 'Like simplifying a big logic into a small MCQ question!'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Problems with Propositionalization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000">
                <a:solidFill>
                  <a:srgbClr val="282828"/>
                </a:solidFill>
              </a:defRPr>
            </a:pPr>
            <a:r>
              <a:t>Too many facts → logic overload!</a:t>
            </a:r>
            <a:br/>
            <a:r>
              <a:t>E.g., multiple combinations = too many statements.</a:t>
            </a:r>
          </a:p>
          <a:p>
            <a:pPr>
              <a:defRPr sz="1600">
                <a:solidFill>
                  <a:srgbClr val="FF6600"/>
                </a:solidFill>
              </a:defRPr>
            </a:pPr>
            <a:r>
              <a:t>🎙️ Voice: 'Like joining 50 WhatsApp groups – too much data, no clarity!'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Unification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000">
                <a:solidFill>
                  <a:srgbClr val="282828"/>
                </a:solidFill>
              </a:defRPr>
            </a:pPr>
            <a:r>
              <a:t>Pattern matching using substitution.</a:t>
            </a:r>
            <a:br/>
            <a:r>
              <a:t>Example: King(x) matches King(John).</a:t>
            </a:r>
          </a:p>
          <a:p>
            <a:pPr>
              <a:defRPr sz="1600">
                <a:solidFill>
                  <a:srgbClr val="FF6600"/>
                </a:solidFill>
              </a:defRPr>
            </a:pPr>
            <a:r>
              <a:t>🎙️ Voice: 'When mom says “who didn’t clean room,” logic unifies it with YOUR name!'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Generalized Modus Ponens (GMP)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000">
                <a:solidFill>
                  <a:srgbClr val="282828"/>
                </a:solidFill>
              </a:defRPr>
            </a:pPr>
            <a:r>
              <a:t>Rule + Facts = New Fact.</a:t>
            </a:r>
            <a:br/>
            <a:r>
              <a:t>Example: If study + submit ⇒ pass.</a:t>
            </a:r>
          </a:p>
          <a:p>
            <a:pPr>
              <a:defRPr sz="1600">
                <a:solidFill>
                  <a:srgbClr val="FF6600"/>
                </a:solidFill>
              </a:defRPr>
            </a:pPr>
            <a:r>
              <a:t>🎙️ Voice: 'If both are true, you pass. If not, logic says – repeat semester! 😆'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Soundness of GMP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000">
                <a:solidFill>
                  <a:srgbClr val="282828"/>
                </a:solidFill>
              </a:defRPr>
            </a:pPr>
            <a:r>
              <a:t>True premises → True conclusion.</a:t>
            </a:r>
            <a:br/>
            <a:r>
              <a:t>Logic never lies if data is true.</a:t>
            </a:r>
          </a:p>
          <a:p>
            <a:pPr>
              <a:defRPr sz="1600">
                <a:solidFill>
                  <a:srgbClr val="FF6600"/>
                </a:solidFill>
              </a:defRPr>
            </a:pPr>
            <a:r>
              <a:t>🎙️ Voice: 'Garbage in, garbage out – logic is strict like your HOD!'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Example: West the Criminal Case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000">
                <a:solidFill>
                  <a:srgbClr val="282828"/>
                </a:solidFill>
              </a:defRPr>
            </a:pPr>
            <a:r>
              <a:t>Rule: American(x) &amp; Weapon(y) &amp; Sells(x,y,z) &amp; Hostile(z) ⇒ Criminal(x).</a:t>
            </a:r>
            <a:br/>
            <a:r>
              <a:t>Facts → West sold missiles to Nono (hostile nation).</a:t>
            </a:r>
          </a:p>
          <a:p>
            <a:pPr>
              <a:defRPr sz="1600">
                <a:solidFill>
                  <a:srgbClr val="FF6600"/>
                </a:solidFill>
              </a:defRPr>
            </a:pPr>
            <a:r>
              <a:t>🎙️ Voice: 'AI proves West is guilty – logical justice served!'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Forward Chaining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000">
                <a:solidFill>
                  <a:srgbClr val="282828"/>
                </a:solidFill>
              </a:defRPr>
            </a:pPr>
            <a:r>
              <a:t>Start with known facts → derive new facts.</a:t>
            </a:r>
            <a:br/>
            <a:r>
              <a:t>Example: If A ⇒ B, B ⇒ C → from A, deduce C.</a:t>
            </a:r>
          </a:p>
          <a:p>
            <a:pPr>
              <a:defRPr sz="1600">
                <a:solidFill>
                  <a:srgbClr val="FF6600"/>
                </a:solidFill>
              </a:defRPr>
            </a:pPr>
            <a:r>
              <a:t>🎙️ Voice: 'Like gossip – one fact spreads until everyone knows!' 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Backward Chaining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000">
                <a:solidFill>
                  <a:srgbClr val="282828"/>
                </a:solidFill>
              </a:defRPr>
            </a:pPr>
            <a:r>
              <a:t>Start with goal → find needed facts.</a:t>
            </a:r>
            <a:br/>
            <a:r>
              <a:t>Example: Want to prove Criminal(West)? Check all required premises.</a:t>
            </a:r>
          </a:p>
          <a:p>
            <a:pPr>
              <a:defRPr sz="1600">
                <a:solidFill>
                  <a:srgbClr val="FF6600"/>
                </a:solidFill>
              </a:defRPr>
            </a:pPr>
            <a:r>
              <a:t>🎙️ Voice: 'Like planning a vacation – start with destination, plan backwards: tickets → leave → bag!'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Logic Programming (Prolog)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000">
                <a:solidFill>
                  <a:srgbClr val="282828"/>
                </a:solidFill>
              </a:defRPr>
            </a:pPr>
            <a:r>
              <a:t>Programs written as logical rules.</a:t>
            </a:r>
            <a:br/>
            <a:r>
              <a:t>Example: criminal(X) :- american(X), weapon(Y), sells(X,Y,Z), hostile(Z).</a:t>
            </a:r>
          </a:p>
          <a:p>
            <a:pPr>
              <a:defRPr sz="1600">
                <a:solidFill>
                  <a:srgbClr val="FF6600"/>
                </a:solidFill>
              </a:defRPr>
            </a:pPr>
            <a:r>
              <a:t>🎙️ Voice: 'You define logic, not steps. Like telling Siri: If it’s hot, turn on AC.'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Resolution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000">
                <a:solidFill>
                  <a:srgbClr val="282828"/>
                </a:solidFill>
              </a:defRPr>
            </a:pPr>
            <a:r>
              <a:t>Combine statements to deduce truth.</a:t>
            </a:r>
            <a:br/>
            <a:r>
              <a:t>Example: ¬Rich(x) ∨ Unhappy(x); Rich(Ken) ⇒ Unhappy(Ken).</a:t>
            </a:r>
          </a:p>
          <a:p>
            <a:pPr>
              <a:defRPr sz="1600">
                <a:solidFill>
                  <a:srgbClr val="FF6600"/>
                </a:solidFill>
              </a:defRPr>
            </a:pPr>
            <a:r>
              <a:t>🎙️ Voice: 'When two clues match, case closed – logic style!' 🔍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Real-World Uses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000">
                <a:solidFill>
                  <a:srgbClr val="282828"/>
                </a:solidFill>
              </a:defRPr>
            </a:pPr>
            <a:r>
              <a:t>Inference powers chatbots, expert systems, medical diagnosis, and legal AI.</a:t>
            </a:r>
          </a:p>
          <a:p>
            <a:pPr>
              <a:defRPr sz="1600">
                <a:solidFill>
                  <a:srgbClr val="FF6600"/>
                </a:solidFill>
              </a:defRPr>
            </a:pPr>
            <a:r>
              <a:t>🎙️ Voice: 'Every time Alexa answers correctly, it’s FOL at work behind the scenes!'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Summary &amp; Motivation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000">
                <a:solidFill>
                  <a:srgbClr val="282828"/>
                </a:solidFill>
              </a:defRPr>
            </a:pPr>
            <a:r>
              <a:t>Logic = Brain of AI 🤖</a:t>
            </a:r>
            <a:br/>
            <a:r>
              <a:t>It teaches machines to think, not just calculate.</a:t>
            </a:r>
          </a:p>
          <a:p>
            <a:pPr>
              <a:defRPr sz="1600">
                <a:solidFill>
                  <a:srgbClr val="FF6600"/>
                </a:solidFill>
              </a:defRPr>
            </a:pPr>
            <a:r>
              <a:t>🎙️ Voice: 'We don’t just code AI – we teach it to reason like us!'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