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59" r:id="rId7"/>
    <p:sldId id="260" r:id="rId8"/>
    <p:sldId id="261" r:id="rId9"/>
    <p:sldId id="262" r:id="rId10"/>
    <p:sldId id="264" r:id="rId11"/>
    <p:sldId id="265" r:id="rId12"/>
    <p:sldId id="263" r:id="rId13"/>
    <p:sldId id="266" r:id="rId14"/>
    <p:sldId id="267" r:id="rId15"/>
    <p:sldId id="268" r:id="rId16"/>
    <p:sldId id="271" r:id="rId17"/>
    <p:sldId id="272" r:id="rId18"/>
    <p:sldId id="273" r:id="rId19"/>
    <p:sldId id="275" r:id="rId20"/>
    <p:sldId id="274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249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603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32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84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78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4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76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8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456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62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563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122E1-EB5C-4DA5-B3DD-9B01D0AA572D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C8D56-D857-4CE9-A797-76D9E63E9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4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visualdata.io/discovery" TargetMode="External"/><Relationship Id="rId3" Type="http://schemas.openxmlformats.org/officeDocument/2006/relationships/hyperlink" Target="https://archive.ics.uci.edu/ml/index.php" TargetMode="External"/><Relationship Id="rId7" Type="http://schemas.openxmlformats.org/officeDocument/2006/relationships/hyperlink" Target="https://github.com/awesomedata/awesome-public-datasets" TargetMode="External"/><Relationship Id="rId12" Type="http://schemas.openxmlformats.org/officeDocument/2006/relationships/hyperlink" Target="https://data.europa.eu/en" TargetMode="External"/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sropendata.com/" TargetMode="External"/><Relationship Id="rId11" Type="http://schemas.openxmlformats.org/officeDocument/2006/relationships/hyperlink" Target="https://www.opendatani.gov.uk/" TargetMode="External"/><Relationship Id="rId5" Type="http://schemas.openxmlformats.org/officeDocument/2006/relationships/hyperlink" Target="https://datasetsearch.research.google.com/" TargetMode="External"/><Relationship Id="rId10" Type="http://schemas.openxmlformats.org/officeDocument/2006/relationships/hyperlink" Target="https://data.gov/" TargetMode="External"/><Relationship Id="rId4" Type="http://schemas.openxmlformats.org/officeDocument/2006/relationships/hyperlink" Target="https://registry.opendata.aws/" TargetMode="External"/><Relationship Id="rId9" Type="http://schemas.openxmlformats.org/officeDocument/2006/relationships/hyperlink" Target="https://data.gov.in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Machine Learning and Its Applications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2543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Introduction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Field of study that gives computers the ability to learn without being explicitly programmed – Arthur Samuel (1959)</a:t>
            </a:r>
          </a:p>
          <a:p>
            <a:endParaRPr lang="en-IN" dirty="0"/>
          </a:p>
          <a:p>
            <a:r>
              <a:rPr lang="en-IN" dirty="0" smtClean="0"/>
              <a:t>Arthur Samuel – Checkers Playing Program</a:t>
            </a:r>
          </a:p>
          <a:p>
            <a:endParaRPr lang="en-IN" dirty="0"/>
          </a:p>
          <a:p>
            <a:r>
              <a:rPr lang="en-IN" dirty="0" smtClean="0"/>
              <a:t>A Computer Program is said to learn from experience E </a:t>
            </a:r>
            <a:r>
              <a:rPr lang="en-IN" dirty="0" err="1" smtClean="0"/>
              <a:t>wrt</a:t>
            </a:r>
            <a:r>
              <a:rPr lang="en-IN" dirty="0" smtClean="0"/>
              <a:t> task T, Performance Measure (P) – if its Performance on T – Measured by P – increases with experience E.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3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Introduction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3576"/>
            <a:ext cx="10515600" cy="419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5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AI vs ML</a:t>
            </a:r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6925" y="1788047"/>
            <a:ext cx="58181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410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Applications of Machine Learning</a:t>
            </a:r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86" y="1690688"/>
            <a:ext cx="5416687" cy="494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0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Types of Machine Learning Algorithm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Supervised Learning</a:t>
            </a:r>
          </a:p>
          <a:p>
            <a:r>
              <a:rPr lang="en-IN" dirty="0" smtClean="0"/>
              <a:t>Unsupervised Learning</a:t>
            </a:r>
          </a:p>
          <a:p>
            <a:r>
              <a:rPr lang="en-IN" dirty="0" smtClean="0"/>
              <a:t>Reinforcement Learning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93187"/>
            <a:ext cx="5620534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4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Supervised Learning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 </a:t>
            </a:r>
            <a:r>
              <a:rPr lang="en-US" dirty="0" smtClean="0"/>
              <a:t>- </a:t>
            </a:r>
            <a:r>
              <a:rPr lang="en-US" dirty="0"/>
              <a:t>training set to teach </a:t>
            </a:r>
            <a:r>
              <a:rPr lang="en-US" dirty="0" smtClean="0"/>
              <a:t>models.</a:t>
            </a:r>
          </a:p>
          <a:p>
            <a:endParaRPr lang="en-US" dirty="0"/>
          </a:p>
          <a:p>
            <a:r>
              <a:rPr lang="en-US" dirty="0" smtClean="0"/>
              <a:t>This </a:t>
            </a:r>
            <a:r>
              <a:rPr lang="en-US" dirty="0"/>
              <a:t>training dataset -</a:t>
            </a:r>
            <a:r>
              <a:rPr lang="en-US" dirty="0" smtClean="0"/>
              <a:t> </a:t>
            </a:r>
            <a:r>
              <a:rPr lang="en-US" dirty="0"/>
              <a:t>inputs and correct </a:t>
            </a:r>
            <a:r>
              <a:rPr lang="en-US" dirty="0" smtClean="0"/>
              <a:t>outputs. </a:t>
            </a:r>
          </a:p>
          <a:p>
            <a:endParaRPr lang="en-US" dirty="0"/>
          </a:p>
          <a:p>
            <a:r>
              <a:rPr lang="en-US" dirty="0" smtClean="0"/>
              <a:t>Accuracy measure - </a:t>
            </a:r>
            <a:r>
              <a:rPr lang="en-US" dirty="0"/>
              <a:t>loss function, </a:t>
            </a:r>
            <a:r>
              <a:rPr lang="en-US" dirty="0" smtClean="0"/>
              <a:t>error -sufficiently </a:t>
            </a:r>
            <a:r>
              <a:rPr lang="en-US" dirty="0"/>
              <a:t>minimized.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91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Supervised Learning</a:t>
            </a:r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3673" y="1791004"/>
            <a:ext cx="8840434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3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Supervised Learning Algorithms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Linear Regression (Regression – Continuous Data)</a:t>
            </a:r>
          </a:p>
          <a:p>
            <a:r>
              <a:rPr lang="en-IN" dirty="0" smtClean="0"/>
              <a:t>Logistic Regression (Classification – Categorical Data)</a:t>
            </a:r>
          </a:p>
          <a:p>
            <a:r>
              <a:rPr lang="en-IN" dirty="0" smtClean="0">
                <a:solidFill>
                  <a:srgbClr val="00B0F0"/>
                </a:solidFill>
              </a:rPr>
              <a:t>Support Vector Machine (Classification)</a:t>
            </a:r>
          </a:p>
          <a:p>
            <a:r>
              <a:rPr lang="en-IN" dirty="0" smtClean="0">
                <a:solidFill>
                  <a:srgbClr val="00B0F0"/>
                </a:solidFill>
              </a:rPr>
              <a:t>K-Nearest Neighbour (Classification)</a:t>
            </a:r>
          </a:p>
          <a:p>
            <a:r>
              <a:rPr lang="en-IN" dirty="0" smtClean="0"/>
              <a:t>Random Forest (Both)</a:t>
            </a:r>
          </a:p>
          <a:p>
            <a:r>
              <a:rPr lang="en-IN" dirty="0" smtClean="0"/>
              <a:t>Neural Networks (Classification)</a:t>
            </a:r>
          </a:p>
          <a:p>
            <a:r>
              <a:rPr lang="en-IN" dirty="0" smtClean="0">
                <a:solidFill>
                  <a:srgbClr val="00B0F0"/>
                </a:solidFill>
              </a:rPr>
              <a:t>Logistic Regression (Binary Classification)</a:t>
            </a:r>
          </a:p>
          <a:p>
            <a:r>
              <a:rPr lang="en-IN" dirty="0" smtClean="0">
                <a:solidFill>
                  <a:srgbClr val="00B0F0"/>
                </a:solidFill>
              </a:rPr>
              <a:t>Naïve Bayes (Classification)</a:t>
            </a:r>
          </a:p>
          <a:p>
            <a:r>
              <a:rPr lang="en-IN" dirty="0" smtClean="0">
                <a:solidFill>
                  <a:srgbClr val="00B0F0"/>
                </a:solidFill>
              </a:rPr>
              <a:t>Decision Tree (Classification)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19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426"/>
          </a:xfrm>
        </p:spPr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Supervised Learning - Examples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7863"/>
            <a:ext cx="10515600" cy="4799100"/>
          </a:xfrm>
        </p:spPr>
        <p:txBody>
          <a:bodyPr/>
          <a:lstStyle/>
          <a:p>
            <a:endParaRPr lang="en-IN" dirty="0" smtClean="0"/>
          </a:p>
          <a:p>
            <a:r>
              <a:rPr lang="en-IN" dirty="0" smtClean="0"/>
              <a:t>Image and Object Recognition</a:t>
            </a:r>
          </a:p>
          <a:p>
            <a:r>
              <a:rPr lang="en-IN" dirty="0" smtClean="0"/>
              <a:t>Predictive Analytics</a:t>
            </a:r>
          </a:p>
          <a:p>
            <a:r>
              <a:rPr lang="en-IN" dirty="0" smtClean="0"/>
              <a:t>Customer Sentiment Analysis</a:t>
            </a:r>
          </a:p>
          <a:p>
            <a:r>
              <a:rPr lang="en-IN" dirty="0" smtClean="0"/>
              <a:t>Spam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2634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4952"/>
          </a:xfrm>
        </p:spPr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Unsupervised Learning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3227"/>
            <a:ext cx="10515600" cy="4623736"/>
          </a:xfrm>
        </p:spPr>
        <p:txBody>
          <a:bodyPr/>
          <a:lstStyle/>
          <a:p>
            <a:r>
              <a:rPr lang="en-US" dirty="0" smtClean="0"/>
              <a:t>machine </a:t>
            </a:r>
            <a:r>
              <a:rPr lang="en-US" dirty="0"/>
              <a:t>learning algorithms </a:t>
            </a:r>
            <a:r>
              <a:rPr lang="en-US" dirty="0" smtClean="0"/>
              <a:t>- analyze </a:t>
            </a:r>
            <a:r>
              <a:rPr lang="en-US" dirty="0"/>
              <a:t>and cluster unlabeled datasets.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Discover </a:t>
            </a:r>
            <a:r>
              <a:rPr lang="en-US" dirty="0"/>
              <a:t>hidden patterns or data groupings without the need for human intervention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Ability </a:t>
            </a:r>
            <a:r>
              <a:rPr lang="en-US" dirty="0"/>
              <a:t>to discover similarities and differences in </a:t>
            </a:r>
            <a:r>
              <a:rPr lang="en-US" dirty="0" smtClean="0"/>
              <a:t>information.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302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Unsupervised Learning</a:t>
            </a:r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186" y="1999491"/>
            <a:ext cx="8888065" cy="316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5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Common unsupervised learning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IN" dirty="0" smtClean="0"/>
              <a:t>Clustering</a:t>
            </a:r>
          </a:p>
          <a:p>
            <a:r>
              <a:rPr lang="en-IN" dirty="0" smtClean="0"/>
              <a:t>Association Rules</a:t>
            </a:r>
          </a:p>
          <a:p>
            <a:r>
              <a:rPr lang="en-IN" dirty="0" smtClean="0"/>
              <a:t>Dimensionality Reduction.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258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37998"/>
          </a:xfrm>
        </p:spPr>
        <p:txBody>
          <a:bodyPr/>
          <a:lstStyle/>
          <a:p>
            <a:r>
              <a:rPr lang="en-IN" b="1" dirty="0"/>
              <a:t>Applications of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124"/>
            <a:ext cx="10515600" cy="4673839"/>
          </a:xfrm>
        </p:spPr>
        <p:txBody>
          <a:bodyPr/>
          <a:lstStyle/>
          <a:p>
            <a:r>
              <a:rPr lang="en-IN" dirty="0" smtClean="0"/>
              <a:t>News Section</a:t>
            </a:r>
          </a:p>
          <a:p>
            <a:r>
              <a:rPr lang="en-IN" dirty="0" smtClean="0"/>
              <a:t>Anomaly Detection</a:t>
            </a:r>
          </a:p>
          <a:p>
            <a:r>
              <a:rPr lang="en-IN" dirty="0" smtClean="0"/>
              <a:t>Customer Persona</a:t>
            </a:r>
          </a:p>
          <a:p>
            <a:r>
              <a:rPr lang="en-IN" dirty="0" smtClean="0"/>
              <a:t>Recommendation Engine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507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Reinforcement Learning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8013"/>
          </a:xfrm>
        </p:spPr>
        <p:txBody>
          <a:bodyPr/>
          <a:lstStyle/>
          <a:p>
            <a:pPr algn="just"/>
            <a:r>
              <a:rPr lang="en-US" b="1" dirty="0"/>
              <a:t>Reinforcement learning</a:t>
            </a:r>
            <a:r>
              <a:rPr lang="en-US" dirty="0"/>
              <a:t> (</a:t>
            </a:r>
            <a:r>
              <a:rPr lang="en-US" b="1" dirty="0"/>
              <a:t>RL</a:t>
            </a:r>
            <a:r>
              <a:rPr lang="en-US" dirty="0"/>
              <a:t>) </a:t>
            </a:r>
            <a:r>
              <a:rPr lang="en-US" dirty="0" smtClean="0"/>
              <a:t>- how</a:t>
            </a:r>
            <a:r>
              <a:rPr lang="en-US" dirty="0"/>
              <a:t> intelligent agents ought to take actions in an environment </a:t>
            </a:r>
            <a:r>
              <a:rPr lang="en-US" dirty="0" smtClean="0"/>
              <a:t>- to </a:t>
            </a:r>
            <a:r>
              <a:rPr lang="en-US" dirty="0"/>
              <a:t>maximize the notion of cumulative reward. </a:t>
            </a:r>
            <a:endParaRPr lang="en-US" dirty="0" smtClean="0"/>
          </a:p>
          <a:p>
            <a:pPr algn="just"/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102" y="3206663"/>
            <a:ext cx="4267796" cy="335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42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4952"/>
          </a:xfrm>
        </p:spPr>
        <p:txBody>
          <a:bodyPr/>
          <a:lstStyle/>
          <a:p>
            <a:r>
              <a:rPr lang="en-IN" b="1" dirty="0" smtClean="0"/>
              <a:t>Machine Learning Life Cycle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6149" y="1576666"/>
            <a:ext cx="6217122" cy="472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19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426"/>
          </a:xfrm>
        </p:spPr>
        <p:txBody>
          <a:bodyPr/>
          <a:lstStyle/>
          <a:p>
            <a:r>
              <a:rPr lang="en-IN" b="1" dirty="0" smtClean="0"/>
              <a:t>Machine Learning Life Cycle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40285"/>
            <a:ext cx="11512463" cy="4836678"/>
          </a:xfrm>
        </p:spPr>
        <p:txBody>
          <a:bodyPr/>
          <a:lstStyle/>
          <a:p>
            <a:r>
              <a:rPr lang="en-IN" dirty="0" smtClean="0"/>
              <a:t>Gathering Data – Data Source – Collect – Integrate</a:t>
            </a:r>
          </a:p>
          <a:p>
            <a:r>
              <a:rPr lang="en-IN" dirty="0" smtClean="0"/>
              <a:t>Data Preparation – Data Exploration – Understand – study</a:t>
            </a:r>
          </a:p>
          <a:p>
            <a:r>
              <a:rPr lang="en-IN" dirty="0" smtClean="0"/>
              <a:t>Data Wrangling – Cleaning – Raw Data – Usable – Missing – Dup – Invalid </a:t>
            </a:r>
          </a:p>
          <a:p>
            <a:r>
              <a:rPr lang="en-IN" dirty="0" smtClean="0"/>
              <a:t>Data Analysis – selection of </a:t>
            </a:r>
            <a:r>
              <a:rPr lang="en-IN" dirty="0" err="1" smtClean="0"/>
              <a:t>Algo</a:t>
            </a:r>
            <a:r>
              <a:rPr lang="en-IN" dirty="0" smtClean="0"/>
              <a:t> – Build Model.</a:t>
            </a:r>
          </a:p>
          <a:p>
            <a:r>
              <a:rPr lang="en-IN" dirty="0" smtClean="0"/>
              <a:t>Train the Model</a:t>
            </a:r>
          </a:p>
          <a:p>
            <a:r>
              <a:rPr lang="en-IN" dirty="0" smtClean="0"/>
              <a:t>Test the Model</a:t>
            </a:r>
          </a:p>
          <a:p>
            <a:r>
              <a:rPr lang="en-IN" dirty="0" smtClean="0"/>
              <a:t>Deployment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0815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217"/>
          </a:xfrm>
        </p:spPr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Data Sets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7342"/>
            <a:ext cx="10515600" cy="5049621"/>
          </a:xfrm>
        </p:spPr>
        <p:txBody>
          <a:bodyPr/>
          <a:lstStyle/>
          <a:p>
            <a:r>
              <a:rPr lang="en-US" b="1" dirty="0"/>
              <a:t>A dataset</a:t>
            </a:r>
            <a:r>
              <a:rPr lang="en-US" dirty="0"/>
              <a:t> is a collection of data in which data is arranged in some order. A dataset can contain any </a:t>
            </a:r>
            <a:r>
              <a:rPr lang="en-US" dirty="0" smtClean="0"/>
              <a:t>type of data.</a:t>
            </a:r>
          </a:p>
          <a:p>
            <a:endParaRPr lang="en-US" dirty="0"/>
          </a:p>
          <a:p>
            <a:r>
              <a:rPr lang="en-US" b="1" dirty="0" smtClean="0"/>
              <a:t>Numerical </a:t>
            </a:r>
            <a:r>
              <a:rPr lang="en-US" b="1" dirty="0"/>
              <a:t>data</a:t>
            </a:r>
            <a:r>
              <a:rPr lang="en-US" b="1" dirty="0" smtClean="0"/>
              <a:t>: </a:t>
            </a:r>
            <a:r>
              <a:rPr lang="en-US" dirty="0" smtClean="0"/>
              <a:t>Such </a:t>
            </a:r>
            <a:r>
              <a:rPr lang="en-US" dirty="0"/>
              <a:t>as house price, temperature, etc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Categorical data</a:t>
            </a:r>
            <a:r>
              <a:rPr lang="en-US" b="1" dirty="0" smtClean="0"/>
              <a:t>: </a:t>
            </a:r>
            <a:r>
              <a:rPr lang="en-US" dirty="0" smtClean="0"/>
              <a:t>Such </a:t>
            </a:r>
            <a:r>
              <a:rPr lang="en-US" dirty="0"/>
              <a:t>as Yes/No, True/False, Blue/green, etc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Ordinal </a:t>
            </a:r>
            <a:r>
              <a:rPr lang="en-US" b="1" dirty="0" smtClean="0"/>
              <a:t>data:</a:t>
            </a:r>
            <a:r>
              <a:rPr lang="en-US" dirty="0"/>
              <a:t> </a:t>
            </a:r>
            <a:r>
              <a:rPr lang="en-US" dirty="0" smtClean="0"/>
              <a:t>categorical</a:t>
            </a:r>
            <a:r>
              <a:rPr lang="en-US" dirty="0"/>
              <a:t>, statistical data type where the variables have natural, ordered categories 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696" y="5466178"/>
            <a:ext cx="5315692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8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587"/>
          </a:xfrm>
        </p:spPr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Data Sets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116" y="1327946"/>
            <a:ext cx="5048955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41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9378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002060"/>
                </a:solidFill>
              </a:rPr>
              <a:t>Data Sources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4504"/>
            <a:ext cx="10515600" cy="54926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hlinkClick r:id="rId2"/>
              </a:rPr>
              <a:t>https://www.kaggle.com/datasets</a:t>
            </a:r>
            <a:endParaRPr lang="en-US" dirty="0" smtClean="0"/>
          </a:p>
          <a:p>
            <a:r>
              <a:rPr lang="en-IN" dirty="0" smtClean="0">
                <a:hlinkClick r:id="rId3"/>
              </a:rPr>
              <a:t>https://archive.ics.uci.edu/ml/index.php</a:t>
            </a:r>
            <a:endParaRPr lang="en-IN" dirty="0" smtClean="0"/>
          </a:p>
          <a:p>
            <a:r>
              <a:rPr lang="en-US" dirty="0" smtClean="0">
                <a:hlinkClick r:id="rId4"/>
              </a:rPr>
              <a:t>https://registry.opendata.aws/</a:t>
            </a:r>
            <a:endParaRPr lang="en-US" dirty="0" smtClean="0"/>
          </a:p>
          <a:p>
            <a:r>
              <a:rPr lang="en-IN" dirty="0" smtClean="0">
                <a:hlinkClick r:id="rId5"/>
              </a:rPr>
              <a:t>https://datasetsearch.research.google.com/</a:t>
            </a:r>
            <a:endParaRPr lang="en-IN" dirty="0" smtClean="0"/>
          </a:p>
          <a:p>
            <a:r>
              <a:rPr lang="en-US" dirty="0" smtClean="0">
                <a:hlinkClick r:id="rId6"/>
              </a:rPr>
              <a:t>https://msropendata.com/</a:t>
            </a:r>
            <a:endParaRPr lang="en-US" dirty="0" smtClean="0"/>
          </a:p>
          <a:p>
            <a:r>
              <a:rPr lang="en-IN" dirty="0" smtClean="0">
                <a:hlinkClick r:id="rId7"/>
              </a:rPr>
              <a:t>https://github.com/awesomedata/awesome-public-datasets</a:t>
            </a:r>
            <a:endParaRPr lang="en-IN" dirty="0" smtClean="0"/>
          </a:p>
          <a:p>
            <a:r>
              <a:rPr lang="en-US" dirty="0" smtClean="0">
                <a:hlinkClick r:id="rId8"/>
              </a:rPr>
              <a:t>https://visualdata.io/discovery</a:t>
            </a:r>
            <a:endParaRPr lang="en-US" dirty="0" smtClean="0"/>
          </a:p>
          <a:p>
            <a:r>
              <a:rPr lang="en-US" dirty="0" smtClean="0">
                <a:hlinkClick r:id="rId9"/>
              </a:rPr>
              <a:t>https://data.gov.in/</a:t>
            </a:r>
            <a:endParaRPr lang="en-US" dirty="0" smtClean="0"/>
          </a:p>
          <a:p>
            <a:r>
              <a:rPr lang="en-IN" dirty="0" smtClean="0">
                <a:hlinkClick r:id="rId10"/>
              </a:rPr>
              <a:t>https://data.gov/</a:t>
            </a:r>
            <a:endParaRPr lang="en-IN" dirty="0" smtClean="0"/>
          </a:p>
          <a:p>
            <a:r>
              <a:rPr lang="en-IN" dirty="0" smtClean="0">
                <a:hlinkClick r:id="rId11"/>
              </a:rPr>
              <a:t>https://www.opendatani.gov.uk/</a:t>
            </a:r>
            <a:endParaRPr lang="en-IN" dirty="0" smtClean="0"/>
          </a:p>
          <a:p>
            <a:r>
              <a:rPr lang="en-US" dirty="0" smtClean="0">
                <a:hlinkClick r:id="rId12"/>
              </a:rPr>
              <a:t>https://data.europa.eu/en</a:t>
            </a:r>
            <a:endParaRPr lang="en-US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079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000"/>
          </a:xfrm>
        </p:spPr>
        <p:txBody>
          <a:bodyPr/>
          <a:lstStyle/>
          <a:p>
            <a:r>
              <a:rPr lang="en-IN" b="1" dirty="0" smtClean="0"/>
              <a:t>Metrics - Classification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3850"/>
            <a:ext cx="10515600" cy="4843113"/>
          </a:xfrm>
        </p:spPr>
        <p:txBody>
          <a:bodyPr/>
          <a:lstStyle/>
          <a:p>
            <a:r>
              <a:rPr lang="en-US" dirty="0"/>
              <a:t>Accuracy,</a:t>
            </a:r>
          </a:p>
          <a:p>
            <a:r>
              <a:rPr lang="en-US" dirty="0"/>
              <a:t>Precision,</a:t>
            </a:r>
          </a:p>
          <a:p>
            <a:r>
              <a:rPr lang="en-US" dirty="0"/>
              <a:t>Recall, and</a:t>
            </a:r>
          </a:p>
          <a:p>
            <a:r>
              <a:rPr lang="en-US" dirty="0"/>
              <a:t>F1 Score</a:t>
            </a:r>
            <a:r>
              <a:rPr lang="en-US" dirty="0" smtClean="0"/>
              <a:t>,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0934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1613"/>
          </a:xfrm>
        </p:spPr>
        <p:txBody>
          <a:bodyPr/>
          <a:lstStyle/>
          <a:p>
            <a:r>
              <a:rPr lang="en-IN" b="1" dirty="0" smtClean="0">
                <a:solidFill>
                  <a:srgbClr val="C00000"/>
                </a:solidFill>
              </a:rPr>
              <a:t>Confusion Matrix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5170" y="1527783"/>
            <a:ext cx="6020640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76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0611"/>
          </a:xfrm>
        </p:spPr>
        <p:txBody>
          <a:bodyPr/>
          <a:lstStyle/>
          <a:p>
            <a:r>
              <a:rPr lang="en-IN" b="1" dirty="0" smtClean="0">
                <a:solidFill>
                  <a:srgbClr val="C00000"/>
                </a:solidFill>
              </a:rPr>
              <a:t>Confusion Matrix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4517"/>
            <a:ext cx="10515600" cy="474244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True Positive (TP) — a class is predicted true and is true in reality (patients that are sick and diagnosed sick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/>
              <a:t>True Negative (TN) — a class is predicted false and is false in reality (patients that are healthy and diagnosed healthy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/>
              <a:t>False Positive (FP) — a class is predicted true but is false in reality (patients that are healthy but diagnosed sick); </a:t>
            </a:r>
            <a:r>
              <a:rPr lang="en-US" dirty="0" smtClean="0"/>
              <a:t>and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False Negative (FN) — a class is predicted false but is true in reality (patients that are sick but diagnosed healthy).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107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Accuracy and Precision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411" y="2293010"/>
            <a:ext cx="6982799" cy="17052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12861"/>
            <a:ext cx="7516274" cy="21053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07766" y="3998223"/>
            <a:ext cx="87636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Open Sans"/>
              </a:rPr>
              <a:t>Precision shows what proportion out of all positive predictions was correct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59810" y="1690689"/>
            <a:ext cx="101982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Open Sans"/>
              </a:rPr>
              <a:t>Accuracy is used to calculate the proportion of the total number of predictions that were correct.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08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Recall and F1 Score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51698"/>
            <a:ext cx="7144747" cy="14384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5" y="4136681"/>
            <a:ext cx="7106642" cy="14861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5918" y="1690688"/>
            <a:ext cx="107770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Open Sans"/>
              </a:rPr>
              <a:t>Recall shows a proportion of correct positive predictions out of all positives a model could have made.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266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Specificity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4547" y="3186793"/>
            <a:ext cx="7382905" cy="16290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1690688"/>
            <a:ext cx="93005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Open Sans"/>
              </a:rPr>
              <a:t> Specificity is the proportion of actual negatives that the model has correctly identified as such out of all negatives.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210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2544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Performance metrics for regression problems</a:t>
            </a:r>
            <a:br>
              <a:rPr lang="en-IN" b="1" dirty="0">
                <a:solidFill>
                  <a:srgbClr val="C0000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364" y="1666206"/>
            <a:ext cx="7201905" cy="1971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670" y="4249857"/>
            <a:ext cx="7506748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3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Queries….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032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2611</TotalTime>
  <Words>658</Words>
  <Application>Microsoft Office PowerPoint</Application>
  <PresentationFormat>Widescreen</PresentationFormat>
  <Paragraphs>110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Open Sans</vt:lpstr>
      <vt:lpstr>Office Theme</vt:lpstr>
      <vt:lpstr>Machine Learning and Its Applications</vt:lpstr>
      <vt:lpstr>Introduction</vt:lpstr>
      <vt:lpstr>Introduction</vt:lpstr>
      <vt:lpstr>AI vs ML</vt:lpstr>
      <vt:lpstr>Applications of Machine Learning</vt:lpstr>
      <vt:lpstr>Types of Machine Learning Algorithm</vt:lpstr>
      <vt:lpstr>Supervised Learning</vt:lpstr>
      <vt:lpstr>Supervised Learning</vt:lpstr>
      <vt:lpstr>Supervised Learning Algorithms</vt:lpstr>
      <vt:lpstr>Supervised Learning - Examples</vt:lpstr>
      <vt:lpstr>Unsupervised Learning</vt:lpstr>
      <vt:lpstr>Unsupervised Learning</vt:lpstr>
      <vt:lpstr>Common unsupervised learning approaches</vt:lpstr>
      <vt:lpstr>Applications of unsupervised learning</vt:lpstr>
      <vt:lpstr>Reinforcement Learning</vt:lpstr>
      <vt:lpstr>Machine Learning Life Cycle</vt:lpstr>
      <vt:lpstr>Machine Learning Life Cycle</vt:lpstr>
      <vt:lpstr>Data Sets</vt:lpstr>
      <vt:lpstr>Data Sets</vt:lpstr>
      <vt:lpstr>Data Sources</vt:lpstr>
      <vt:lpstr>Metrics - Classification</vt:lpstr>
      <vt:lpstr>Confusion Matrix</vt:lpstr>
      <vt:lpstr>Confusion Matrix</vt:lpstr>
      <vt:lpstr>Accuracy and Precision</vt:lpstr>
      <vt:lpstr>Recall and F1 Score</vt:lpstr>
      <vt:lpstr>Specificity</vt:lpstr>
      <vt:lpstr>Performance metrics for regression problems </vt:lpstr>
      <vt:lpstr>Queries….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and Its Applications</dc:title>
  <dc:creator>Balamurali</dc:creator>
  <cp:lastModifiedBy>Balamurali</cp:lastModifiedBy>
  <cp:revision>44</cp:revision>
  <dcterms:created xsi:type="dcterms:W3CDTF">2023-02-14T12:47:48Z</dcterms:created>
  <dcterms:modified xsi:type="dcterms:W3CDTF">2025-04-07T13:40:16Z</dcterms:modified>
</cp:coreProperties>
</file>