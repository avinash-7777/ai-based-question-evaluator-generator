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7" r:id="rId6"/>
    <p:sldId id="266" r:id="rId7"/>
    <p:sldId id="259" r:id="rId8"/>
    <p:sldId id="268" r:id="rId9"/>
    <p:sldId id="260" r:id="rId10"/>
    <p:sldId id="269" r:id="rId11"/>
    <p:sldId id="262" r:id="rId12"/>
    <p:sldId id="270" r:id="rId13"/>
    <p:sldId id="263" r:id="rId14"/>
    <p:sldId id="271" r:id="rId15"/>
    <p:sldId id="272" r:id="rId16"/>
    <p:sldId id="261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00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5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59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88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9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86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24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2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05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56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84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1BF12-4AF0-451A-8EB6-DD0717D1632D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E506A-2699-4AA0-9312-D6122AA76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6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Expected Monetary Value 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3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Expected Monetary Value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decision-making to evaluate the potential outcomes of a decision and assign a monetary value.</a:t>
            </a:r>
          </a:p>
          <a:p>
            <a:endParaRPr lang="en-US" dirty="0"/>
          </a:p>
          <a:p>
            <a:r>
              <a:rPr lang="en-US" dirty="0"/>
              <a:t>Quantifies the potential risks and rewards associated with a decision and helps to choose the most likely option.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14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Factors involved - EMV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Probability</a:t>
            </a:r>
          </a:p>
          <a:p>
            <a:r>
              <a:rPr lang="en-IN" dirty="0"/>
              <a:t>Monetary Value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623" y="3464266"/>
            <a:ext cx="8407855" cy="83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36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518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EMV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EMV shows long-run average return if a decision is repeated many times</a:t>
            </a:r>
          </a:p>
          <a:p>
            <a:pPr lvl="1"/>
            <a:r>
              <a:t>Positive EMV → decision profitable on average</a:t>
            </a:r>
          </a:p>
          <a:p>
            <a:pPr lvl="1"/>
            <a:r>
              <a:t>Negative EMV → expected loss</a:t>
            </a:r>
          </a:p>
          <a:p>
            <a:pPr lvl="1"/>
            <a:r>
              <a:t>Does NOT measure risk (variance)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EMV?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EMV = Expected Monetary Value</a:t>
            </a:r>
          </a:p>
          <a:p>
            <a:pPr lvl="1"/>
            <a:r>
              <a:t>Formula: EMV = Σ (Probability × Outcome Value)</a:t>
            </a:r>
          </a:p>
          <a:p>
            <a:pPr lvl="1"/>
            <a:r>
              <a:t>Helps convert uncertain outcomes into a single comparable value</a:t>
            </a:r>
          </a:p>
          <a:p>
            <a:pPr lvl="1"/>
            <a:r>
              <a:t>Used in decision making under uncertainty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640" y="374329"/>
            <a:ext cx="10515600" cy="58167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consider a company deciding whether to invest in a new product. The company has identified two possible outcomes: </a:t>
            </a:r>
          </a:p>
          <a:p>
            <a:r>
              <a:rPr lang="en-US" dirty="0">
                <a:solidFill>
                  <a:srgbClr val="002060"/>
                </a:solidFill>
              </a:rPr>
              <a:t>the product is successful, with a probability of 20%, and the product is not successful, with a probability of 80%. </a:t>
            </a:r>
          </a:p>
          <a:p>
            <a:r>
              <a:rPr lang="en-US" dirty="0">
                <a:solidFill>
                  <a:srgbClr val="002060"/>
                </a:solidFill>
              </a:rPr>
              <a:t>The company estimates that the product will generate $100,000 in revenue if it is successful and will result in a loss of $50,000 if it is not successful. The EMV for this decision can be calculated as follows: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587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A: New Product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 probability = 0.20 → +$100,000</a:t>
            </a:r>
          </a:p>
          <a:p>
            <a:pPr lvl="1"/>
            <a:r>
              <a:t>Failure probability = 0.80 → -$50,000</a:t>
            </a:r>
          </a:p>
          <a:p>
            <a:pPr lvl="1"/>
            <a:r>
              <a:t>EMV = (0.20 × 100,000) + (0.80 × -50,000)</a:t>
            </a:r>
          </a:p>
          <a:p>
            <a:pPr lvl="1"/>
            <a:r>
              <a:t>EMV = 20,000 - 40,000 = -20,000</a:t>
            </a:r>
          </a:p>
          <a:p>
            <a:pPr lvl="1"/>
            <a:r>
              <a:t>Conclusion: Expected loss of $20,000 → Not advisable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B4CA1-CEB6-4FEE-A249-33D23BAC7231}"/>
              </a:ext>
            </a:extLst>
          </p:cNvPr>
          <p:cNvSpPr txBox="1"/>
          <p:nvPr/>
        </p:nvSpPr>
        <p:spPr>
          <a:xfrm>
            <a:off x="1014274" y="4500057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Successful outcome: 20% x $100,000 = $20,000</a:t>
            </a:r>
          </a:p>
          <a:p>
            <a:r>
              <a:rPr lang="en-US" dirty="0"/>
              <a:t>Unsuccessful outcome: 80% x -$50,000 = -$40,000</a:t>
            </a:r>
          </a:p>
          <a:p>
            <a:r>
              <a:rPr lang="en-US" dirty="0"/>
              <a:t>Total EMV: $20,000 + -$40,000 = -$20,000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09" y="56727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You have the option to invest $100 in a stock that has a 50% chance of increasing in value by $50 and a 50% chance of decreasing in value by $50. The EMV of this decision is calculated as follows: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862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B: Stock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Investment: $100</a:t>
            </a:r>
          </a:p>
          <a:p>
            <a:pPr lvl="1"/>
            <a:r>
              <a:t>50% chance gain $50; 50% chance lose $50</a:t>
            </a:r>
          </a:p>
          <a:p>
            <a:pPr lvl="1"/>
            <a:r>
              <a:t>EMV = (0.5 × 50) + (0.5 × -50)</a:t>
            </a:r>
          </a:p>
          <a:p>
            <a:pPr lvl="1"/>
            <a:r>
              <a:t>EMV = 25 - 25 = 0</a:t>
            </a:r>
          </a:p>
          <a:p>
            <a:pPr lvl="1"/>
            <a:r>
              <a:t>Conclusion: Break-even on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0EC1F-CD31-4615-9744-776AB0B60AF0}"/>
              </a:ext>
            </a:extLst>
          </p:cNvPr>
          <p:cNvSpPr txBox="1"/>
          <p:nvPr/>
        </p:nvSpPr>
        <p:spPr>
          <a:xfrm>
            <a:off x="1262849" y="4468089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Outcome 1: Probability = 50%, Monetary value = $50</a:t>
            </a:r>
          </a:p>
          <a:p>
            <a:r>
              <a:rPr lang="en-US" dirty="0"/>
              <a:t>Outcome 2: Probability = 50%, Monetary value = -$50</a:t>
            </a:r>
          </a:p>
          <a:p>
            <a:r>
              <a:rPr lang="en-US" dirty="0"/>
              <a:t>EMV = (0.50 x $50) + (0.50 x -$50) = $25 - $25 = $0</a:t>
            </a:r>
          </a:p>
          <a:p>
            <a:r>
              <a:rPr lang="en-US" dirty="0"/>
              <a:t>In this example, the EMV is $0, which means you can expect to neither gain nor lose money from this investment.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588" y="584053"/>
            <a:ext cx="10515600" cy="560702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You are considering purchasing a car for $20,000. The vehicle has a 50% chance of lasting for ten years without needing any major repairs, in which case it would be worth $10,000 at the end of those ten years. The car also has a 50% chance of needing significant repairs within the first five years, in which case it would be worth $0 at the end of those five years.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Outcome 1: Probability = 50%, Monetary value = $10,000</a:t>
            </a:r>
          </a:p>
          <a:p>
            <a:r>
              <a:rPr lang="en-US" dirty="0"/>
              <a:t>Outcome 2: Probability = 50%, Monetary value = $0</a:t>
            </a:r>
          </a:p>
          <a:p>
            <a:r>
              <a:rPr lang="en-US" dirty="0"/>
              <a:t>EMV = (0.50 x $10,000) + (0.50 x $0) = $5,000</a:t>
            </a:r>
          </a:p>
          <a:p>
            <a:endParaRPr lang="en-US" dirty="0"/>
          </a:p>
          <a:p>
            <a:r>
              <a:rPr lang="en-US" dirty="0"/>
              <a:t>In this example, the EMV is $5,000, which means you may lose $5,000 if you purchase the car.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173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D: Car Purchase EMV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= $20,000</a:t>
            </a:r>
          </a:p>
          <a:p>
            <a:pPr lvl="1"/>
            <a:r>
              <a:t>50% chance future value = $10,000</a:t>
            </a:r>
          </a:p>
          <a:p>
            <a:pPr lvl="1"/>
            <a:r>
              <a:t>50% chance future value = $0</a:t>
            </a:r>
          </a:p>
          <a:p>
            <a:pPr lvl="1"/>
            <a:r>
              <a:t>Future value EMV = 0.5×10,000 + 0.5×0 = 5,000</a:t>
            </a:r>
          </a:p>
          <a:p>
            <a:pPr lvl="1"/>
            <a:r>
              <a:t>Net EMV = 5,000 - 20,000 = -15,000</a:t>
            </a:r>
          </a:p>
          <a:p>
            <a:pPr lvl="1"/>
            <a:r>
              <a:t>Conclusion: Expected net loss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976" y="575665"/>
            <a:ext cx="10515600" cy="571607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A homeowner is considering whether to install a home security system. The homeowner estimates that there is a 30% chance of a break-in occurring in the next year and that the security system would cost $1,000 to install. If a break-in were to occur and the security system was not installed, the homeowner estimates that the losses would be $5,000. If the security system was installed, the homeowner estimates that the losses from a break-in would be reduced to $1,000.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EMV analysis, the homeowner can calculate the expected monetary value of installing the security system as follows:</a:t>
            </a:r>
          </a:p>
          <a:p>
            <a:r>
              <a:rPr lang="en-US" dirty="0"/>
              <a:t>No security system: 30% chance x $5,000 loss = $1,500</a:t>
            </a:r>
          </a:p>
          <a:p>
            <a:r>
              <a:rPr lang="en-US" dirty="0"/>
              <a:t>Security system: 30% chance x $1,000 loss = $300</a:t>
            </a:r>
          </a:p>
          <a:p>
            <a:r>
              <a:rPr lang="en-US" dirty="0"/>
              <a:t>Expected monetary value: $1,500 - $300 = $1,200</a:t>
            </a:r>
          </a:p>
          <a:p>
            <a:r>
              <a:rPr lang="en-US" dirty="0"/>
              <a:t>In this example, the expected monetary value of installing the security system is $1,200.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794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E: Home Security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Break-in probability = 30%</a:t>
            </a:r>
          </a:p>
          <a:p>
            <a:pPr lvl="1"/>
            <a:r>
              <a:t>Loss without system: $5,000 → Expected loss = 1,500</a:t>
            </a:r>
          </a:p>
          <a:p>
            <a:pPr lvl="1"/>
            <a:r>
              <a:t>Loss with system: $1,000 → Expected loss = 300</a:t>
            </a:r>
          </a:p>
          <a:p>
            <a:pPr lvl="1"/>
            <a:r>
              <a:t>Reduction in expected loss = 1,200</a:t>
            </a:r>
          </a:p>
          <a:p>
            <a:pPr lvl="1"/>
            <a:r>
              <a:t>Installation cost = $1,000</a:t>
            </a:r>
          </a:p>
          <a:p>
            <a:pPr lvl="1"/>
            <a:r>
              <a:t>Net benefit = 1,200 - 1,000 = $200 → Worth installing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Products X and 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X: Cost=100; 40%→300; 20%→-50</a:t>
            </a:r>
          </a:p>
          <a:p>
            <a:pPr lvl="1"/>
            <a:r>
              <a:t>Missing probability assumed → 0 outcome</a:t>
            </a:r>
          </a:p>
          <a:p>
            <a:pPr lvl="1"/>
            <a:r>
              <a:t>EMV_X = 120 - 10 = 110; Net = 110 - 100 = 10</a:t>
            </a:r>
          </a:p>
          <a:p>
            <a:pPr lvl="1"/>
            <a:r>
              <a:t>Product Y: Cost=300; 50%→600; 20%→-100</a:t>
            </a:r>
          </a:p>
          <a:p>
            <a:pPr lvl="1"/>
            <a:r>
              <a:t>EMV_Y = 300 - 20 = 280; Net = 280 - 300 = -20</a:t>
            </a:r>
          </a:p>
          <a:p>
            <a:pPr lvl="1"/>
            <a:r>
              <a:t>Choose Product 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8142" y="50855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You have the option to invest $100 in a bond that is guaranteed to pay $105 in one year. The EMV of this decision is calculated as follows:</a:t>
            </a:r>
          </a:p>
          <a:p>
            <a:endParaRPr lang="en-US" dirty="0"/>
          </a:p>
          <a:p>
            <a:r>
              <a:rPr lang="en-US" dirty="0"/>
              <a:t>Outcome 1: Probability = 100%, Monetary value = $105</a:t>
            </a:r>
          </a:p>
          <a:p>
            <a:r>
              <a:rPr lang="en-US" dirty="0"/>
              <a:t>EMV = (1.00 x $105) = $105</a:t>
            </a:r>
          </a:p>
          <a:p>
            <a:r>
              <a:rPr lang="en-US" dirty="0"/>
              <a:t>In this example, the EMV is $105, which means you can expect to make a profit of $105 if you invest in the bond. Since the probability of this outcome is 100%, you are guaranteed to receive the $105 return on your investment.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836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Your company is planning to invest in one of the two products X and Y.  Product X will cost Rs.100 to develop, there is a 40% chance it can generate Rs.300, and there is 20% chance that it 	will lose Rs.50.  Product Y costs </a:t>
            </a:r>
            <a:r>
              <a:rPr lang="en-US" dirty="0" err="1">
                <a:solidFill>
                  <a:srgbClr val="002060"/>
                </a:solidFill>
              </a:rPr>
              <a:t>Rs</a:t>
            </a:r>
            <a:r>
              <a:rPr lang="en-US" dirty="0">
                <a:solidFill>
                  <a:srgbClr val="002060"/>
                </a:solidFill>
              </a:rPr>
              <a:t>. 300 to develop but has a 50% chance of earning Rs.600 and 20% chance of losing Rs.100. Compute the expected monetary value of the two products X and Y. In which product your company should invest.	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783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1170</Words>
  <Application>Microsoft Office PowerPoint</Application>
  <PresentationFormat>Widescreen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Expected Monetary Value  </vt:lpstr>
      <vt:lpstr>Expected Monetary Value  </vt:lpstr>
      <vt:lpstr>Factors involved - EMV</vt:lpstr>
      <vt:lpstr>PowerPoint Presentation</vt:lpstr>
      <vt:lpstr>Interpretation of EMV</vt:lpstr>
      <vt:lpstr>What is EMV?</vt:lpstr>
      <vt:lpstr>PowerPoint Presentation</vt:lpstr>
      <vt:lpstr>Example A: New Product Launch</vt:lpstr>
      <vt:lpstr>PowerPoint Presentation</vt:lpstr>
      <vt:lpstr>Example B: Stock Investment</vt:lpstr>
      <vt:lpstr>PowerPoint Presentation</vt:lpstr>
      <vt:lpstr>Example D: Car Purchase EMV</vt:lpstr>
      <vt:lpstr>PowerPoint Presentation</vt:lpstr>
      <vt:lpstr>Example E: Home Security System</vt:lpstr>
      <vt:lpstr>Exercise: Products X and Y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Expected Monetary Value</dc:title>
  <dc:creator>Balamurali</dc:creator>
  <cp:lastModifiedBy>ACER</cp:lastModifiedBy>
  <cp:revision>4</cp:revision>
  <dcterms:created xsi:type="dcterms:W3CDTF">2024-04-17T09:53:28Z</dcterms:created>
  <dcterms:modified xsi:type="dcterms:W3CDTF">2025-11-14T01:28:46Z</dcterms:modified>
</cp:coreProperties>
</file>